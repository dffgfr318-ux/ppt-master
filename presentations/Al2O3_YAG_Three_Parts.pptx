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29b03b8fd74914" /><Relationship Type="http://schemas.openxmlformats.org/officeDocument/2006/relationships/extended-properties" Target="/docProps/app.xml" Id="Rd858ad80c1a143a4" /><Relationship Type="http://schemas.openxmlformats.org/officeDocument/2006/relationships/officeDocument" Target="/ppt/presentation.xml" Id="R635b189f5e9a45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6b45a76c34f18"/>
  </p:sldMasterIdLst>
  <p:notesMasterIdLst>
    <p:notesMasterId xmlns:r="http://schemas.openxmlformats.org/officeDocument/2006/relationships" r:id="Rf5fad07a068e4733"/>
  </p:notesMasterIdLst>
  <p:sldIdLst>
    <p:sldId xmlns:r="http://schemas.openxmlformats.org/officeDocument/2006/relationships" id="256" r:id="R1747ec93bacb4d59"/>
    <p:sldId xmlns:r="http://schemas.openxmlformats.org/officeDocument/2006/relationships" id="257" r:id="R75fcc90c82934461"/>
    <p:sldId xmlns:r="http://schemas.openxmlformats.org/officeDocument/2006/relationships" id="258" r:id="R1220e7f11f204e4c"/>
    <p:sldId xmlns:r="http://schemas.openxmlformats.org/officeDocument/2006/relationships" id="259" r:id="R647d16cfe1c842cc"/>
    <p:sldId xmlns:r="http://schemas.openxmlformats.org/officeDocument/2006/relationships" id="260" r:id="Ree204cdfe68f416f"/>
    <p:sldId xmlns:r="http://schemas.openxmlformats.org/officeDocument/2006/relationships" id="261" r:id="Rfeb45cb4a4b9473b"/>
    <p:sldId xmlns:r="http://schemas.openxmlformats.org/officeDocument/2006/relationships" id="262" r:id="Rdf00055e59ef4c58"/>
    <p:sldId xmlns:r="http://schemas.openxmlformats.org/officeDocument/2006/relationships" id="263" r:id="Rc638099c4f1943e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d3bf77c484757" /><Relationship Type="http://schemas.openxmlformats.org/officeDocument/2006/relationships/slideMaster" Target="/ppt/slideMasters/slideMaster1.xml" Id="Rf1f6b45a76c34f18" /><Relationship Type="http://schemas.openxmlformats.org/officeDocument/2006/relationships/notesMaster" Target="/ppt/notesMasters/notesMaster1.xml" Id="Rf5fad07a068e4733" /><Relationship Type="http://schemas.openxmlformats.org/officeDocument/2006/relationships/presProps" Target="/ppt/presProps.xml" Id="Rb5169d62beb8493d" /><Relationship Type="http://schemas.openxmlformats.org/officeDocument/2006/relationships/viewProps" Target="/ppt/viewProps.xml" Id="Rcb31eb9e72824356" /><Relationship Type="http://schemas.openxmlformats.org/officeDocument/2006/relationships/tableStyles" Target="/ppt/tableStyles.xml" Id="Rd3e974868228483d" /><Relationship Type="http://schemas.openxmlformats.org/officeDocument/2006/relationships/slide" Target="/ppt/slides/slide1.xml" Id="R1747ec93bacb4d59" /><Relationship Type="http://schemas.openxmlformats.org/officeDocument/2006/relationships/slide" Target="/ppt/slides/slide2.xml" Id="R75fcc90c82934461" /><Relationship Type="http://schemas.openxmlformats.org/officeDocument/2006/relationships/slide" Target="/ppt/slides/slide3.xml" Id="R1220e7f11f204e4c" /><Relationship Type="http://schemas.openxmlformats.org/officeDocument/2006/relationships/slide" Target="/ppt/slides/slide4.xml" Id="R647d16cfe1c842cc" /><Relationship Type="http://schemas.openxmlformats.org/officeDocument/2006/relationships/slide" Target="/ppt/slides/slide5.xml" Id="Ree204cdfe68f416f" /><Relationship Type="http://schemas.openxmlformats.org/officeDocument/2006/relationships/slide" Target="/ppt/slides/slide6.xml" Id="Rfeb45cb4a4b9473b" /><Relationship Type="http://schemas.openxmlformats.org/officeDocument/2006/relationships/slide" Target="/ppt/slides/slide7.xml" Id="Rdf00055e59ef4c58" /><Relationship Type="http://schemas.openxmlformats.org/officeDocument/2006/relationships/slide" Target="/ppt/slides/slide8.xml" Id="Rc638099c4f1943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e876e3c34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0d5e822d14cb3" /><Relationship Type="http://schemas.openxmlformats.org/officeDocument/2006/relationships/notesMaster" Target="/ppt/notesMasters/notesMaster1.xml" Id="R8e58d4f8d1a94f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4beca3ddf241f6" /><Relationship Type="http://schemas.openxmlformats.org/officeDocument/2006/relationships/notesMaster" Target="/ppt/notesMasters/notesMaster1.xml" Id="R62070b4485b544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b8654e29ac470f" /><Relationship Type="http://schemas.openxmlformats.org/officeDocument/2006/relationships/notesMaster" Target="/ppt/notesMasters/notesMaster1.xml" Id="R428e8a3ee14b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787a11c82495a" /><Relationship Type="http://schemas.openxmlformats.org/officeDocument/2006/relationships/notesMaster" Target="/ppt/notesMasters/notesMaster1.xml" Id="Rff001cebeb984c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e0530cf9694777" /><Relationship Type="http://schemas.openxmlformats.org/officeDocument/2006/relationships/notesMaster" Target="/ppt/notesMasters/notesMaster1.xml" Id="Rfa4eefdd3e89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9ebb0a8e02494b" /><Relationship Type="http://schemas.openxmlformats.org/officeDocument/2006/relationships/notesMaster" Target="/ppt/notesMasters/notesMaster1.xml" Id="Rdf1dff1dcce443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8e6cd06da49fe" /><Relationship Type="http://schemas.openxmlformats.org/officeDocument/2006/relationships/notesMaster" Target="/ppt/notesMasters/notesMaster1.xml" Id="R41c5d3ae92b2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a40b976fdd477c" /><Relationship Type="http://schemas.openxmlformats.org/officeDocument/2006/relationships/notesMaster" Target="/ppt/notesMasters/notesMaster1.xml" Id="R9e6f7f4b8bef49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Three-part review for the group meeting. Part I: Paper 1 on a GH864 superalloy with an Al2O3–YAG interlayer and YSZ top layer. Part II: Paper 2 on bulk NiCoCrAlY. Part III: a proposed externally prepared YAG/Al2O3 coating on CoNiCrAlY, using sol-assisted interface anchoring and secondary nano-Al2O3 pore sealing. The proposal is not an experimentally validated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t>Figures are excerpts supplied by the user for this internal academic presentation; schematics are original explanatory drawings,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An alumina–YAG composite interlayer was externally deposited on GH864 superalloy; YSZ was blade-coated on top. This double-layer TBC was tested for cyclic oxidation and thermal insulation. GH864 is not CoNiCrAlY. Original explanatory schematic; colors distinguish layers rather than compositions quantitatively.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800-grit SiC polishing and acetone cleaning of GH864. Seeded boehmite sol contains 1 wt.% alpha-Al2O3 seeds and Y nitrate. EPD: 30 mA/cm² for 6 min. Room-temperature drying: 24 h, then interlayer microwave sintering. The YSZ slurry is blade-coated and dried; final PFMS schedule is 960 °C for 2 h. The intermediate interlayer heat-treatment schedule is not separately assigned a temperature on this slide. Y/Al ratios are in the full paper. Native drawings simplify the process without implying a measured thickness.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SEM figure 2 shown here is AY1, not the best-performing AY3 specimen. Panels a/b show interlayer surface/section; c/d show the YSZ double layer surface/section. Original labels and scale bars are retained. SEM indicates an identifiable continuous interlayer beneath YSZ; it does not measure bond strength. At 1000 °C and 200 h (10 h hot / 20 min air cooling), AY3+YSZ mass gain is 1.035 mg/cm² vs 2.231 for YSZ and 3.996 for blank; AY3 also has the lowest spallation among double layers. Thermal drop at furnace 1000 °C, N2 8 L/min and 150 µm total coating thickness is 205 °C for dual vs 156 °C for YSZ. These SEM, cyclic oxidation and thermal tests are different specimen conditions; no assertion that AY1 SEM establishes AY3 strength. Delta T is T1 minus T2 as used in results; the source methods have reversed 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/>
          </a:p>
          <a:p xmlns:a="http://schemas.openxmlformats.org/drawingml/2006/main">
            <a:r>
              <a:t>The authors deposited a seeded alumina–YAG precursor by EPD directly on polished bulk NiCoCrAlY, then used microwave sintering. They studied cyclic oxidation mass gain and spallation. The alloy is Ni39.5Co32Cr20Al8Y0.5 wt.%. This is not identical to a sprayed CoNiCrAlY bond coat. The drawing represents a ceramic coating externally supplied by deposition rather than a substrate-grown TGO. Both phases crystallize during heat treatment in the source process.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Prepare bulk NiCoCrAlY with 1000-grit grinding and acetone cleaning. Seeded boehmite sol with 1 wt.% alpha-alumina and Y nitrate; Y/Al 0.05, 0.10, 0.20. PEG 0.2 wt.%. Graphite anodes, 10 mm gap. Representative deposition 3 mA/cm² for 8 min. Figure 3 shows a smooth dense surface at 6–8 min and cracking/local spallation at 10 min, so EPD time is a control variable rather than a calibrated thickness. PFMS 1 h forms alpha-Al2O3 and YAG. Source does not explicitly state PFMS temperature; do not import 960 °C from Paper 1. Microscale drawings do not establish real pore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Figure 4a/b are coating sections after 10 min and 1 h PFMS, c/d surfaces after 1 h; EDS panels omitted. Authors identify fine YAG in alumina; phase assignment also supported by XRD Fig.5. Section continuity supports qualitative adherence; no quantitative bond strength is reported. Figure 7 at 200 h shows AY1 lowest mass gain ~0.19 mg/cm² and AY3 lowest spallation ~0.11 mg/cm². Blank mass gain 1.29 and spallation .94; alumina-only .99 and .57. Different Y/Al compositions optimize these separate responses. The prose assigns .19 to AY3 in error; curve labels and kp table support AY1. Methods/Fig7/Table1 state1050 °C, while abstract/conclusion/Fig8 state1000 °C; unresolved source inconsistency retained in footer. Do not assign these quantitative curves to the shown microscopy specimen indiscriminately.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User-proposed research route, not a reported result in either paper. Prepare an externally supplied YAG/Al2O3 composite coating on CoNiCrAlY, using a sol-assisted interface and a secondary nanoparticle sealing step. Step1 wet a controlled clean/rough surface with a compatible alumina-based sol so liquid enters accessible valleys and supports particle attachment. Step2 deposit externally prepared YAG/Al2O3 composite powder onto/with the sol-derived interface; control solid loading, deposition cycles and measured thickness. Step3 infiltrate dilute nano-Al2O3 suspension or compatible sol into accessible connected pores and dry/heat-treat under a substrate-compatible schedule. Drawn surface relief, particles and filled pores are conceptual and not to scale. Improved anchoring, chemical bonding and sealing are hypotheses requiring interface failure analysis, quantitative adhesion, cross-sectional thickness/porosity, XRD and cyclic stability measurements. Avoid claiming perfect sealing or a validated optimum. Sol wetting, drying shrinkage, thermal mismatch and formation of unwanted alloy oxides must be tested. No specific sintering temperature is prescribed.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Literature rationale: 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 sz="1200" b="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776412bd94d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af4cc920142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6f699d6a74b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c4b46d2e640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b157b082443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99ec660d446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7d8444b5340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d60cff66a49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5da2291134f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7bbf7791740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f60bebb3f464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1C629A-A331-43A4-B2B8-C65842BE97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9C9BE7C-C6D0-49F8-810A-910300398B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803EA7-C30F-45CB-8262-8E4C96712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CE30922-7103-4DB4-9B63-B69E361CBB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3C8522-4200-4442-82FD-72C1F8699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6834E0-707C-43C4-AB82-333C35F23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2050AF2-BD06-40AF-B020-DBE1955234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FE3BA9C-3585-430B-A916-FD7BB9A225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6E6235E-60B6-4947-B2E1-FCBBCC86C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BE8D905-77A0-426C-8238-5BE44F855F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1B6033-E3B1-4BCB-988C-4D3F899CF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57859C-3DEC-483F-A689-643D55FC9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FFD896-6513-4994-A6D5-9474A6BEE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58EE14-72B1-4776-A714-701F131A1B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0EB953F-6CA3-44D5-B9D0-8ADF23278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6B97CCC-1A51-45A3-B481-4275E46EA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A056679-2B6A-4AC2-B8D6-8CFB0E9A7D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F787A1-7262-4571-BB7C-56AC495FDF8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CE8DC6-F922-4089-95E7-BF4941F9BA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C45F275-5BCA-4D92-B3FA-DAE05E53BE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3ECE6DA-223E-43EF-8543-0F5CE37150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658DAF-18FB-44CB-B2FB-CBDB5739A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B29619-FB91-495C-9034-254336DE63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856FFB9-9842-4335-8481-5CD4D95990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BA47B34-21BF-49CD-ADDF-BDD4374C2D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9F9440B-EE01-46A9-A8B9-985EA325AAC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0597607-AF80-42A0-97FF-CCC187A9FA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8E14C2C-73FE-44B3-AAAD-1E34FAE61B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1302CC-C845-4EB5-9D35-623A817CB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6D4EFF-A087-4FBA-AD67-F15FE5E95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3C372FC-1CB6-4FB1-B54E-D62CADDF1C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835AFAB-2D66-4E09-8BDE-7391B9303C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EB6F633-57E0-46EC-8A07-166B73764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873126B-DE7C-41E6-8D77-B85B6F6AA9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89A8726-52E3-48A1-AC57-CEFA66844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ABED2EE-7B92-4F24-B302-E99E802C46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9597A8-46A1-4AC5-A125-6B4CA66AC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11BA8A4-12F0-4994-B056-13C4004936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86FE608-309B-45DF-8053-37A5CCAF8B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06F6C7-DF44-4849-A67F-032CECB5F3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7424D84-3295-4760-A507-E72987DA38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77DD320-7DE4-45AA-9E5C-405267F1EB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796B81-AB38-4896-969C-81C7B6DAA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0F50C67-39D2-4E11-824B-88E89E82819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71D0D7E-9F82-473D-9EA2-BF8959257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44C9F26-5153-411C-8D6B-108607C9DF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0C05DDF-148D-4D85-B3CA-8070F5F71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7672F00-713D-434B-8110-D39F59A70D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81783A-C0AE-42E7-A40D-8B10AC400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8FCF1A2-33E0-43BC-814D-73FB7B902D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C15F41-F588-4D3D-9DB4-46682948CD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704354-4132-47AB-999D-26001D8247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C5B76F-867C-4317-96B4-547660CF75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D9F49B9-2D27-47AF-A9B1-3F51249AC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9819214-016D-452B-8A6B-B6A154BF9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1C5189-076D-4D7F-8A5D-CC56C99F89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57C1DA3-2E79-45FD-B00A-98B6BA3CF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F2CB39-2A76-4885-A6B6-00435F970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52fdbe53f43f3" /><Relationship Type="http://schemas.openxmlformats.org/officeDocument/2006/relationships/slideLayout" Target="/ppt/slideLayouts/slideLayout1.xml" Id="Rf51d77f03b964a95" /><Relationship Type="http://schemas.openxmlformats.org/officeDocument/2006/relationships/slideLayout" Target="/ppt/slideLayouts/slideLayout2.xml" Id="Rca7849da1ca64916" /><Relationship Type="http://schemas.openxmlformats.org/officeDocument/2006/relationships/slideLayout" Target="/ppt/slideLayouts/slideLayout3.xml" Id="R52fb2f9548d446c8" /><Relationship Type="http://schemas.openxmlformats.org/officeDocument/2006/relationships/slideLayout" Target="/ppt/slideLayouts/slideLayout4.xml" Id="R823f1998433248e5" /><Relationship Type="http://schemas.openxmlformats.org/officeDocument/2006/relationships/slideLayout" Target="/ppt/slideLayouts/slideLayout5.xml" Id="Rc36afed8308a40e1" /><Relationship Type="http://schemas.openxmlformats.org/officeDocument/2006/relationships/slideLayout" Target="/ppt/slideLayouts/slideLayout6.xml" Id="R6427f4e2708f44e4" /><Relationship Type="http://schemas.openxmlformats.org/officeDocument/2006/relationships/slideLayout" Target="/ppt/slideLayouts/slideLayout7.xml" Id="Rea36a65439264510" /><Relationship Type="http://schemas.openxmlformats.org/officeDocument/2006/relationships/slideLayout" Target="/ppt/slideLayouts/slideLayout8.xml" Id="R4030e6d2b9f44e1b" /><Relationship Type="http://schemas.openxmlformats.org/officeDocument/2006/relationships/slideLayout" Target="/ppt/slideLayouts/slideLayout9.xml" Id="R8e439b29529a421a" /><Relationship Type="http://schemas.openxmlformats.org/officeDocument/2006/relationships/slideLayout" Target="/ppt/slideLayouts/slideLayout10.xml" Id="Rd6ecda1d1da24535" /><Relationship Type="http://schemas.openxmlformats.org/officeDocument/2006/relationships/slideLayout" Target="/ppt/slideLayouts/slideLayout11.xml" Id="R034f8bf3398842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FDF7593-10B0-47F5-B46F-CB884EF4D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02D4DE6-7664-4818-AF30-9325CDE973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F178779-23F4-48E9-BFDC-0165C2741C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C6A7558-04C0-43D4-8C17-664B9A2B44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67769C-FF99-4369-BE13-12AB0787C52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d77f03b964a95"/>
    <p:sldLayoutId xmlns:r="http://schemas.openxmlformats.org/officeDocument/2006/relationships" id="2147483650" r:id="Rca7849da1ca64916"/>
    <p:sldLayoutId xmlns:r="http://schemas.openxmlformats.org/officeDocument/2006/relationships" id="2147483651" r:id="R52fb2f9548d446c8"/>
    <p:sldLayoutId xmlns:r="http://schemas.openxmlformats.org/officeDocument/2006/relationships" id="2147483652" r:id="R823f1998433248e5"/>
    <p:sldLayoutId xmlns:r="http://schemas.openxmlformats.org/officeDocument/2006/relationships" id="2147483653" r:id="Rc36afed8308a40e1"/>
    <p:sldLayoutId xmlns:r="http://schemas.openxmlformats.org/officeDocument/2006/relationships" id="2147483654" r:id="R6427f4e2708f44e4"/>
    <p:sldLayoutId xmlns:r="http://schemas.openxmlformats.org/officeDocument/2006/relationships" id="2147483655" r:id="Rea36a65439264510"/>
    <p:sldLayoutId xmlns:r="http://schemas.openxmlformats.org/officeDocument/2006/relationships" id="2147483656" r:id="R4030e6d2b9f44e1b"/>
    <p:sldLayoutId xmlns:r="http://schemas.openxmlformats.org/officeDocument/2006/relationships" id="2147483657" r:id="R8e439b29529a421a"/>
    <p:sldLayoutId xmlns:r="http://schemas.openxmlformats.org/officeDocument/2006/relationships" id="2147483658" r:id="Rd6ecda1d1da24535"/>
    <p:sldLayoutId xmlns:r="http://schemas.openxmlformats.org/officeDocument/2006/relationships" id="2147483659" r:id="R034f8bf3398842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e6df123eb74d7a" /><Relationship Type="http://schemas.openxmlformats.org/officeDocument/2006/relationships/notesSlide" Target="/ppt/notesSlides/notesSlide1.xml" Id="R03dc016386a9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d3ffd1bb0e4ab1" /><Relationship Type="http://schemas.openxmlformats.org/officeDocument/2006/relationships/image" Target="/ppt/media/image.png" Id="Re062c2680a224911" /><Relationship Type="http://schemas.openxmlformats.org/officeDocument/2006/relationships/image" Target="/ppt/media/image.svg" Id="Racdb6c8c0c4648eb" /><Relationship Type="http://schemas.openxmlformats.org/officeDocument/2006/relationships/notesSlide" Target="/ppt/notesSlides/notesSlide2.xml" Id="R0e3971526bca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d8e86fd8a04a84" /><Relationship Type="http://schemas.openxmlformats.org/officeDocument/2006/relationships/image" Target="/ppt/media/image.png" Id="R1cc3e28cae60492c" /><Relationship Type="http://schemas.openxmlformats.org/officeDocument/2006/relationships/image" Target="/ppt/media/image.svg" Id="Ra19b1e4c86c6478d" /><Relationship Type="http://schemas.openxmlformats.org/officeDocument/2006/relationships/notesSlide" Target="/ppt/notesSlides/notesSlide3.xml" Id="R4dc27bf98c10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a2acca462b48cc" /><Relationship Type="http://schemas.openxmlformats.org/officeDocument/2006/relationships/image" Target="/ppt/media/image.png" Id="Rd265a89bd3544020" /><Relationship Type="http://schemas.openxmlformats.org/officeDocument/2006/relationships/image" Target="/ppt/media/image.svg" Id="Rb1fbf194d4114c83" /><Relationship Type="http://schemas.openxmlformats.org/officeDocument/2006/relationships/image" Target="/ppt/media/image.jpeg" Id="R2310de9056614557" /><Relationship Type="http://schemas.openxmlformats.org/officeDocument/2006/relationships/notesSlide" Target="/ppt/notesSlides/notesSlide4.xml" Id="R2cd75ab8cfa641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5c70c63496490b" /><Relationship Type="http://schemas.openxmlformats.org/officeDocument/2006/relationships/image" Target="/ppt/media/image2.png" Id="R42489238206145c9" /><Relationship Type="http://schemas.openxmlformats.org/officeDocument/2006/relationships/notesSlide" Target="/ppt/notesSlides/notesSlide5.xml" Id="R16806928f2d047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dde165041b4be3" /><Relationship Type="http://schemas.openxmlformats.org/officeDocument/2006/relationships/image" Target="/ppt/media/image3.png" Id="R862ccc4aef614131" /><Relationship Type="http://schemas.openxmlformats.org/officeDocument/2006/relationships/image" Target="/ppt/media/image2.svg" Id="R0a355875a71749b3" /><Relationship Type="http://schemas.openxmlformats.org/officeDocument/2006/relationships/notesSlide" Target="/ppt/notesSlides/notesSlide6.xml" Id="Rf2482d0ee72a4b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04042c7278498d" /><Relationship Type="http://schemas.openxmlformats.org/officeDocument/2006/relationships/image" Target="/ppt/media/image4.png" Id="R4b10fe7d250e4c53" /><Relationship Type="http://schemas.openxmlformats.org/officeDocument/2006/relationships/image" Target="/ppt/media/image3.svg" Id="R6b1164840d2b4cad" /><Relationship Type="http://schemas.openxmlformats.org/officeDocument/2006/relationships/image" Target="/ppt/media/image5.png" Id="Reff7e62ed9c446f0" /><Relationship Type="http://schemas.openxmlformats.org/officeDocument/2006/relationships/notesSlide" Target="/ppt/notesSlides/notesSlide7.xml" Id="Ra4f248f8ed48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d8940b5fb4c5b" /><Relationship Type="http://schemas.openxmlformats.org/officeDocument/2006/relationships/image" Target="/ppt/media/image4.png" Id="R6f23ec43ef104ff5" /><Relationship Type="http://schemas.openxmlformats.org/officeDocument/2006/relationships/image" Target="/ppt/media/image3.svg" Id="R87aa00a2dca4437f" /><Relationship Type="http://schemas.openxmlformats.org/officeDocument/2006/relationships/notesSlide" Target="/ppt/notesSlides/notesSlide8.xml" Id="R4e52afbb140b4c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908EAE21-10A8-4937-BA5D-70C70ABE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2EE59F00-0D60-44B2-B92B-2FAEA40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B630457F-1628-4684-9A7B-F5380F9B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90"/>
            <a:ext cx="12192000" cy="6142893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555D88D5-76F8-4096-BA02-EAFE1EE4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937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FACB8CC-F5DE-4464-9504-00B42C0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Al₂O₃–YAG Coatings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3F48A2-D385-4952-A61B-E2A0F44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104900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3EE68-5407-4D06-BEB1-12D7F9BE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8953500" cy="1524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153"/>
          </a:solidFill>
          <a:ln xmlns:a="http://schemas.openxmlformats.org/drawingml/2006/main" w="19050">
            <a:solidFill>
              <a:srgbClr val="E4BB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29A19-06FF-4E70-89FD-975AA10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57625"/>
            <a:ext cx="847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 · YSZ / Al₂O₃–YAG double-layer TBCs</a:t>
            </a:r>
          </a:p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II · Al₂O₃–YAG oxidation coating</a:t>
            </a:r>
          </a:p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III · Our proposed coating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0A912-578C-43D6-BD7F-98344BC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Group Meeting · 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583812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D64E7B74-2EE7-4E23-93B4-3229267C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46977D76-C650-4E60-917C-9CB066A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458571D-8B01-46AD-90D1-A9F7D62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What did the first study do?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6692DAE2-D5D6-4142-B7E3-CBA3DD64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E48687A-266D-4F78-95DD-EAC6E4B5C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2c2680a224911">
            <a:extLst>
              <a:ext uri="{96DAC541-7B7A-43D3-8B79-37D633B846F1}">
                <asvg:svgBlip xmlns:asvg="http://schemas.microsoft.com/office/drawing/2016/SVG/main" r:embed="Racdb6c8c0c4648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39705281-3630-408A-B2D0-670460A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3C9BDF-0CFA-4C50-B866-E0B41E4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B4CCB2-5CC3-4BDC-A68E-94C9E063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5058B0-1F01-4518-90F4-FDE7CCB2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8D187B-51D3-4FF5-BECE-837AF9DA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0F5125-7D4E-4004-9364-55B3C646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YSZ / Al₂O₃–YAG double-layer TBC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6E1E9D-26FD-4DC3-A65D-D20B9A8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0988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244993-8E9E-42ED-9C63-BBF6D3C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8994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A9FB1E-813A-4452-BDF1-D9E480B0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85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3FA1EC-163D-4E79-89BC-7F31DA4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269AED-28EE-4B3D-B29D-E0155FC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95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F2EDBF-305E-4F81-B218-6FBB00E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9808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1D3BAF-A96A-4A65-8142-CF02BBB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76638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99D503-1306-46E3-95E7-A217096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290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32EEB1-8AEA-4B08-8829-CB01E03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76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FDE8CA-91C8-447C-BF21-0EA42BE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8617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3AEC13-DE7A-4F9C-A884-621C965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473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0EDD43-3452-496A-B0F4-02CBAE3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1715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83ED67-392F-4398-9387-3E381C6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9571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35074D-1A9A-42C2-9810-F700D836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426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0123E8-0A1D-4BB7-A418-B6D5A52A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528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8D28DC-4C6A-46A5-B117-BD9A760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90525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FC52E4-2436-4206-A0B7-0124BDE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380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63A080-D161-49C3-BA55-64028F8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623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59B807-33A3-4D4A-BBD3-4B6107C9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09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389D7A-6130-4D83-9CE3-58765C0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33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104205-9EE3-459F-94CA-23FBFE3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BA5B91-11B7-4803-8557-B685E459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9557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YSZ top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A978E27-79DE-4BBE-AEC4-C7F6E6D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YAG particles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A8E14D0-0F29-4D05-B136-5B9B545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GH864 superalloy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AC3C1E-0B8E-4A99-9EFA-BBF6260E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47875"/>
            <a:ext cx="3810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DE86DE7-7A5F-4683-8DC0-DF78D9A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Heat + oxygen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53FA3DD-F65D-4ED2-B098-2CE5446F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An externally deposited ceramic interlayer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06FF82A-F821-4623-BBA8-565482F1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What was done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B8ED78-12CB-4CE5-BE7B-1BAE1F18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Inserted an Al₂O₃–YAG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interlayer beneath YSZ.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267D5E-9148-4431-87D5-064A5E8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099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Why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7197E83-E551-49A3-8208-120A59E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290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Improve cyclic oxidation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resistance and thermal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insulation.</a:t>
            </a:r>
          </a:p>
        </p:txBody>
      </p:sp>
    </p:spTree>
    <p:extLst>
      <p:ext uri="{BB962C8B-B14F-4D97-AF65-F5344CB8AC3E}">
        <p14:creationId xmlns:p14="http://schemas.microsoft.com/office/powerpoint/2010/main" val="12905825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1184557C-9461-4B79-A031-942DCCD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AB999F1B-28C8-4857-AD0D-DE6C63DD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09EF72E-D753-4449-B21B-00CF1AB9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How was the double layer prepared?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762FB821-EE2B-4A65-ABA0-4462BDC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91F60A6-EE0A-4AF5-9A66-35DBAE952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3e28cae60492c">
            <a:extLst>
              <a:ext uri="{96DAC541-7B7A-43D3-8B79-37D633B846F1}">
                <asvg:svgBlip xmlns:asvg="http://schemas.microsoft.com/office/drawing/2016/SVG/main" r:embed="Ra19b1e4c86c647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39EDEFCB-A205-458C-BB36-C7373D3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A4523D-51BB-4B66-A3BC-A7103726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§2. Original process schematic.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3FD7E7-D47D-420E-8E66-5C195D6F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5F38A9-4B8F-4E5B-ABD4-C460575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147E1A-EA58-4E3B-BE31-1EC20D8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Composite sol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638116-90F3-44AE-9001-B5C6366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3B2FCD-9B71-4135-979C-2826549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20924"/>
            <a:ext cx="1752600" cy="8652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163A6B-C72C-4013-B94A-5B4FFC9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699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B6D936-8842-42FD-A315-28839341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233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4A5309-2CA1-4D07-8F56-EBC1BEC4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93CD24-F1EC-4B69-9002-181B948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60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B3645A-BEA3-4779-AE16-DF7FD0F9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78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ED769C-604C-4882-9321-7CDE692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03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7ACFC9-6E95-4956-9EFD-95729CD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227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07812E-1A68-4060-8AED-D753261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347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A72099-2C1A-4197-9ACA-52BE344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3658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EA516E-7B33-4758-BB5E-4FAD3A1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90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6CEB77-9EC1-41D5-AA28-E82CEB9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0BC6BF-51F4-4161-B2F1-1096C43E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9276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49D432-40B0-4BF5-9863-7144966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451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AB4560-A2AB-4E89-98E9-62B9B46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470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A154540-2D84-49CD-85DE-B0050E1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489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8A184D-7220-41CC-A838-20CB9A5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Boehmite + 1 wt.%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α-Al₂O₃ seeds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 nitrate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0027FD-58F3-4346-9E7A-6AA6EDC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93FA59-55E3-4018-B19B-737152C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2A1A3B-C8B8-4C5C-8B05-5603BEF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EPD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CC196A-6713-4FEC-9446-0AB740C1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70D03A-536E-4C5E-8AFD-711A857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20924"/>
            <a:ext cx="1752600" cy="8652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96CE3D-DE78-49DC-BDAB-708F5C5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99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489C7E-ECD8-4132-84FD-21726DC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233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53FE46-BC4F-4760-AE88-5A014344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C7A187-80AC-4085-8052-07D7128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260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1DE49A2-3E77-4904-8FDE-37EA9DA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8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437A7A6-679C-4357-925F-FBA1293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03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710CDF-EED6-4FEF-BD75-41452B6D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8227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A390C97-B6B8-4517-9882-712D8EAC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347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16A291-72D3-4BA1-A8A6-D96C3B44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3658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92CA65-044B-432D-B367-36E8293E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890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5365752-9C85-4C7C-BEEB-41C0A9F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D94EDA-33F9-44BB-893D-4D1D716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9276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690915-5E0C-413E-B43F-4237CC0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51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8A46A9-2466-4FD4-B14D-112FCB9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470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160D6AF-9F75-4B5C-8D45-9BF2D9F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9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A40494-A123-4879-A3C8-8461A8F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95550"/>
            <a:ext cx="1143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E188A7-E528-4320-B2ED-E49FC2CD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1143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794F99-C969-40CE-8506-70053EA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20924"/>
            <a:ext cx="47625" cy="750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CC4269-A41F-4F9A-ABE3-DADFD40F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5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9A03FD0-C8CA-49FC-A47D-A3B2A77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5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CBE5E22-0D61-4838-8474-9755A3D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15259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743B79-F864-4E8A-BE99-8B8C45A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30 mA/cm²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6 min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1C9410-F4F9-49F8-8256-B05CE646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74A9023-61E9-4DB3-A953-F4286A93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ADFA6E0-B26B-4846-936A-FD5A42E1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Interlayer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6202EC-4F7C-4777-8AB8-027AC173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24175"/>
            <a:ext cx="20097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117B797-2083-4991-84FD-6BDD12C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9D6314E-0D4C-4030-9CC4-61A9AE7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A22CE9-3A9D-4ABD-BE96-7665CCE3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EAACEB2-95C0-4AA3-A901-06362DA3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9E31C6F-CC1A-48EB-A98F-F2C4723B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F3A03CF-AF11-4A53-83F6-5A56494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1127EA1-1DC5-4258-96AA-72E77E9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1987F1-E881-4802-A534-F809618D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02B1D5D-A893-465A-AC78-C5E6858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576F90B-2118-4381-B064-7C0DCB19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0D24A42-D081-4BFA-A5DA-CADC95D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BD8C079-6CAB-4C8A-A102-A669C61F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A559328-6649-49D7-895D-0F10ED7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5A98C3D-6E82-422A-85FB-B17FFE5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Dry: 24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Microwave-sinter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054F18-81F0-465F-8FC2-F1333E9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D19ED85-8677-40BA-9E2E-6D6DD24C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EAA1454-2326-42C1-84F2-50E2B2F2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YSZ + PFMS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9AE496-2761-4BD3-9D00-FCD688FA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8038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04625E0-3C69-4D01-9E0F-DAC703A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45606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73089EC-E04F-4F7D-871B-53362B7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551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8422B52-2C4B-4C4B-9171-A9A7FFE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789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5F35E0F-7763-4570-B3EC-3216E6A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3847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3EF9A9-F125-44AA-9CCF-E9EA79D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6228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5579F5-264B-4F62-AE32-02092281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E9C2B4-038E-4B4C-A974-7D2D206E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09913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7534A1E-73F5-4E56-9D54-D9E5C5A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0BB5C4E-8F66-409B-A78B-EB16A112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575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59B68E8-F98B-4F88-86EF-193C697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813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B6F3C5C-E736-4A7B-AB1E-71CD82BC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408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CC98D58-BA23-42C3-B349-979B643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46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8C1FD8C-CE77-4182-9076-3DEABAA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8848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C3FAAE9-A005-46E8-B851-C347F1B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12294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94D2E12-285F-4DA1-9F07-8E922D94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3610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416E89C-CE1F-44BE-B980-BA80A861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5991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F1F72A4-3733-4FD6-851C-95717800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8373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E61AD5B-9619-40EF-B5B4-46345A15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432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F62669E-C6C9-4FE2-92F2-E0B6967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670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748E7CC-7A49-43D7-8ACB-16695A9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43175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3DD4979-05BF-47AD-BB0C-85BC5880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21336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DE8A5C1-2B40-4112-9DFF-CE1A7DED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Blade-coat YSZ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Final PFMS: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960 °C, 2 h</a:t>
            </a:r>
          </a:p>
        </p:txBody>
      </p:sp>
    </p:spTree>
    <p:extLst>
      <p:ext uri="{BB962C8B-B14F-4D97-AF65-F5344CB8AC3E}">
        <p14:creationId xmlns:p14="http://schemas.microsoft.com/office/powerpoint/2010/main" val="198451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2F25E414-7EE4-4D0D-B48F-9AF6689A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38A01F39-FAC2-48C1-AC06-8452BEE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358DDAD3-80BB-424D-952A-6CABE08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64AD48E1-5775-40D9-AB35-B6647BF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D6410889-B9DC-41AD-8AC1-FAFA3A1E7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5a89bd3544020">
            <a:extLst>
              <a:ext uri="{96DAC541-7B7A-43D3-8B79-37D633B846F1}">
                <asvg:svgBlip xmlns:asvg="http://schemas.microsoft.com/office/drawing/2016/SVG/main" r:embed="Rb1fbf194d4114c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7354EC1-870F-418C-94ED-375DC03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What were the main results?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5AEB95-E60B-4935-A30A-14DA61CE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Fig. 2, Fig. 5 and Table 1.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9D859B-4D20-421C-B5E2-9CFE3EB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A70542-5FD8-4E85-BE58-B57D70515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0de9056614557"/>
          <a:stretch xmlns:a="http://schemas.openxmlformats.org/drawingml/2006/main"/>
        </p:blipFill>
        <p:spPr>
          <a:xfrm xmlns:a="http://schemas.openxmlformats.org/drawingml/2006/main">
            <a:off x="804435" y="1171575"/>
            <a:ext cx="5706330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3F7F18-1E06-4EE2-BB2C-FB46D85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252048-2BF9-459A-9C04-B64CDE9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525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SEM: layered structure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D9B7AF-2135-4505-BE90-4388FCE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71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Section (d): interlayer beneath YSZ.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SEM specimen: AY1.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04F185-E76D-429A-9F5E-B1CB0F87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717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Oxidation at 1000 °C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20C45A-9280-4539-87B2-BF8B035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AY3 + YSZ: 1.04 mg/cm² at 200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vs. 2.23 mg/cm² for YSZ.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96F381-CF87-4D6C-BDB0-5A3EDFDD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33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Thermal insulation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32B69A-0466-4339-A7C2-92C7D44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ΔT: 205 vs. 156 °C (dual / YSZ)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At 150 μm total coating thickness.</a:t>
            </a:r>
          </a:p>
        </p:txBody>
      </p:sp>
    </p:spTree>
    <p:extLst>
      <p:ext uri="{BB962C8B-B14F-4D97-AF65-F5344CB8AC3E}">
        <p14:creationId xmlns:p14="http://schemas.microsoft.com/office/powerpoint/2010/main" val="9712030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F77D4CCF-1ED8-485C-9DF1-FFA4951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2C1ECB8B-6714-4054-8276-B37BD88A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99E6F77-DDC4-4B9E-9175-26233A0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What did the second study do?</a:t>
            </a: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5B9743E0-9DDF-43D7-917E-41A585CA4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892382061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12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2C60979-662B-40AB-9116-9D11885E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6ADCD634-CF80-4F38-9775-420CA898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48A6B7-2A9C-48A4-9A16-B271094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3CA31D-7D20-4002-8852-D59D9ACB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444700-6C3A-4CC8-81D6-A5BC4DB3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7C2F2F-E2CC-4428-95E9-32EADB44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B48AC3-658A-4B04-8F83-FB109CA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Al₂O₃–YAG directly on the alloy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EB116F-6665-420C-AFC0-45B79DF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0975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CEFDA8-86AA-4A83-B51C-5C9D390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6113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5492E2-C00D-4F55-B089-E0100D4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A3B307-3A57-4053-9A10-A61342D6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8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396148-F7C4-4DBC-B459-6FFBB39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C56ECD-C56D-49D0-B98C-AD1BE9F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194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A6B323-FAB5-4F03-A9CC-EA99CD1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18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DF0A18-041E-4CDB-B11A-BBB35B6C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57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FF59E5-FF80-4987-8421-6C44D26A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70A275-CDAB-43DB-928C-A0887F07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56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456855-4F11-468E-B99F-6284727F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381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7A1FC2-1E7A-4F80-B2C5-B0A44DFA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5E4B76-A058-4F6A-84F9-1639ACF6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194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E197C2-A586-493A-812C-5343EE7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B89BFA-F234-4513-AB2B-8CFC250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BC7E4B-07E8-4770-ADE3-69D1E95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4432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3117D9-2A26-44B3-BC1A-9542C3F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57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8A99FB-1725-44CB-877F-B04235F6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C890AB-FD65-4251-A5E1-C27698D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67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F0FD9B-B21A-45EB-8EF5-E998EBB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9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08F9CA-4111-4923-9FBE-4C9E7D2E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0992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YAG particles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3C729F-5248-46FD-8A48-89D774AF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NiCoCrAlY alloy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4AF530-2B5A-4F55-A29D-496BA03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19325"/>
            <a:ext cx="361950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A2F7480-116F-4E27-879C-1146E5C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Oxygen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92DDC20-C949-4136-B71D-67F51590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Bulk alloy coupon; no YSZ top layer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7E0D7C-B0DB-4317-B87D-57F1CF53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What was done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FFF83D-55CB-435B-B24F-C9D7475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Deposited an Al₂O₃–YAG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composite directly 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NiCoCrAlY.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749CD3-8F05-4400-BE58-13A725C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6150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Why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3279CF7-2829-44BF-AF24-029FF34A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Suppress cyclic oxidation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and coating spallation.</a:t>
            </a:r>
          </a:p>
        </p:txBody>
      </p:sp>
    </p:spTree>
    <p:extLst>
      <p:ext uri="{BB962C8B-B14F-4D97-AF65-F5344CB8AC3E}">
        <p14:creationId xmlns:p14="http://schemas.microsoft.com/office/powerpoint/2010/main" val="16328092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E2CAADC7-17A6-45EA-AE8B-758921E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1A5345E-208D-423F-B4F3-43717A0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0C4076E-79C2-4565-AB93-A7A103E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How was the composite coating made?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CB47A425-0F01-49F2-90C1-CE75BB1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8CC1A22A-BEF6-4AB4-B612-06112619F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ccc4aef614131">
            <a:extLst>
              <a:ext uri="{96DAC541-7B7A-43D3-8B79-37D633B846F1}">
                <asvg:svgBlip xmlns:asvg="http://schemas.microsoft.com/office/drawing/2016/SVG/main" r:embed="R0a355875a71749b3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10872168-386C-4B08-B309-2384AF9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C57D86-2E81-48EC-B9EB-84D2717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§2, Figs. 3–5. PFMS temperature not stated.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E7A991-4DEB-4277-93A7-F54EEDE1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A21F7F-77D9-4FD4-8F1B-64292985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CB7AED-8532-4C4C-BB34-ECC4E2C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Surface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9B87FA-2ADB-4CA1-B5BB-780F69FA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194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9D5E5D-E660-4C02-87C4-34EABA7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DC0302-94FB-48F3-BEBA-16550E9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A98A10-0340-458F-8809-4B6D473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1000-grit SiC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Acetone cleaning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3453A5-78D2-4026-A1D4-72C5527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21BBBB-46A3-456A-8407-F64EA5A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B21460-84F5-4F29-8DED-E03AA49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Composite sol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29B4FD-8B86-40AE-9D4F-89A163E1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846118-B153-4D43-AE7A-8C68EE55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20924"/>
            <a:ext cx="1752600" cy="8652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D6D505-ECEA-4494-B412-031568B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99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9EB7FE-352D-461D-83B9-BF2E62F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233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B0BA65-BC91-46FF-965C-D0C54A3C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85D64F-084C-4D9A-A2E3-967F8143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260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EE0E6E-A075-455A-9205-BCEFF76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8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47D649-E79A-4912-8D28-FDD75099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03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13381A-5175-4BD4-BABB-CC18549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8227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36AAD3-D620-4C52-BF37-9CDA410E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347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A2AE55-D270-44C8-9A88-9F22473D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3658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E4A070-863B-43CC-986E-4336C3D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890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425779-6AC4-4B76-A537-238BFD05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12843D-7BA4-401A-ADA0-61D3B9E8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9276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C882D6-CE02-4FA3-A81E-2F2D1D77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51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5B6366-F041-418E-A45B-6239483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470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6CBBFE-574F-44E6-B19D-81BBB36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9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9FB555-FE6B-4527-AC69-4AB9807F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Seeded boehmite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 nitrate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PEG: 0.2 wt.%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29B67B-71C6-48D2-88E1-61233809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07E6613-FDF3-48A2-A2B2-53050C0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C38C8C-D2D3-438E-9E6D-802AB5F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EPD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A33CCE-500B-4CC2-9A22-30839E0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F2311B-EC9E-4ED6-9DDF-1DE4804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20924"/>
            <a:ext cx="1752600" cy="8652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3E6323-0516-46C5-B7B6-BF3D315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699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E5E3BE-AE5A-40C7-A90C-C05CE701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233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E9F6FD-3F12-49F0-8CE4-4D3F050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2506776-5C61-4F7C-A545-98099D32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60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BBD41D-300C-4CA3-8E0B-39F298D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78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83E22E-692E-49A8-96AC-884E3C5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03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19E018-C284-470C-B1E6-D9E5989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8227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9667DF-5978-453D-8BC2-22797641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47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825CDA-7B28-47B0-BF1F-98807B4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3658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213DCC-6F7C-4EF5-89DE-939470B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890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E1028C-F774-4AF1-8F47-3734914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652B55A-C2FF-477F-9C26-FB7A546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9276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8D05A0-6DBE-4FE2-99FB-7DF2885A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451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494210-94AE-41BA-964F-126A8F55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470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1B16D4-1081-4FFF-9B7F-79BF8AB1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489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3EF9AA-DE4A-4168-B94C-8C4BD76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1143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C674FE0-7400-43DA-9141-C9A2ED0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95550"/>
            <a:ext cx="1143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5EA1B8-6492-4A42-97C7-C9D15E6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0924"/>
            <a:ext cx="47625" cy="750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A6000A-B07D-4B23-8492-7ABE252C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3746AA-0760-40F9-AC97-7913439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220C15-C807-483B-800E-14CC6401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5259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6262FC-9F36-4EDB-BE86-1C5DFD3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3.0 mA/cm², 8 min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6–8 min: smooth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10 min: cracking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8AF8B07-C6FC-4454-A6EC-39134D8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1ACED5-45D0-4A7C-93A7-CD902E2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1ADDA9D-54B8-480F-ADD2-B4CDA5F7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PFMS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B44816B-4D8F-4B82-8B65-3FE684C9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23260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60F22B-70EB-4059-BE37-9E404C5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0343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48C0BF7-BDE9-43D8-A7DC-6AA227B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49893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7661ED3-2A59-442C-8B8E-515965C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5752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983E9FC-AC55-4252-8B3B-B187719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203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7FC23CA-2A17-439E-870B-BD9690B9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2799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3B345CC-C361-44CA-8F4A-0CFDC86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908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4079813-ECBD-4515-8377-683A6723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984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E6E3BE-627F-4FA1-80F8-036C715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86131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B9DF54-EBDB-4100-8C04-5FACF86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6894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052F7F-980E-434B-B792-EBF5EF78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3178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47A247C-0128-403F-8659-B8DABA2E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3941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5D7F4BC-CD90-432A-A178-6D6F20F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704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E0B9881-8923-4390-BFDB-4565668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0988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FF1D19-5FA1-4D7F-B5A2-E54C6413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1752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D439329-7074-432B-A1F7-AA643663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036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9832BA8-F079-4BE3-AF75-E6995BF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8799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48635C3-B8A8-47C5-95EA-0445C1F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083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D0F225-FC7D-41C9-BC75-1C93318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9584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47A1DD8-EFD6-496B-BFA0-6E17D43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609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DCC08-C549-4959-B837-EFF18F30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2257425" cy="1438275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7BF2D78-DC18-48F5-AE95-5177A9E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Microwave sinter: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α-Al₂O₃ + YAG</a:t>
            </a:r>
          </a:p>
        </p:txBody>
      </p:sp>
    </p:spTree>
    <p:extLst>
      <p:ext uri="{BB962C8B-B14F-4D97-AF65-F5344CB8AC3E}">
        <p14:creationId xmlns:p14="http://schemas.microsoft.com/office/powerpoint/2010/main" val="2015821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6EE63D9-A14F-45C4-BD51-6EC4067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D5A734E8-6BAB-4635-A268-91F7A13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B1CE546-479F-4D09-A9A5-8E52F85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What were the main results?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2DE50AFE-A1D2-4C94-9353-FE6AEBF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E8702888-0D82-4643-AAB8-26883A035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0fe7d250e4c53">
            <a:extLst>
              <a:ext uri="{96DAC541-7B7A-43D3-8B79-37D633B846F1}">
                <asvg:svgBlip xmlns:asvg="http://schemas.microsoft.com/office/drawing/2016/SVG/main" r:embed="R6b1164840d2b4cad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FAB2B419-26A8-46BB-BDEB-FD1B41A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E35F9D-4D96-42A8-916E-BDAE209D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Figs. 4–7. Fig. 7: 1050 °C; text differs.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E2BAA6-515F-4E0C-8190-FC47E312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843C1A-014A-4A7D-87D9-42647B960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7e62ed9c446f0"/>
          <a:stretch xmlns:a="http://schemas.openxmlformats.org/drawingml/2006/main"/>
        </p:blipFill>
        <p:spPr>
          <a:xfrm xmlns:a="http://schemas.openxmlformats.org/drawingml/2006/main">
            <a:off x="798419" y="1171575"/>
            <a:ext cx="5718362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5CB9F1-B577-401B-A5DE-6C72401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36E286-8B48-45FB-BAAD-DAF285D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430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 + phase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FD88EE-B173-4E2C-8D13-13446CE4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Continuous coating; fine YAG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 an Al₂O₃ matrix (SEM + XRD).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2A6790-1CE9-40FA-B7D4-D31BD9B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AY1: lowest mass gain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DB1ED1-80A4-47FB-A853-64D84D7E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≈ 0.19 mg/cm² at 200 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381FBD-648C-4527-AFF8-86EB41A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24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AY3: lowest spallation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1D275C-6D3C-43E3-A6DC-2BF27CE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434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0.11 mg/cm² at 200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Adhesion strength still unmeasured.</a:t>
            </a:r>
          </a:p>
        </p:txBody>
      </p:sp>
    </p:spTree>
    <p:extLst>
      <p:ext uri="{BB962C8B-B14F-4D97-AF65-F5344CB8AC3E}">
        <p14:creationId xmlns:p14="http://schemas.microsoft.com/office/powerpoint/2010/main" val="287729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9D77B52D-CAE0-41B5-BEFD-C8B73FFF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35518EE0-260C-4863-B4D7-0874B711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535A766-1461-4BCE-9802-54122F7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III · Our route: anchoring + pore sealing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762FAC24-372A-4082-94C6-161D948B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2055CBD-B3FA-4678-A206-3510B64B1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3ec43ef104ff5">
            <a:extLst>
              <a:ext uri="{96DAC541-7B7A-43D3-8B79-37D633B846F1}">
                <asvg:svgBlip xmlns:asvg="http://schemas.microsoft.com/office/drawing/2016/SVG/main" r:embed="R87aa00a2dca4437f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AE1564F5-A18E-4BE3-8F22-F000339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B4FDAA-FFC1-47A5-95EF-3A6B9CAA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Proposed CoNiCrAlY route, inspired by the two studies; validation is required.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010562-E784-4D68-8A86-3F66CB45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D699D2-E921-4C98-85F5-B128835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3619500" cy="38290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D84FB0-42E1-4842-A535-34B06D5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Sol-assisted anchoring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D48818-716D-4CBA-9C6E-88E84F7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295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09FD4C-6810-420F-B492-720C6C5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E1CA8C-0D02-4E82-A7A1-89B0218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893C9F-BB7C-4EED-9380-03982BD7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328041-D79B-4D77-92E6-C1A46D4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F66AF9-621F-4A89-A454-88DE37B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F34181-A5EB-4613-80DD-BBC27650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952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E837FE-794A-4542-9998-0087ECB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769EB4-2027-4FD0-8191-6CCFDA2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7D3845-A672-41B9-9D30-85F1D7ED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003AAD-7FA3-408C-953E-0CEA76B9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E8177D-1D96-4C55-9F3E-A8A6EE5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2CB73E-7520-443D-8D21-8DC7FA8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4C6680-699E-472B-85F7-D9AB2BA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4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EC637F-18FB-4CDB-B5BD-7F341A85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Sol wets surface valleys;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 thin interface supports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particle attachment.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223687-78E3-404E-A7D6-8161FC5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81325"/>
            <a:ext cx="142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9294B5-6611-4C91-A49C-09EAE0D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62050"/>
            <a:ext cx="3619500" cy="38290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2AA689F-DA55-45DD-A292-715C3CB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43025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Composite deposition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6CBBD5-44BC-4043-89DF-87349295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90850"/>
            <a:ext cx="295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9840CE-2D78-4B9E-B996-8D6BB559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DA439C-CEC0-4DF8-A43D-6564E8C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35E53D-1556-45D0-A9AA-B68E5427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7594910-50CA-4679-8A06-27D2ABD2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06BB56-B790-472C-B6BF-FE83CDB0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D1AEF0-D28C-4922-9094-8D1CAC3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2952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225079-DBD6-46CC-892C-8E79821B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90DB11-20F7-4377-B9EE-F2B501A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2A9A70-AE57-4CF1-A613-1D66CE0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EA8A97-C58E-40E5-99F2-4116C5F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384AACB-7B0D-45F7-8D24-A0FEC47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5303BB-3F8F-46D8-AE0F-F279EA54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8305362-5E0C-4FB2-8AF8-0955518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1177D7-5A3E-4D78-AAB2-B6FD14D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3FD338-7EDC-4039-8CF4-448CB6A0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BA57AF-02F6-4A62-B5A9-E37362A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3C43F9-524C-4D0F-AD73-D601C6F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8C7D0F-A204-4073-BBA1-CA8B4FA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B581578-E842-44AF-9464-A3B4F85F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86C385B-A885-462A-B984-30187BC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DEC08C-2B31-4F0E-99A8-3E1C1D6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E55385E-F045-444A-A612-FBD3C5C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FF5AEA-27CC-49C9-A5DE-D0FB6D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15626E-C262-4193-8561-6D9F7F29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2C5AC8-5BBF-41AA-9888-291BEE21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E5E2DA-03E7-4964-84A3-69B5B15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283A65-08DF-416B-82F7-3DA56120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AC7686-8B74-4879-A8F7-2B10586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2D2B80-18DF-44D6-9881-60C34D7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9C6787A-CEB7-489B-AEAD-051FBBA9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C38B54-2042-4C08-B2A6-59D3D3B6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597F300-2DE3-4AC4-A3AA-7F38446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20B16E-E68E-4446-A05A-0231F982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3DCDC36-0F13-4472-ABBF-7D35341A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FF73C80-8A8B-4574-BEF9-7C88CDA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Deposit preformed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YAG/Al₂O₃ particles;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control coating thickness.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17E93B-6E43-4F95-A6C0-B59A5565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81325"/>
            <a:ext cx="142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E057864-A4FE-48D4-B54B-4B63111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3619500" cy="38290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E538936-71D5-4EEF-B091-D655687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43025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Nano-Al₂O₃ sealing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18CBC98-3167-4484-9DA8-20A780E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95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4FB8547-DE68-4B2F-B3CB-6BBEEA1D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F821CEF-61C7-44EF-BB9B-DB783FC8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32E3140-B98D-43AA-A1DA-6AF67DC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EE42850-B65C-46B8-9068-5C7EA6E8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4A72D19-3458-4D74-A8B5-08ED16F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F35CCAA-7045-4A18-9690-D5BBAABB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952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F4C81A9-F781-4521-B996-971F184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71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4A5D39B-7B50-47EA-B250-B8465D88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C76166-44C0-4182-9DF9-8C6970E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52BF252-F76D-4877-9A5E-F95D98A8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47BF117-56E0-4328-8411-F97319C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404A9BE-7304-48DC-B7AA-ABE3035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71775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A06C45C-BBDF-4253-A0C8-5FC429BF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14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42D3AC4-7303-49B3-A8D3-9C1B592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3AB041D-6FD8-4BAE-877D-6729104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C821161-C92C-45BD-893B-2757EAC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6AC133D-96F2-4A48-9810-95ED222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10EDCF1-D67F-4CA0-ABA9-3A2F975B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8EB5DC0-CBE6-4CA8-84BF-0215D988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CCEFF4-85A3-4C81-83BF-1E21C289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24F28EE-FA23-46AA-9F0E-BC7DAA1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7C91ECD-1328-4E93-856C-757E60B7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92842DD-2628-4980-B70C-AA4CFCB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FAA2823-D4EA-4215-9E53-45EE817A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F6E67D6-5AE8-4A2D-966B-922BF77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8A49A1A-B6FA-4614-A202-7D6B992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4E53631-32EA-4054-8E26-1A55DE7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F681E4A-5716-4B47-A03E-19A90EA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1501FE5-0CF2-4F1E-B68D-64525ED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BB5E79-11D9-40F6-A3CC-841225F5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1B49323-CF6C-4F47-8109-9FA0E805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8FF29C8-EFC2-40BA-BD4E-C0AD130B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6D4618A-40CF-4861-BBC5-5D808DAA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8551CD9-2BDB-42D6-92CD-6FA2D3E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33600"/>
            <a:ext cx="2286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6620465-AF5E-46CB-AC5C-57150005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28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87D69E3-164D-47BC-B549-B29E1DE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D33052E-B73B-4FBD-B65F-E3BAE14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66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B194806-B8B2-418A-8100-28FBC22C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86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B534EB2-E5C2-4EB1-8FDB-9996DF7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305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F8A3C5D-B042-4D0A-A260-8E5AFA34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5294309-70A2-4AB9-822C-4E4B826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43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99A18BE-7572-46A8-B376-6369406A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801E535-4676-4C6D-A960-AA1D8F0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7773D15-2B16-48AB-9CE8-8D2395E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00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F95BC29-8E7B-4205-B7FD-F11755B5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19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7CE68DD-C54C-4D34-9B84-D70CB92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05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C95FEC0-1B59-4313-A701-CD2D1B0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24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C5BC300-B50F-4F59-8CA8-4CBD290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43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537D4FE-A2EC-4C5C-BD45-14DC878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162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7B9D7AF-2642-4ADD-9317-C653D92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181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728C0EE-2DC2-4399-A518-3F09D95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00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BC5633D-09AF-4BD3-A163-81698AC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560991B-1C5D-4CB8-AE97-D25FD63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38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8E4F9A7-8785-4D92-927B-4D0F1271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57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2577FAD-25F2-4F0E-9B32-DEE1BA4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276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C33BCAA-BB37-47DD-9FE4-76350684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95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7004624-836E-4845-972B-1F77B33B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14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9962DCF-3878-46A8-90D1-E1A15676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33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203B71B-C7D4-4725-BF50-A6F724E3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352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FE6958F-054C-4F63-917C-6FD72945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71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C7BE1B8-4BF5-452E-ABAB-76A48D8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390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A9CF686-E444-46D6-A848-78220A6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E9192B4-8109-4D37-B6E4-2D96A55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95725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Infiltrate nano-Al₂O₃;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fill accessible pores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and heat-treat compatibly.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7BA038F-BD3C-4DFA-B01C-91DFD9B5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33975"/>
            <a:ext cx="11334750" cy="71437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C5F3E46-5075-430E-B85F-95BDAED3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Verify adhesion · Measure thickness · Check cyclic stability</a:t>
            </a:r>
          </a:p>
        </p:txBody>
      </p:sp>
    </p:spTree>
    <p:extLst>
      <p:ext uri="{BB962C8B-B14F-4D97-AF65-F5344CB8AC3E}">
        <p14:creationId xmlns:p14="http://schemas.microsoft.com/office/powerpoint/2010/main" val="1938943708"/>
      </p:ext>
    </p:extLst>
  </p:cSld>
</p:sld>
</file>

<file path=ppt/theme/theme1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2026-10-11T16:06:14.0220000Z</dcterms:created>
  <dcterms:modified xsi:type="dcterms:W3CDTF">2026-10-11T16:06:14.0220000Z</dcterms:modified>
</coreProperties>
</file>