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e7ced31c7466a" /><Relationship Type="http://schemas.openxmlformats.org/officeDocument/2006/relationships/extended-properties" Target="/docProps/app.xml" Id="R1cb68d1b55a44656" /><Relationship Type="http://schemas.openxmlformats.org/officeDocument/2006/relationships/officeDocument" Target="/ppt/presentation.xml" Id="R583d5a01933849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8be779e1d4d50"/>
  </p:sldMasterIdLst>
  <p:notesMasterIdLst>
    <p:notesMasterId xmlns:r="http://schemas.openxmlformats.org/officeDocument/2006/relationships" r:id="R6f02c5d567904b02"/>
  </p:notesMasterIdLst>
  <p:sldIdLst>
    <p:sldId xmlns:r="http://schemas.openxmlformats.org/officeDocument/2006/relationships" id="256" r:id="R1b6c61fd3cfc4cdd"/>
    <p:sldId xmlns:r="http://schemas.openxmlformats.org/officeDocument/2006/relationships" id="257" r:id="R92ba9edf80944cee"/>
    <p:sldId xmlns:r="http://schemas.openxmlformats.org/officeDocument/2006/relationships" id="258" r:id="Rd54b0a0c7eb740ce"/>
    <p:sldId xmlns:r="http://schemas.openxmlformats.org/officeDocument/2006/relationships" id="259" r:id="R0bc4a2ab9c7e4d51"/>
    <p:sldId xmlns:r="http://schemas.openxmlformats.org/officeDocument/2006/relationships" id="260" r:id="R294a94c883ce4056"/>
    <p:sldId xmlns:r="http://schemas.openxmlformats.org/officeDocument/2006/relationships" id="261" r:id="R6ee6512d0bfa4da0"/>
    <p:sldId xmlns:r="http://schemas.openxmlformats.org/officeDocument/2006/relationships" id="262" r:id="R6bf7e34665684065"/>
    <p:sldId xmlns:r="http://schemas.openxmlformats.org/officeDocument/2006/relationships" id="263" r:id="R2f751fcb68354643"/>
    <p:sldId xmlns:r="http://schemas.openxmlformats.org/officeDocument/2006/relationships" id="264" r:id="Rca83ed48acad484c"/>
    <p:sldId xmlns:r="http://schemas.openxmlformats.org/officeDocument/2006/relationships" id="265" r:id="R507ea87703104d82"/>
    <p:sldId xmlns:r="http://schemas.openxmlformats.org/officeDocument/2006/relationships" id="266" r:id="Refd80d0ebfa04775"/>
    <p:sldId xmlns:r="http://schemas.openxmlformats.org/officeDocument/2006/relationships" id="267" r:id="Rde49001ec18146e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ec48d376a4b66" /><Relationship Type="http://schemas.openxmlformats.org/officeDocument/2006/relationships/slideMaster" Target="/ppt/slideMasters/slideMaster1.xml" Id="R6a38be779e1d4d50" /><Relationship Type="http://schemas.openxmlformats.org/officeDocument/2006/relationships/notesMaster" Target="/ppt/notesMasters/notesMaster1.xml" Id="R6f02c5d567904b02" /><Relationship Type="http://schemas.openxmlformats.org/officeDocument/2006/relationships/presProps" Target="/ppt/presProps.xml" Id="R158834f9c465411f" /><Relationship Type="http://schemas.openxmlformats.org/officeDocument/2006/relationships/viewProps" Target="/ppt/viewProps.xml" Id="R365c73450ba249ec" /><Relationship Type="http://schemas.openxmlformats.org/officeDocument/2006/relationships/tableStyles" Target="/ppt/tableStyles.xml" Id="R90586f46bad847ec" /><Relationship Type="http://schemas.openxmlformats.org/officeDocument/2006/relationships/slide" Target="/ppt/slides/slide1.xml" Id="R1b6c61fd3cfc4cdd" /><Relationship Type="http://schemas.openxmlformats.org/officeDocument/2006/relationships/slide" Target="/ppt/slides/slide2.xml" Id="R92ba9edf80944cee" /><Relationship Type="http://schemas.openxmlformats.org/officeDocument/2006/relationships/slide" Target="/ppt/slides/slide3.xml" Id="Rd54b0a0c7eb740ce" /><Relationship Type="http://schemas.openxmlformats.org/officeDocument/2006/relationships/slide" Target="/ppt/slides/slide4.xml" Id="R0bc4a2ab9c7e4d51" /><Relationship Type="http://schemas.openxmlformats.org/officeDocument/2006/relationships/slide" Target="/ppt/slides/slide5.xml" Id="R294a94c883ce4056" /><Relationship Type="http://schemas.openxmlformats.org/officeDocument/2006/relationships/slide" Target="/ppt/slides/slide6.xml" Id="R6ee6512d0bfa4da0" /><Relationship Type="http://schemas.openxmlformats.org/officeDocument/2006/relationships/slide" Target="/ppt/slides/slide7.xml" Id="R6bf7e34665684065" /><Relationship Type="http://schemas.openxmlformats.org/officeDocument/2006/relationships/slide" Target="/ppt/slides/slide8.xml" Id="R2f751fcb68354643" /><Relationship Type="http://schemas.openxmlformats.org/officeDocument/2006/relationships/slide" Target="/ppt/slides/slide9.xml" Id="Rca83ed48acad484c" /><Relationship Type="http://schemas.openxmlformats.org/officeDocument/2006/relationships/slide" Target="/ppt/slides/slide10.xml" Id="R507ea87703104d82" /><Relationship Type="http://schemas.openxmlformats.org/officeDocument/2006/relationships/slide" Target="/ppt/slides/slide11.xml" Id="Refd80d0ebfa04775" /><Relationship Type="http://schemas.openxmlformats.org/officeDocument/2006/relationships/slide" Target="/ppt/slides/slide12.xml" Id="Rde49001ec18146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8626e08ba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780373f1244a8" /><Relationship Type="http://schemas.openxmlformats.org/officeDocument/2006/relationships/notesMaster" Target="/ppt/notesMasters/notesMaster1.xml" Id="R5c37a7be044e44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8449c836fc4ed1" /><Relationship Type="http://schemas.openxmlformats.org/officeDocument/2006/relationships/notesMaster" Target="/ppt/notesMasters/notesMaster1.xml" Id="R1c5abe6b210046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38cf68f5048d2" /><Relationship Type="http://schemas.openxmlformats.org/officeDocument/2006/relationships/notesMaster" Target="/ppt/notesMasters/notesMaster1.xml" Id="Re78c943ea247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251aeeb624a03" /><Relationship Type="http://schemas.openxmlformats.org/officeDocument/2006/relationships/notesMaster" Target="/ppt/notesMasters/notesMaster1.xml" Id="R5a20ca4cb2e2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b3f7d2983f4f49" /><Relationship Type="http://schemas.openxmlformats.org/officeDocument/2006/relationships/notesMaster" Target="/ppt/notesMasters/notesMaster1.xml" Id="R13bddfdf37f8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1e47308c034ca6" /><Relationship Type="http://schemas.openxmlformats.org/officeDocument/2006/relationships/notesMaster" Target="/ppt/notesMasters/notesMaster1.xml" Id="R2bb0d704866a4f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971b5c7e5040a1" /><Relationship Type="http://schemas.openxmlformats.org/officeDocument/2006/relationships/notesMaster" Target="/ppt/notesMasters/notesMaster1.xml" Id="Rb916eabc10e142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39cea15a0d4bb0" /><Relationship Type="http://schemas.openxmlformats.org/officeDocument/2006/relationships/notesMaster" Target="/ppt/notesMasters/notesMaster1.xml" Id="R1c5d3aac685d47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153cb1acdd49f0" /><Relationship Type="http://schemas.openxmlformats.org/officeDocument/2006/relationships/notesMaster" Target="/ppt/notesMasters/notesMaster1.xml" Id="R27be9a5f0f4143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5ff6d09e1748dc" /><Relationship Type="http://schemas.openxmlformats.org/officeDocument/2006/relationships/notesMaster" Target="/ppt/notesMasters/notesMaster1.xml" Id="R5fcde8821bf345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5ce818c8d748c6" /><Relationship Type="http://schemas.openxmlformats.org/officeDocument/2006/relationships/notesMaster" Target="/ppt/notesMasters/notesMaster1.xml" Id="Rf166f4d9aa2f43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8381feaedb44de" /><Relationship Type="http://schemas.openxmlformats.org/officeDocument/2006/relationships/notesMaster" Target="/ppt/notesMasters/notesMaster1.xml" Id="Rb9f9a09d72bc42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Three-part review for the group meeting. Part I: Paper 1 on a GH864 superalloy with an Al2O3–YAG interlayer and YSZ top layer. Part II: Paper 2 on bulk NiCoCrAlY. Part III: a proposed externally prepared YAG/Al2O3 coating on CoNiCrAlY, using sol-assisted interface anchoring and secondary nano-Al2O3 pore sealing. The proposal is not an experimentally validated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t>Figures are excerpts supplied by the user for this internal academic presentation; schematics are original explanatory drawings,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An alumina–YAG composite interlayer was externally deposited on GH864 superalloy; YSZ was blade-coated on top. This double-layer TBC was tested for cyclic oxidation and thermal insulation. GH864 is not CoNiCrAlY. Original explanatory schematic; colors distinguish layers rather than compositions quantitatively.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800-grit SiC polishing and acetone cleaning of GH864. Seeded boehmite sol contains 1 wt.% alpha-Al2O3 seeds and Y nitrate. EPD: 30 mA/cm² for 6 min. Room-temperature drying: 24 h, then interlayer microwave sintering. The YSZ slurry is blade-coated and dried; final PFMS schedule is 960 °C for 2 h. The intermediate interlayer heat-treatment schedule is not separately assigned a temperature on this slide. Y/Al ratios are in the full paper. Native drawings simplify the process without implying a measured thickness.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SEM figure 2 shown here is AY1, not the best-performing AY3 specimen. Panels a/b show interlayer surface/section; c/d show the YSZ double layer surface/section. Original labels and scale bars are retained. SEM indicates an identifiable continuous interlayer beneath YSZ; it does not measure bond strength. At 1000 °C and 200 h (10 h hot / 20 min air cooling), AY3+YSZ mass gain is 1.035 mg/cm² vs 2.231 for YSZ and 3.996 for blank; AY3 also has the lowest spallation among double layers. Thermal drop at furnace 1000 °C, N2 8 L/min and 150 µm total coating thickness is 205 °C for dual vs 156 °C for YSZ. These SEM, cyclic oxidation and thermal tests are different specimen conditions; no assertion that AY1 SEM establishes AY3 strength. Delta T is T1 minus T2 as used in results; the source methods have reversed 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Ren, He &amp; Wang. High-temperature cyclic oxidation behavior of Al2O3–YAG composite coating prepared by EPD and microwave sintering. Applied Surface Science 258 (2012), 5739–5745. DOI: 10.1016/j.apsusc.2012.02.081.</a:t>
            </a:r>
            <a:endParaRPr/>
          </a:p>
          <a:p xmlns:a="http://schemas.openxmlformats.org/drawingml/2006/main">
            <a:r>
              <a:t>The authors deposited a seeded alumina–YAG precursor by EPD directly on polished bulk NiCoCrAlY, then used microwave sintering. They studied cyclic oxidation mass gain and spallation. The alloy is Ni39.5Co32Cr20Al8Y0.5 wt.%. This is not identical to a sprayed CoNiCrAlY bond coat. The drawing represents a ceramic coating externally supplied by deposition rather than a substrate-grown TGO. Both phases crystallize during heat treatment in the source process.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Prepare bulk NiCoCrAlY with 1000-grit grinding and acetone cleaning. Seeded boehmite sol with 1 wt.% alpha-alumina and Y nitrate; Y/Al 0.05, 0.10, 0.20. PEG 0.2 wt.%. Graphite anodes, 10 mm gap. Representative deposition 3 mA/cm² for 8 min. Figure 3 shows a smooth dense surface at 6–8 min and cracking/local spallation at 10 min, so EPD time is a control variable rather than a calibrated thickness. PFMS 1 h forms alpha-Al2O3 and YAG. Source does not explicitly state PFMS temperature; do not import 960 °C from Paper 1. Microscale drawings do not establish real pore dimensions.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Figure 4a/b are coating sections after 10 min and 1 h PFMS, c/d surfaces after 1 h; EDS panels omitted. Authors identify fine YAG in alumina; phase assignment also supported by XRD Fig.5. Section continuity supports qualitative adherence; no quantitative bond strength is reported. Figure 7 at 200 h shows AY1 lowest mass gain ~0.19 mg/cm² and AY3 lowest spallation ~0.11 mg/cm². Blank mass gain 1.29 and spallation .94; alumina-only .99 and .57. Different Y/Al compositions optimize these separate responses. The prose assigns .19 to AY3 in error; curve labels and kp table support AY1. Methods/Fig7/Table1 state1050 °C, while abstract/conclusion/Fig8 state1000 °C; unresolved source inconsistency retained in footer. Do not assign these quantitative curves to the shown microscopy specimen indiscriminately.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Our proposed route: sol-assisted anchoring, an alumina-rich connecting network, and secondary nano-Al2O3 sealing.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This is a proposed ex situ route for CoNiCrAlY, not a reported result. A thin, adherent surface oxide and an alumina-sol-derived interface are intended to connect the substrate to an alumina-rich continuous ceramic network containing dispersed preformed YAG particles. The irregular metal boundary remains connected; it is not a layer of detached rectangular metal particles. Gray is metal, a darker thin band is surface oxide, medium blue is sol/sol-derived alumina, pale blue is the desired alumina-rich network, gold is YAG, white is void, and dark-blue small dots are secondary nano-alumina. The desired continuity of the network is a design target, not proof of sintering. Secondary nano-Al2O3 is drawn entering channels open to the surface; closed pores and residual lower voids remain. It cannot be assumed to fill closed pores or to penetrate below its accessible size range. The diagram is not a measured thickness or microstructure. Surface oxide adherence, precursor shrinkage, phase conversion, thermal mismatch, particle neck formation and deposition thickness all require measurement. 1100 °C for1h is only a proposed conventional-furnace baseline; it does not establish strong bonding or equivalence to pressure-filtration microwave sintering.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  <a:endParaRPr sz="1200" b="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Critical question based on the user's revised research proposal. Two stress-transfer links must be distinguished: adhesion of the coating/oxide system to CoNiCrAlY and cohesion within the sol-derived alumina/particle network. The red schematic paths are hypothetical failure locations, not observed cracks. A TGO or native oxide cannot automatically be assumed pure alpha-Al2O3, thin, or adherent; oxide chemistry and location must be characterized. Low-temperature sol tack does not establish fired bond strength. Conventional furnace treatment at1100°C for1h may be insufficient for robust necking of preformed YAG/Al2O3 particles; actual behavior depends on powder size, sol fraction, phase evolution and schedule. Thermal mismatch and shrinkage add stress. Ren et al.2012 report morphological adherence and improved spallation with seeded-sol EPD plus PFMS on bulk NiCoCrAlY, not a quantified adhesion strength or validation of drop coating + ordinary furnace on CoNiCrAlY. The source has conflicting1000/1050°C test temperatures and no1250°C CMAS evidence. The unspecific2018 paper in the pasted material has not been verified and is not cited. Proposed minimum comparison: A powder layer; B add a sol-derived interface; C additionally increase the alumina-derived connecting phase. Keep thickness and heat treatment comparable. First screen powdering/cracks after drying and heat treatment; then1250°C for1h without CMAS and cross-sectional SEM to locate damage, with a suitable quantitative adhesion test and failure-mode inspection. Scratch critical load alone is not an intrinsic interface strength. Only then assess prolonged CMAS durability up to100h and secondary sealing.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57033375a4b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eb076ada641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8869bd1c84e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65dce08204b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16729d56f47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76790594145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c42fb702e4b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e62f7c5b748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5c59716c449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e13bba22a43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9da87df35442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E8191B-AE30-4C81-8C8B-560F0C922D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5796F22-59AE-40D8-BE05-C0268B367A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B750A3-0D14-4645-A93A-815FB22E65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69F77E0-B17A-4D7B-8EF1-163496989D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48143D-CCDA-4988-A901-A2A60F623A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F7CB02-C55E-493F-93A5-281195F6C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F9C9401-04AE-4D88-967B-80C34953A9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B7EDDE-63A9-4599-9B87-1299A7AE27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7BF8F9-CC77-4BE5-ABF1-FB5576242B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7DC8DAA-A658-4843-9180-682C4C8299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3E077B-5308-4B4D-BBED-BF95695A1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E37E48-542F-4EDC-B508-682FCD89B8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9AB158-08BB-47AF-AE03-FDAF6AE6A9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1A6357E-3BA7-4C98-9B8B-1822711C44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2094AB-9891-4CD6-9F4A-24AF66586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09CF9B7-20D5-419A-8D6D-8FC54AB80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B02D2C-D48F-4199-AE44-5E36479DD72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65C0ED3-53FF-4620-A971-46DA0E5247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FF3DCA-E8B9-4A5A-B89E-2B75805D7C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3F819B-FC10-4EE5-91B4-4C109F2816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3276BEA-4992-40D4-80C5-7032C636FA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53B48A-E682-43F1-8BE9-047CB0471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EA4A687-3EB6-455B-B480-E893CBCCB0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80923BA-0054-4756-86B1-63C40434AC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84BCB03-68F1-49B6-9DA6-7F6B04BB02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63E5456-9388-442D-B6FB-2B8552FC00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C0E9535-F755-4EF7-99A2-A81289CB0A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0332225-AB21-4C96-B2C5-5E8A8C97EB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EEB0604-C4C2-46EE-9472-6194E1C1D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14DF75-2F2C-47F5-A1F0-0149077D4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773A2A0-0462-42ED-9029-625C982271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BE3ADE6-7A27-4D97-8297-4CA7D382C3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EC9EF29-092C-4327-8384-33B9C0D19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A3C78AF-2EAE-4825-9DD5-4C40E32BDA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70F9CA3-D748-4B7C-95F2-27A29238A9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A141C29-EFE4-4E1B-91CE-D22225CF85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DE5AEF8-536F-44ED-AD32-7EE2C20C4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DD9D24-73C7-4439-9E93-661FAE6B0B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1BBF3EE-7871-461D-8634-FC5D3FB85F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2510B92-40C1-4422-9471-0F15D9D282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8E56C97-DFA8-43F5-A7DC-958ADC7B7A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3A001C-710C-4BD5-A479-6281771A83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3EF791-9004-4107-A661-9A3A6569D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A3D1C3D-795F-486C-8E26-6FA50723F72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36E5408-4478-4C61-B28E-F52A3A50DB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D2A1AD9-C0EB-4400-B35B-60CF339AF1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4DE2668-E795-4706-95A9-AA210AEA07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49C8D0A-84B2-442E-B5D6-25F8F02788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DC1C6F-5803-47C9-8313-927D1174B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5A0C1F7-44D8-4876-B87E-A1C03A3E11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2FDCDF-F657-4DF0-86C5-BD92013A41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131B4E-6568-4A7E-A5F7-514B478DB8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7A7D2A-28EC-4A57-86B9-8D00F9FBF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C57DFAE-3556-42DA-8599-0083DF6D8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053171-CE75-477B-96FA-15CF36FDB4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06979A-20BF-4DA2-B3D4-4818E01F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FC1DC8-6EF1-4F1C-B4E2-2FA8D9E697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4CD49E9-F281-4795-9B3F-A9A6173C20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e604110c4d499f" /><Relationship Type="http://schemas.openxmlformats.org/officeDocument/2006/relationships/slideLayout" Target="/ppt/slideLayouts/slideLayout1.xml" Id="Ra0168d9a043148b2" /><Relationship Type="http://schemas.openxmlformats.org/officeDocument/2006/relationships/slideLayout" Target="/ppt/slideLayouts/slideLayout2.xml" Id="R3281f74563864ec5" /><Relationship Type="http://schemas.openxmlformats.org/officeDocument/2006/relationships/slideLayout" Target="/ppt/slideLayouts/slideLayout3.xml" Id="Rf5cdc9b5b602400b" /><Relationship Type="http://schemas.openxmlformats.org/officeDocument/2006/relationships/slideLayout" Target="/ppt/slideLayouts/slideLayout4.xml" Id="Ra18232dc065e4d60" /><Relationship Type="http://schemas.openxmlformats.org/officeDocument/2006/relationships/slideLayout" Target="/ppt/slideLayouts/slideLayout5.xml" Id="Rd744e21fe1e24cb4" /><Relationship Type="http://schemas.openxmlformats.org/officeDocument/2006/relationships/slideLayout" Target="/ppt/slideLayouts/slideLayout6.xml" Id="R074898e87ece4bb0" /><Relationship Type="http://schemas.openxmlformats.org/officeDocument/2006/relationships/slideLayout" Target="/ppt/slideLayouts/slideLayout7.xml" Id="Rac97cf5772674023" /><Relationship Type="http://schemas.openxmlformats.org/officeDocument/2006/relationships/slideLayout" Target="/ppt/slideLayouts/slideLayout8.xml" Id="Rcddb68d1c9cd42fe" /><Relationship Type="http://schemas.openxmlformats.org/officeDocument/2006/relationships/slideLayout" Target="/ppt/slideLayouts/slideLayout9.xml" Id="R2c1f280256944c9d" /><Relationship Type="http://schemas.openxmlformats.org/officeDocument/2006/relationships/slideLayout" Target="/ppt/slideLayouts/slideLayout10.xml" Id="Rd8db422bdcda4d7c" /><Relationship Type="http://schemas.openxmlformats.org/officeDocument/2006/relationships/slideLayout" Target="/ppt/slideLayouts/slideLayout11.xml" Id="R394a53fddddf44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3568024-FE5B-4975-BE37-76E2CDEB1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63839E-5686-4EE2-B812-3D29E60BF2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C427C3-968C-40DC-B91F-29F4AE45FCC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5DD9492-4CD3-4789-9505-9732205682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08AC14A-9FC6-40BB-9731-6E7431BA5F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68d9a043148b2"/>
    <p:sldLayoutId xmlns:r="http://schemas.openxmlformats.org/officeDocument/2006/relationships" id="2147483650" r:id="R3281f74563864ec5"/>
    <p:sldLayoutId xmlns:r="http://schemas.openxmlformats.org/officeDocument/2006/relationships" id="2147483651" r:id="Rf5cdc9b5b602400b"/>
    <p:sldLayoutId xmlns:r="http://schemas.openxmlformats.org/officeDocument/2006/relationships" id="2147483652" r:id="Ra18232dc065e4d60"/>
    <p:sldLayoutId xmlns:r="http://schemas.openxmlformats.org/officeDocument/2006/relationships" id="2147483653" r:id="Rd744e21fe1e24cb4"/>
    <p:sldLayoutId xmlns:r="http://schemas.openxmlformats.org/officeDocument/2006/relationships" id="2147483654" r:id="R074898e87ece4bb0"/>
    <p:sldLayoutId xmlns:r="http://schemas.openxmlformats.org/officeDocument/2006/relationships" id="2147483655" r:id="Rac97cf5772674023"/>
    <p:sldLayoutId xmlns:r="http://schemas.openxmlformats.org/officeDocument/2006/relationships" id="2147483656" r:id="Rcddb68d1c9cd42fe"/>
    <p:sldLayoutId xmlns:r="http://schemas.openxmlformats.org/officeDocument/2006/relationships" id="2147483657" r:id="R2c1f280256944c9d"/>
    <p:sldLayoutId xmlns:r="http://schemas.openxmlformats.org/officeDocument/2006/relationships" id="2147483658" r:id="Rd8db422bdcda4d7c"/>
    <p:sldLayoutId xmlns:r="http://schemas.openxmlformats.org/officeDocument/2006/relationships" id="2147483659" r:id="R394a53fddddf44f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b61ee25cca47ae" /><Relationship Type="http://schemas.openxmlformats.org/officeDocument/2006/relationships/notesSlide" Target="/ppt/notesSlides/notesSlide1.xml" Id="Rfef57b802748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8585c6d0c84677" /><Relationship Type="http://schemas.openxmlformats.org/officeDocument/2006/relationships/notesSlide" Target="/ppt/notesSlides/notesSlide2.xml" Id="R7db568cb275b42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69952cbf9349a1" /><Relationship Type="http://schemas.openxmlformats.org/officeDocument/2006/relationships/image" Target="/ppt/media/image.png" Id="R1204aa5f81c44f53" /><Relationship Type="http://schemas.openxmlformats.org/officeDocument/2006/relationships/image" Target="/ppt/media/image.svg" Id="R21262401f0a94405" /><Relationship Type="http://schemas.openxmlformats.org/officeDocument/2006/relationships/notesSlide" Target="/ppt/notesSlides/notesSlide3.xml" Id="Ref2c4adf58e8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bfb7248a4a44b3" /><Relationship Type="http://schemas.openxmlformats.org/officeDocument/2006/relationships/image" Target="/ppt/media/image.png" Id="R6d48727f4f0541d8" /><Relationship Type="http://schemas.openxmlformats.org/officeDocument/2006/relationships/image" Target="/ppt/media/image.svg" Id="R5f370517c0014ae7" /><Relationship Type="http://schemas.openxmlformats.org/officeDocument/2006/relationships/notesSlide" Target="/ppt/notesSlides/notesSlide4.xml" Id="R5eb62f1aba9a4d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446e424cbc4407" /><Relationship Type="http://schemas.openxmlformats.org/officeDocument/2006/relationships/image" Target="/ppt/media/image.png" Id="R6f3dbfa421814691" /><Relationship Type="http://schemas.openxmlformats.org/officeDocument/2006/relationships/image" Target="/ppt/media/image.svg" Id="Rde1df080b6e643da" /><Relationship Type="http://schemas.openxmlformats.org/officeDocument/2006/relationships/image" Target="/ppt/media/image.jpeg" Id="R74bdd089f5ab47e9" /><Relationship Type="http://schemas.openxmlformats.org/officeDocument/2006/relationships/notesSlide" Target="/ppt/notesSlides/notesSlide5.xml" Id="R3ca0732721d840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254eadd97e4226" /><Relationship Type="http://schemas.openxmlformats.org/officeDocument/2006/relationships/notesSlide" Target="/ppt/notesSlides/notesSlide6.xml" Id="R8c04fda80aee4d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b6ca60fad143ed" /><Relationship Type="http://schemas.openxmlformats.org/officeDocument/2006/relationships/image" Target="/ppt/media/image2.png" Id="R8b8667af414d44f8" /><Relationship Type="http://schemas.openxmlformats.org/officeDocument/2006/relationships/notesSlide" Target="/ppt/notesSlides/notesSlide7.xml" Id="R40b5b01febac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84b22e06934fee" /><Relationship Type="http://schemas.openxmlformats.org/officeDocument/2006/relationships/image" Target="/ppt/media/image3.png" Id="Rf943fd83f3d7480b" /><Relationship Type="http://schemas.openxmlformats.org/officeDocument/2006/relationships/image" Target="/ppt/media/image2.svg" Id="Rc1b4bfc12e5a49e2" /><Relationship Type="http://schemas.openxmlformats.org/officeDocument/2006/relationships/notesSlide" Target="/ppt/notesSlides/notesSlide8.xml" Id="R5c7d928a94ab4f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8063c5252842ae" /><Relationship Type="http://schemas.openxmlformats.org/officeDocument/2006/relationships/image" Target="/ppt/media/image4.png" Id="R78c531e7533341a2" /><Relationship Type="http://schemas.openxmlformats.org/officeDocument/2006/relationships/image" Target="/ppt/media/image3.svg" Id="R1cf9751a0a6144f6" /><Relationship Type="http://schemas.openxmlformats.org/officeDocument/2006/relationships/image" Target="/ppt/media/image5.png" Id="Rffe27e0c4c9f42e0" /><Relationship Type="http://schemas.openxmlformats.org/officeDocument/2006/relationships/notesSlide" Target="/ppt/notesSlides/notesSlide9.xml" Id="Rc6831d815f694f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bfe4761c3a4d41" /><Relationship Type="http://schemas.openxmlformats.org/officeDocument/2006/relationships/notesSlide" Target="/ppt/notesSlides/notesSlide10.xml" Id="R3cf7d3d7173c40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156a1074db48be" /><Relationship Type="http://schemas.openxmlformats.org/officeDocument/2006/relationships/image" Target="/ppt/media/image4.png" Id="R1da02f69e0b247ca" /><Relationship Type="http://schemas.openxmlformats.org/officeDocument/2006/relationships/image" Target="/ppt/media/image3.svg" Id="Rcd69003093254678" /><Relationship Type="http://schemas.openxmlformats.org/officeDocument/2006/relationships/notesSlide" Target="/ppt/notesSlides/notesSlide11.xml" Id="Rb7b5c7b62cbb46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43ce3b3b364842" /><Relationship Type="http://schemas.openxmlformats.org/officeDocument/2006/relationships/image" Target="/ppt/media/image6.png" Id="R9a24d0522c1d4635" /><Relationship Type="http://schemas.openxmlformats.org/officeDocument/2006/relationships/image" Target="/ppt/media/image4.svg" Id="R43cb37f298704d38" /><Relationship Type="http://schemas.openxmlformats.org/officeDocument/2006/relationships/image" Target="/ppt/media/image7.png" Id="Rdc7dbb052bbb4c26" /><Relationship Type="http://schemas.openxmlformats.org/officeDocument/2006/relationships/image" Target="/ppt/media/image5.svg" Id="R2494157434dc4c80" /><Relationship Type="http://schemas.openxmlformats.org/officeDocument/2006/relationships/notesSlide" Target="/ppt/notesSlides/notesSlide12.xml" Id="Rfaffa2c989bd49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52D4F516-57F1-4A0D-9F77-04D5364B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269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99206D4D-ECF4-4B2F-92F0-6F4D0CF1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269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F14D40FB-265C-4CF8-A53E-0A44957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90"/>
            <a:ext cx="12192000" cy="6142893"/>
          </a:xfrm>
          <a:custGeom xmlns:a="http://schemas.openxmlformats.org/drawingml/2006/main">
            <a:gdLst>
              <a:gd name="connsiteX0" fmla="*/ 0 w 12192000"/>
              <a:gd name="connsiteY0" fmla="*/ 0 h 6142893"/>
              <a:gd name="connsiteX1" fmla="*/ 12192000 w 12192000"/>
              <a:gd name="connsiteY1" fmla="*/ 0 h 6142893"/>
              <a:gd name="connsiteX2" fmla="*/ 12192000 w 12192000"/>
              <a:gd name="connsiteY2" fmla="*/ 5472696 h 6142893"/>
              <a:gd name="connsiteX3" fmla="*/ 12089739 w 12192000"/>
              <a:gd name="connsiteY3" fmla="*/ 5497961 h 6142893"/>
              <a:gd name="connsiteX4" fmla="*/ 6096002 w 12192000"/>
              <a:gd name="connsiteY4" fmla="*/ 6142893 h 6142893"/>
              <a:gd name="connsiteX5" fmla="*/ 102263 w 12192000"/>
              <a:gd name="connsiteY5" fmla="*/ 5497961 h 6142893"/>
              <a:gd name="connsiteX6" fmla="*/ 0 w 12192000"/>
              <a:gd name="connsiteY6" fmla="*/ 5472695 h 6142893"/>
            </a:gdLst>
            <a:rect l="l" t="t" r="r" b="b"/>
            <a:pathLst>
              <a:path w="12192000" h="6142893">
                <a:moveTo>
                  <a:pt x="0" y="0"/>
                </a:moveTo>
                <a:lnTo>
                  <a:pt x="12192000" y="0"/>
                </a:lnTo>
                <a:lnTo>
                  <a:pt x="12192000" y="5472696"/>
                </a:lnTo>
                <a:lnTo>
                  <a:pt x="12089739" y="5497961"/>
                </a:lnTo>
                <a:cubicBezTo>
                  <a:pt x="10342060" y="5907219"/>
                  <a:pt x="8290444" y="6142893"/>
                  <a:pt x="6096002" y="6142893"/>
                </a:cubicBezTo>
                <a:cubicBezTo>
                  <a:pt x="3901558" y="6142893"/>
                  <a:pt x="1849942" y="5907219"/>
                  <a:pt x="102263" y="5497961"/>
                </a:cubicBezTo>
                <a:lnTo>
                  <a:pt x="0" y="54726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EB5DEF6C-0109-4017-9B21-BD2817A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937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53A618F-A686-4FD1-84DC-8BD32A9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1049000" cy="10315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Coatings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4FE3984-980E-4075-9C08-25C3AF1A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104900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4E2B9-2A17-4C61-BF8F-EBAF02C3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Literature findings and proposed interface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D29DA-1DA9-4428-B3FA-8313C39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Group Meeting · 12 October 2026</a:t>
            </a:r>
          </a:p>
        </p:txBody>
      </p:sp>
    </p:spTree>
    <p:extLst>
      <p:ext uri="{BB962C8B-B14F-4D97-AF65-F5344CB8AC3E}">
        <p14:creationId xmlns:p14="http://schemas.microsoft.com/office/powerpoint/2010/main" val="2076053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248282-1659-4421-9B74-8EB46FE52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6750" y="3724275"/>
            <a:ext cx="10858500" cy="1476375"/>
          </a:xfr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YSZ /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Double-Layer TBCs</a:t>
            </a: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039FEF26-56ED-48E3-AF6F-06B4EEE9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23235"/>
          </a:xfrm>
          <a:custGeom xmlns:a="http://schemas.openxmlformats.org/drawingml/2006/main">
            <a:gdLst>
              <a:gd name="connsiteX0" fmla="*/ 0 w 12192000"/>
              <a:gd name="connsiteY0" fmla="*/ 0 h 6142893"/>
              <a:gd name="connsiteX1" fmla="*/ 12192000 w 12192000"/>
              <a:gd name="connsiteY1" fmla="*/ 0 h 6142893"/>
              <a:gd name="connsiteX2" fmla="*/ 12192000 w 12192000"/>
              <a:gd name="connsiteY2" fmla="*/ 5472696 h 6142893"/>
              <a:gd name="connsiteX3" fmla="*/ 12089739 w 12192000"/>
              <a:gd name="connsiteY3" fmla="*/ 5497961 h 6142893"/>
              <a:gd name="connsiteX4" fmla="*/ 6096002 w 12192000"/>
              <a:gd name="connsiteY4" fmla="*/ 6142893 h 6142893"/>
              <a:gd name="connsiteX5" fmla="*/ 102263 w 12192000"/>
              <a:gd name="connsiteY5" fmla="*/ 5497961 h 6142893"/>
              <a:gd name="connsiteX6" fmla="*/ 0 w 12192000"/>
              <a:gd name="connsiteY6" fmla="*/ 5472695 h 6142893"/>
            </a:gdLst>
            <a:rect l="l" t="t" r="r" b="b"/>
            <a:pathLst>
              <a:path w="12192000" h="6142893">
                <a:moveTo>
                  <a:pt x="0" y="0"/>
                </a:moveTo>
                <a:lnTo>
                  <a:pt x="12192000" y="0"/>
                </a:lnTo>
                <a:lnTo>
                  <a:pt x="12192000" y="5472696"/>
                </a:lnTo>
                <a:lnTo>
                  <a:pt x="12089739" y="5497961"/>
                </a:lnTo>
                <a:cubicBezTo>
                  <a:pt x="10342060" y="5907219"/>
                  <a:pt x="8290444" y="6142893"/>
                  <a:pt x="6096002" y="6142893"/>
                </a:cubicBezTo>
                <a:cubicBezTo>
                  <a:pt x="3901558" y="6142893"/>
                  <a:pt x="1849942" y="5907219"/>
                  <a:pt x="102263" y="5497961"/>
                </a:cubicBezTo>
                <a:lnTo>
                  <a:pt x="0" y="54726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EA01BCD-B7E4-4066-883B-553FE0DE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9905" y="1601470"/>
            <a:ext cx="1014095" cy="8293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alpha val="0"/>
            </a:schemeClr>
          </a:solidFill>
          <a:ln xmlns:a="http://schemas.openxmlformats.org/drawingml/2006/main" w="88900">
            <a:solidFill>
              <a:schemeClr val="bg1"/>
            </a:solidFill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14BE4BB-C10E-402E-A100-F26D777D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7065" y="1405890"/>
            <a:ext cx="73977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2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76C57B99-2C73-435A-9F24-B8AD7AD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2220"/>
            <a:ext cx="12192000" cy="525780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63453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87E0746E-2491-455F-AE19-EBA24080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781B147B-9D02-4FF5-9C6A-431B1C4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5E4B7FE-1DA0-4C1A-809C-1AA3B47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A composite interlayer beneath YSZ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D030A9B2-97CF-47AA-BD1F-CE8C2DEA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1F350624-188F-4CC6-82DF-C3DD2F94C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4aa5f81c44f53">
            <a:extLst>
              <a:ext uri="{96DAC541-7B7A-43D3-8B79-37D633B846F1}">
                <asvg:svgBlip xmlns:asvg="http://schemas.microsoft.com/office/drawing/2016/SVG/main" r:embed="R21262401f0a944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E1B6577C-9855-4C02-80B5-27D1F31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B5649B-6377-4F46-8AB5-BFE34EE3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2011. Original schematic; not to scale.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A9D664-AB4B-4786-8A98-CD15368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7AE3DE-9525-4954-90D7-1138DAEE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7627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3C6360-0D53-4C8E-B7F0-B4DBFE05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4333875" cy="455295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6EF8D7-2D72-433C-8AB2-621382A7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5255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YSZ /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double-layer TBC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63C158-CF63-4F11-906D-0B7B289F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0988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2EA0A2-EE14-4150-A1B8-D3C0058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8994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B196C1-FD85-4F34-938F-56FA346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8544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639A91-84AB-458F-9E52-164991D7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67100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CA6C33-5827-4462-8D94-1D5C6766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952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6AED93-047A-476E-8D80-550F3A6F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98081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39D765-0856-4839-B22F-199F9DD1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76638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F7FC56-1DF5-4B26-8251-53AE704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2906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058CA1-B736-4E51-98BA-5D5F4BEE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761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F8D364-5237-4E7C-9468-031E69F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8617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192842-B374-4BB8-89B1-F26A626F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4731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AA1E99-93CE-446D-BF16-B90EDC7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1715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6981A82-CDB1-46FE-A27A-C999D340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9571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572265-2188-4060-85FD-746EFAD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426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07D6A5-D67B-4B91-8366-2037AD10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5282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032815-68CE-4176-9C2E-BDDB66F5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905250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AF39AE-41AF-4E80-BE05-ABB9698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380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950A37-DE20-4743-903C-751A52C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6236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9DEE24-DA5E-4AE7-BAE6-14346205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091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918873E-DF9A-4566-94D1-136CFDBF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3344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7FE03AB-38D6-4C6E-99E0-B2F3C9C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FA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FC9442-D440-44BC-996C-C6F66EE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9557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YSZ top layer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92799D-3C55-4D4D-8A7E-D755AA3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+ YAG particles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F5E2D9-E533-4955-B962-E912560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576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GH864 superalloy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8EACE34-D3A4-4DB2-BD0A-26A6CCE5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47875"/>
            <a:ext cx="3810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DEB6489-90E3-42AE-AFB1-4656732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Heat + oxygen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A97AD93-7140-4293-B787-D85331B2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Gold: YAG · Pale blue: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6D2163-E541-4FF4-BA62-DDE0A7C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4192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3BC7FAC-089F-408B-AB01-EF328F2C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383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interlayer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+ YSZ top coat.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41E9AE0-C111-4A19-BEF2-393CD0B6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099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Aim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795B16-B6F6-4254-ABB0-3EC70BBA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290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Oxidation protection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thermal insulation.</a:t>
            </a:r>
          </a:p>
        </p:txBody>
      </p:sp>
    </p:spTree>
    <p:extLst>
      <p:ext uri="{BB962C8B-B14F-4D97-AF65-F5344CB8AC3E}">
        <p14:creationId xmlns:p14="http://schemas.microsoft.com/office/powerpoint/2010/main" val="16093086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0E141E44-E846-4A6D-9E98-F0D9C20D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67F5F8B9-FF57-4074-8A89-7AEC699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B61FF8F-F23E-40DF-8FB2-FF9F631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Preparation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CC39D3E4-EBA5-4848-BB53-B749D1D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F49B5B16-2810-493D-9E1D-E07112761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8727f4f0541d8">
            <a:extLst>
              <a:ext uri="{96DAC541-7B7A-43D3-8B79-37D633B846F1}">
                <asvg:svgBlip xmlns:asvg="http://schemas.microsoft.com/office/drawing/2016/SVG/main" r:embed="R5f370517c0014a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5EE12BED-1D00-4EE7-B712-9D4EF313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F0248B-200E-403C-B757-1F3984CC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2011, §2. Original process schematic.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189354-4119-4763-983D-A5B6825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46333F-A2DD-4F28-8E80-18F4ADE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BDCA08-F0FA-4973-A283-BEE72E0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Precursor sol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ADEE08-1619-4E32-A3AE-7608A9F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2B6EE0-74BE-4185-935D-97DF5D89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143B95-B267-4A4E-8CF1-596C5D2B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B23BE8-0B3B-4D30-948E-AAD53DDC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494A52-D021-44F2-9066-0A6F8AB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88787A-B1CD-4199-B354-FB7D69D7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9E6F12-BA01-4085-B732-032F089E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94126B-39EA-418F-B71F-741CF8F9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885167-4A33-4C90-9CA6-38BD7ED6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829831E-96EE-4811-8D7F-2623365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5C75C1-CFC7-48F6-A070-1A42F76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0BCEDC-0AB0-4341-9C30-8F68090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6B6EDD-F8FF-4492-99EA-0CC2AA48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D77179-DAE2-45CE-9964-CA790D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C85969-FE48-412A-BD44-5ED8C7C9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BAF978-588F-4841-9E83-69BA632E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CD92DD-BD54-4571-BDE9-3A66448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51A21C-9268-4572-A480-72825D27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Boehmite + Y</a:t>
            </a:r>
            <a:r>
              <a:rPr baseline="30000"/>
              <a:t>3+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1 wt.% α-Al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seeds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121D9EE-0251-4EBB-B7D7-F0C6DE75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1E7EF6-6453-436D-A6BA-85E79802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BA7E4E-251C-40DB-926B-7C62EB6A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EPD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1D425D-A837-4149-B5F8-410CFC5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7E56878-9DAD-4F92-8710-9D6F0175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87C6834-7DEC-4348-8122-057132E5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F8EA11-C7ED-4C36-AFD6-C46DFD2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A330D20-6E04-41EF-922A-F779572F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60C664-358C-4FE1-9DF3-1532BC87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FBE955-15F6-419C-B168-E2D8E0CA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7B26E87-CCEF-4EE1-ACF6-446E179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328D501-94AA-40CA-B60E-E579E84A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5FC4D7-7026-4F1F-B28F-D6FAA8AD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D77FCA-D080-4AE7-8E63-492A6C1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1D158F-7823-4853-BC28-1BD4E89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1192F6-A35B-4D11-82A4-AF2D3FF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C53BA8-7E92-43E8-A863-E6EEB57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E5E3E11-CA17-4F4A-8B95-FF9C6FB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1B5FB56-BEB7-49FF-AFEA-D3B3FC91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FEC9E7-917D-4CF0-9474-EA7497C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4AECC61-8F8A-4D12-BC56-4570085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AC03F7-0240-40D6-A051-B5D35E8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BBBEA7-2D66-4DCA-B317-B9BC7DB6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02A2B3-6EE5-43C0-8849-A45B4600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4615F6-C8ED-4E26-8BFB-77B7549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133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FDCE56C-1654-417D-94D9-FE1789E7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DF50A5-99F2-417C-924A-3FF37C5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1B6ED84-9AEE-432D-99A9-FD6EAD88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0207AD7-6384-480A-885C-81947223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88970"/>
            <a:ext cx="3524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6DF88E-EE8C-4E2A-9771-D0D6B35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88970"/>
            <a:ext cx="352425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7333A20-3E98-4BB9-BC61-C66FD6CF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30 mA/cm</a:t>
            </a:r>
            <a:r>
              <a:rPr baseline="30000"/>
              <a:t>2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6 min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2F57954-836A-4028-9C38-248568D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85F1E25-9ABC-4E87-A327-7CCE9161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C1B2F4B-C928-43E5-8193-F007887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Interlayer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C808EC5-ECA9-4723-A869-C8FC7A8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24175"/>
            <a:ext cx="20097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41FA1B-4E33-40EE-96A9-7197967E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A8C340A-7C7A-4156-9F9F-370ED58A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6E72ABA-776E-4000-80C9-52F5B51D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940D082-EBE0-413E-85A8-5FA7D63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374128-A72E-478E-A8DB-0FF6012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62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565FEC4-3660-4EF7-A2DF-C94E31CF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C20EC7-F6E3-4EB5-B697-62FC0BBF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54C23E-D92C-4DF1-9A84-038EB08D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4EAEC59-CCD8-42CA-A216-9F064EBA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1FE2C6F-D68E-4353-B81B-7FD8EEC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AB47DA0-05D1-421B-94A8-B24E58E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AD61899-C7A9-4E60-8DCA-5A269B5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DAE8DD-CA31-49D0-9CC0-D746651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0CC4AA2-1A38-45EC-85E2-881D890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Dry: 24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Then PFMS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7C52CE1-B646-42DE-AC6A-BC5721CA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E16B28E-A9BC-4142-A204-0FC2BC3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AD14FF6-784F-4982-BB55-F4081F9E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4 · YSZ + PFMS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C7CAD0B-797E-49FE-A676-54551762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48038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B93F493-A0E2-4C33-A40A-9B6BD68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45606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A51EBE3-DF95-4ED3-B87D-2A35A50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5515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CE3387E-8686-4333-9331-E9ABA21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7896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2EAB4CF-EF54-46FA-9D2A-164C5B93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38475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539313B-1844-4755-9AEF-48D3F83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6228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BE1A778-DAE6-4660-97E1-A7F505C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8610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7688B99-67E6-4D2A-AA3F-FBDCC80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09913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D39DFDF-6246-4127-9870-0DA991B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33725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ABBE25B-4CD2-4545-A4E5-3F5209F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5753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4426AAF-1C46-4F98-8553-90968BC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8135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8FDB066-4E99-43CD-BB72-45B003F0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4085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0F1B180-9889-4BB0-BF89-B7DB0D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466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A01824C-41BB-4B0E-A65E-C82FA50F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88481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2C21816-7B14-45B4-974A-2DB3E12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12294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3D91FBD-E562-40B3-8469-C676C92C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3610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0294BF5-49CE-4BD4-AAAD-4E82FAF6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5991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15C9F4-FF43-446D-9E4C-8227785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83731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98BB7B3-1EBD-4A88-8BB0-AE6D125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4323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8863635-BECB-4BFB-9923-66DD3CBA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6705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2E75E64-DCDA-48EF-A4A0-3FAFAB60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43175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FA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F43F661-7E87-457D-AEF5-03DB73B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383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487B881-BC00-4538-9FCC-455DB9A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Blade-coat YSZ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PFMS: 960 °C, 2 h</a:t>
            </a:r>
          </a:p>
        </p:txBody>
      </p:sp>
    </p:spTree>
    <p:extLst>
      <p:ext uri="{BB962C8B-B14F-4D97-AF65-F5344CB8AC3E}">
        <p14:creationId xmlns:p14="http://schemas.microsoft.com/office/powerpoint/2010/main" val="15533566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9A46DEE8-1A40-4E28-9B30-47C1235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5ECBB382-757A-4704-AEC7-811FBA1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6604B0DA-9BEE-4D34-8B8F-9E22D4F9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E188D4D6-8C12-4CC3-B646-801D8F42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5AEA8FA6-02EC-4D06-8A89-0152B4B53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dbfa421814691">
            <a:extLst>
              <a:ext uri="{96DAC541-7B7A-43D3-8B79-37D633B846F1}">
                <asvg:svgBlip xmlns:asvg="http://schemas.microsoft.com/office/drawing/2016/SVG/main" r:embed="Rde1df080b6e643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BAFD12B-FC14-45DF-AE32-91D93D5E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Structure and performance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E8B9DE-4284-493F-B5A6-63B466F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2011, Fig. 2, Fig. 5 and Table 1.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00D403-5202-44A2-89A6-11059CAB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5F707C-E0B7-4AFF-9C42-35CBB6F9F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d089f5ab47e9"/>
          <a:stretch xmlns:a="http://schemas.openxmlformats.org/drawingml/2006/main"/>
        </p:blipFill>
        <p:spPr>
          <a:xfrm xmlns:a="http://schemas.openxmlformats.org/drawingml/2006/main">
            <a:off x="804435" y="1171575"/>
            <a:ext cx="5706330" cy="4286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4F9739-A101-45EB-B579-4D887ACC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62050"/>
            <a:ext cx="46672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046F26-C688-40DC-B5E2-15BC976C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525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SEM: AY1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723FFB-4630-46B5-A90B-E769C3B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71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Interlayer beneath YSZ (d).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36B752-8653-49C7-969B-408A294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717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1000 °C · 200 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7FCA4F-D054-4371-9152-C56F5F73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Mass gain: 1.04 vs. 2.23 mg/cm</a:t>
            </a:r>
            <a:r>
              <a:rPr baseline="30000"/>
              <a:t>2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AY3 + YSZ / YSZ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F55014-6494-4790-B867-59F56CF7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33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Thermal drop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D257E1-87BA-46E4-9C5B-7A14EED0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529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205 vs. 156 °C (dual / YSZ)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150 μm total thickness</a:t>
            </a:r>
          </a:p>
        </p:txBody>
      </p:sp>
    </p:spTree>
    <p:extLst>
      <p:ext uri="{BB962C8B-B14F-4D97-AF65-F5344CB8AC3E}">
        <p14:creationId xmlns:p14="http://schemas.microsoft.com/office/powerpoint/2010/main" val="1211214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BE62E1-5C6E-4157-9C45-03867265A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6750" y="3724275"/>
            <a:ext cx="10858500" cy="1476375"/>
          </a:xfr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Composite Coatings</a:t>
            </a: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5E047AC3-6274-4394-ACA2-A09FDCB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23235"/>
          </a:xfrm>
          <a:custGeom xmlns:a="http://schemas.openxmlformats.org/drawingml/2006/main">
            <a:gdLst>
              <a:gd name="connsiteX0" fmla="*/ 0 w 12192000"/>
              <a:gd name="connsiteY0" fmla="*/ 0 h 6142893"/>
              <a:gd name="connsiteX1" fmla="*/ 12192000 w 12192000"/>
              <a:gd name="connsiteY1" fmla="*/ 0 h 6142893"/>
              <a:gd name="connsiteX2" fmla="*/ 12192000 w 12192000"/>
              <a:gd name="connsiteY2" fmla="*/ 5472696 h 6142893"/>
              <a:gd name="connsiteX3" fmla="*/ 12089739 w 12192000"/>
              <a:gd name="connsiteY3" fmla="*/ 5497961 h 6142893"/>
              <a:gd name="connsiteX4" fmla="*/ 6096002 w 12192000"/>
              <a:gd name="connsiteY4" fmla="*/ 6142893 h 6142893"/>
              <a:gd name="connsiteX5" fmla="*/ 102263 w 12192000"/>
              <a:gd name="connsiteY5" fmla="*/ 5497961 h 6142893"/>
              <a:gd name="connsiteX6" fmla="*/ 0 w 12192000"/>
              <a:gd name="connsiteY6" fmla="*/ 5472695 h 6142893"/>
            </a:gdLst>
            <a:rect l="l" t="t" r="r" b="b"/>
            <a:pathLst>
              <a:path w="12192000" h="6142893">
                <a:moveTo>
                  <a:pt x="0" y="0"/>
                </a:moveTo>
                <a:lnTo>
                  <a:pt x="12192000" y="0"/>
                </a:lnTo>
                <a:lnTo>
                  <a:pt x="12192000" y="5472696"/>
                </a:lnTo>
                <a:lnTo>
                  <a:pt x="12089739" y="5497961"/>
                </a:lnTo>
                <a:cubicBezTo>
                  <a:pt x="10342060" y="5907219"/>
                  <a:pt x="8290444" y="6142893"/>
                  <a:pt x="6096002" y="6142893"/>
                </a:cubicBezTo>
                <a:cubicBezTo>
                  <a:pt x="3901558" y="6142893"/>
                  <a:pt x="1849942" y="5907219"/>
                  <a:pt x="102263" y="5497961"/>
                </a:cubicBezTo>
                <a:lnTo>
                  <a:pt x="0" y="54726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CCA05D1-EEA0-40FB-B3E3-80541972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9905" y="1601470"/>
            <a:ext cx="1014095" cy="8293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alpha val="0"/>
            </a:schemeClr>
          </a:solidFill>
          <a:ln xmlns:a="http://schemas.openxmlformats.org/drawingml/2006/main" w="88900">
            <a:solidFill>
              <a:schemeClr val="bg1"/>
            </a:solidFill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FE892F-804A-4A95-9EA3-69A5404D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7065" y="1405890"/>
            <a:ext cx="73977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12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80D02175-7E02-4D1D-9EE2-234E8DE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2220"/>
            <a:ext cx="12192000" cy="525780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43588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25CC99EB-F707-4E0A-A718-855B09B0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485DCD0E-A999-4DEA-9438-137BEC6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9B980D2-A17A-4EF7-ACBD-D094664F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87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Part II ·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on NiCoCrAlY</a:t>
            </a: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1B453698-8AAE-49EF-849C-9F4375D24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667af414d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12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8808F84-904B-4EAE-81B2-D678B9F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7DD1FAB3-B4F3-4E12-9114-822568DA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44A125-E634-4E34-9068-CBE4AAA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2012. Original schematic; not to scale.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B1B150-2088-4315-98E2-DA39EEDD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746E54-3629-426C-8850-21A83B54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7627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0CACDC-6170-4938-BF65-6BF5BB6D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4333875" cy="455295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B5CB00-7611-4EF3-B337-84949FF9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525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–YAG directly on the alloy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26FDCE-66B5-4EA7-A856-CF70F80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0975"/>
            <a:ext cx="3190875" cy="804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C2C19D-EEE9-4421-844A-752C9910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6113"/>
            <a:ext cx="3190875" cy="804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6FAC33-6C44-43FF-A620-46C32743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FF78D8-B1CB-47A5-BCFE-3DF6548A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80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B58CD2-988C-4DC3-9AB2-D8B3E0C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33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F2D5DA-B279-49D4-8BE6-9AE3670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194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EC61B0-E9B4-4C0A-BD6D-19B86FC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18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27876D-925A-4948-B463-09F2F999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57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EE8D06-F9E2-4302-9CCC-436D92E5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ACCDD7-F363-46EC-A7AF-E99B7DAE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56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5B7D0E-E127-4F97-8A5E-7D48598B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381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981E5C-DA5A-4DE6-8EBF-F264F83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BD12A8-B630-4002-982C-7266AF8A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194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24FA08-416C-40F5-BBE7-038BDBA4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05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A2BD69-E0B4-43D5-AFB0-64D4F7FF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72AF02-FDE7-49D3-87D9-435BCC78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4432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0E228F6-83F1-4950-9048-7219FF7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957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549BDA-5F1C-4928-AE6F-A7B7A92D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2A0756-DC9A-4D7C-BDF9-827FC315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670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000E6B-94B0-4E77-B318-715A0AF6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9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C72D54-49FD-46BE-8788-1C32BE7F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09925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+ YAG particles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CC10C27-847B-4697-AD53-BC0F8872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576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NiCoCrAlY alloy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06D2DDA-6FD4-42E4-9094-06EF2D01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19325"/>
            <a:ext cx="361950" cy="571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728133-1F28-47EA-8DA9-772665B4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Oxygen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84643B-C1E8-4953-BC2F-7BBA7E4B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Bulk NiCoCrAlY substrate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3EF508-0D30-4B05-83AD-B1E05EA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4192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2A12A9-69B3-4A3C-9EDF-E4DA7D7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383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+ dispersed YAG.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6004D93-109B-4639-976F-32508A8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86150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Aim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2A39266-3734-4654-B43D-9D473284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05250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Less oxidation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and spallation.</a:t>
            </a:r>
          </a:p>
        </p:txBody>
      </p:sp>
    </p:spTree>
    <p:extLst>
      <p:ext uri="{BB962C8B-B14F-4D97-AF65-F5344CB8AC3E}">
        <p14:creationId xmlns:p14="http://schemas.microsoft.com/office/powerpoint/2010/main" val="5326104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6F54F215-7B68-46D1-81E0-A432E491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17983FFD-099B-45F3-AF75-85E6C911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1BA6459-F35F-4AC0-9A06-920599F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Preparation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FF2CC9BF-6455-4997-877B-AE7F756B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1D790D78-0DF5-4A5B-896C-2FA640CD3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3fd83f3d7480b">
            <a:extLst>
              <a:ext uri="{96DAC541-7B7A-43D3-8B79-37D633B846F1}">
                <asvg:svgBlip xmlns:asvg="http://schemas.microsoft.com/office/drawing/2016/SVG/main" r:embed="Rc1b4bfc12e5a49e2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00B65CE2-83D9-4B92-9C13-0940830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E6943A-0ABA-44C8-8EE2-DC8B0652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2012, §2, Figs. 3–5. PFMS temperature not stated.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6AA44C-F6FA-47FF-91DE-A02A8D8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79B9D7-5F5B-4869-8A8A-E923151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60E266-B6CD-45FB-BD13-662CD260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Surface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772F59-4170-43C6-AD1A-037C7A3C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194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BA5C5A-173A-4F7E-81A9-0DC027E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F6FE30-69B4-49CD-B24D-084EDFE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93A448-0542-4BB2-B27F-7B83EB3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1000-grit SiC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Acetone cleaning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48A798-E1DA-42A0-B379-1F8B005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F8B5472-EEE1-4F1C-B637-FCD92BB9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7AC32E-C20E-4EB1-AE2E-907E7E48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Precursor sol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535D84-2BC0-4CE9-8C27-5AE5EEF5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6F51AB-8CCD-4F31-AE26-317A41A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9D406F-4818-4D3E-B042-75FDEDF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95C22A-0E42-4B86-8137-7CFB010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6A80EF-8271-419B-8B8F-A529F4AA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BF62E0-8BA8-4F81-8887-A4E0C8A1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784353-B999-4A9B-972A-67D74DC4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2C3540-75B5-4EE1-BD88-E35F42C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17E6C9-7487-4E5B-8544-5ABB5B8D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5C7416-E2AD-416F-B01A-7A4E400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BD9AF1-7357-4B56-9C96-5A9F9F8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C13E6C-F1A0-43FC-9988-5DE4B905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289A19-01A2-432E-B8C2-AAC2847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387D0D9-C8EF-4768-B844-02B89CE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339E01-63B9-413E-A868-E40FBEE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78CD79-09FB-40EE-8371-8F535B08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445399-4B7B-466F-A6E9-2DA771F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091D0B6-F144-445A-8B2D-994B10D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Boehmite + Y</a:t>
            </a:r>
            <a:r>
              <a:rPr baseline="30000"/>
              <a:t>3+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α-Al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seeds + PEG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B91E82-1951-448B-B018-3B2F9ACA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75F6C13-0894-41C3-BD1C-0B7A3627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6E8DB2F-ADD9-4655-923E-EFDC544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EPD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C299A75-7CEF-4AFB-B78A-F510CF68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9CC39C-D822-4C3C-B246-D0F5271B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FF2884-BFAD-4538-8A65-F9FF35CB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D72FCC6-6D45-4C3A-B3F5-77633BC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9AE15DF-D88D-4F18-ADD7-991F249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13DDD68-F339-43C1-8DF9-362430A5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B41AE8-4597-48D7-995E-95662CB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CF2C85-B54A-4C22-A709-1B24CCED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4923E5-2827-4209-981E-93AE17C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242EA6-605C-4153-9DC8-CC41BD3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BF2EC7-005F-439D-8A4A-EBC2BBE3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C82220-E240-479F-B0B6-18B5C64C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8EE452B-28A7-4532-82D4-CE51E6F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AD76C4-4A29-4F30-8136-9576CC42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9173DF0-0052-42DE-A814-6758C7A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045DCF-8989-464C-AC72-B665D41D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60575C5-D1D7-4C84-8352-84572D7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FCE7068-F87B-4746-A52B-3368733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8211E6A-A8B5-4E64-9E08-8B7A0CAE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E36E3C1-05D2-4C07-828E-B8E3736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08F2CBE-A4DF-43F0-970C-8CEEF52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07A59DC-7DF4-4413-A155-959D90B2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133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120D24E-4221-4498-BC7C-6807C7FB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5DBAB9E-2978-483E-83FC-E460391A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EA1817-2BE2-4296-9789-66A05E13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9858778-702E-49AF-B914-5FD29F2E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8970"/>
            <a:ext cx="3524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94841A-D6B1-43A9-B317-42F37FC4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88970"/>
            <a:ext cx="352425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E8B5FDA-07E7-47DE-92E8-C504413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3.0 mA/cm</a:t>
            </a:r>
            <a:r>
              <a:rPr baseline="30000"/>
              <a:t>2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8 min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FFD37C-DC11-444D-9E88-1169A644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CAD9C1E-BC27-4B90-A95D-C93F69B8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C126C7C-902E-461C-A10D-7DC69F8C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4 · PFMS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A647BCC-61E3-43B3-B1F9-500E52E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23260"/>
            <a:ext cx="2000250" cy="482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B081B86-A1B4-4147-987B-6702C9A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0343"/>
            <a:ext cx="2000250" cy="482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BE49A3E-896F-4972-B522-2F0B682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49893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70C4ADC-79D6-4678-AE6A-D2C123C9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5752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FB8B0F5-440E-4069-B351-75A04492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2036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8B9BA3E-19D7-4AEC-AA12-FC5EE96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2799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DAAAA24-34C8-4A83-9D9B-D9A1DFC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908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FAD0573-0ACB-48D8-B5BB-0ADC3B95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984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90317A8-6F8E-4345-B78A-A6FB574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86131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C553B6F-4DAF-415B-A400-97C4904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6894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5C7A506-9C8B-4F14-B678-9B6B0E29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3178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C4C1424-473E-49DD-822B-A931EB7B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3941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EC7BA3B-44DF-4501-AEB3-8351595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704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03C4B04-EBD8-45A5-86DB-0E031EAE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09887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B0D7536-1370-4C64-9BFF-B7BEFE3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1752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3F86ABD-70E4-4B37-888A-234F3CC2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8036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66D958-CCB3-4ED7-876E-651D43F7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8799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FD54B67-AD04-44D0-96B4-793EABF1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5083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2EF53CC-F02C-4235-851C-639E849F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95846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975AD82-C12D-4D1B-972F-2570DA0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6097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59BFB28-ABA3-4C48-80DA-3F4B8EC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2257425" cy="1438275"/>
          </a:xfrm>
          <a:prstGeom xmlns:a="http://schemas.openxmlformats.org/drawingml/2006/main" prst="roundRect">
            <a:avLst>
              <a:gd name="adj" fmla="val 529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59F895E-AC42-4D65-9A5B-89B4F86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PFMS: 1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α-Al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+ YAG</a:t>
            </a:r>
          </a:p>
        </p:txBody>
      </p:sp>
    </p:spTree>
    <p:extLst>
      <p:ext uri="{BB962C8B-B14F-4D97-AF65-F5344CB8AC3E}">
        <p14:creationId xmlns:p14="http://schemas.microsoft.com/office/powerpoint/2010/main" val="20902448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3EAACFB5-2A31-457B-B199-B43B81B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259B928E-4FF0-423D-B026-ECCFE74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682C5C5-692F-421B-A4C0-1257221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Structure and performance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F188DE54-E153-4E9D-8536-DDC44C47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BCEC299-8A8E-4511-B5F8-2741C2311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531e7533341a2">
            <a:extLst>
              <a:ext uri="{96DAC541-7B7A-43D3-8B79-37D633B846F1}">
                <asvg:svgBlip xmlns:asvg="http://schemas.microsoft.com/office/drawing/2016/SVG/main" r:embed="R1cf9751a0a6144f6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6C2D4EAB-E489-4220-BA3C-3D6D310B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F1F090-39EB-4FBF-BC6E-47E532B8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2012, Figs. 4–7. Fig. 7: 1050 °C; text differs.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DC3269-6BA1-43AA-BC5C-9CEE483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526C31-ABF9-45EA-844A-2F5913C78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27e0c4c9f42e0"/>
          <a:stretch xmlns:a="http://schemas.openxmlformats.org/drawingml/2006/main"/>
        </p:blipFill>
        <p:spPr>
          <a:xfrm xmlns:a="http://schemas.openxmlformats.org/drawingml/2006/main">
            <a:off x="798419" y="1171575"/>
            <a:ext cx="5718362" cy="4286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4F4932-9209-4BE5-A637-00428839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62050"/>
            <a:ext cx="46672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49C7B0-0333-4EFE-B69F-E1E2B34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430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SEM + XRD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F2BD12-EF4C-40BD-B7A1-08E71713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Fine YAG in an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matrix.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C92163-AEE7-4570-AC9A-7AE4470F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AY1: lowest mass gain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CEEBFE-3F5F-4759-87AE-258A7C41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≈ 0.19 mg/cm</a:t>
            </a:r>
            <a:r>
              <a:rPr baseline="30000"/>
              <a:t>2</a:t>
            </a:r>
            <a:r>
              <a:rPr baseline="0"/>
              <a:t> at 200 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97B762-8B5A-49CE-A7B9-DD7C70F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24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AY3: lowest spallation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B34FA4-5F0A-4133-AF74-FD2D596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434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0.11 mg/cm</a:t>
            </a:r>
            <a:r>
              <a:rPr baseline="30000"/>
              <a:t>2</a:t>
            </a:r>
            <a:r>
              <a:rPr baseline="0"/>
              <a:t> at 200 h</a:t>
            </a:r>
          </a:p>
        </p:txBody>
      </p:sp>
    </p:spTree>
    <p:extLst>
      <p:ext uri="{BB962C8B-B14F-4D97-AF65-F5344CB8AC3E}">
        <p14:creationId xmlns:p14="http://schemas.microsoft.com/office/powerpoint/2010/main" val="13251231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47C2CE-D9A7-48E2-97C0-BF70BEDFA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6750" y="3724275"/>
            <a:ext cx="10858500" cy="1476375"/>
          </a:xfr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00">
                <a:ln>
                  <a:solidFill>
                    <a:sysClr val="windowText" lastClr="000000"/>
                  </a:solidFill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Coating and Adhesion</a:t>
            </a:r>
            <a:endParaRPr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8B75EB00-F68E-4026-801A-24FEB3BE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23235"/>
          </a:xfrm>
          <a:custGeom xmlns:a="http://schemas.openxmlformats.org/drawingml/2006/main">
            <a:gdLst>
              <a:gd name="connsiteX0" fmla="*/ 0 w 12192000"/>
              <a:gd name="connsiteY0" fmla="*/ 0 h 6142893"/>
              <a:gd name="connsiteX1" fmla="*/ 12192000 w 12192000"/>
              <a:gd name="connsiteY1" fmla="*/ 0 h 6142893"/>
              <a:gd name="connsiteX2" fmla="*/ 12192000 w 12192000"/>
              <a:gd name="connsiteY2" fmla="*/ 5472696 h 6142893"/>
              <a:gd name="connsiteX3" fmla="*/ 12089739 w 12192000"/>
              <a:gd name="connsiteY3" fmla="*/ 5497961 h 6142893"/>
              <a:gd name="connsiteX4" fmla="*/ 6096002 w 12192000"/>
              <a:gd name="connsiteY4" fmla="*/ 6142893 h 6142893"/>
              <a:gd name="connsiteX5" fmla="*/ 102263 w 12192000"/>
              <a:gd name="connsiteY5" fmla="*/ 5497961 h 6142893"/>
              <a:gd name="connsiteX6" fmla="*/ 0 w 12192000"/>
              <a:gd name="connsiteY6" fmla="*/ 5472695 h 6142893"/>
            </a:gdLst>
            <a:rect l="l" t="t" r="r" b="b"/>
            <a:pathLst>
              <a:path w="12192000" h="6142893">
                <a:moveTo>
                  <a:pt x="0" y="0"/>
                </a:moveTo>
                <a:lnTo>
                  <a:pt x="12192000" y="0"/>
                </a:lnTo>
                <a:lnTo>
                  <a:pt x="12192000" y="5472696"/>
                </a:lnTo>
                <a:lnTo>
                  <a:pt x="12089739" y="5497961"/>
                </a:lnTo>
                <a:cubicBezTo>
                  <a:pt x="10342060" y="5907219"/>
                  <a:pt x="8290444" y="6142893"/>
                  <a:pt x="6096002" y="6142893"/>
                </a:cubicBezTo>
                <a:cubicBezTo>
                  <a:pt x="3901558" y="6142893"/>
                  <a:pt x="1849942" y="5907219"/>
                  <a:pt x="102263" y="5497961"/>
                </a:cubicBezTo>
                <a:lnTo>
                  <a:pt x="0" y="54726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BC0284A-CDD8-4B74-AAAC-E234D646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9905" y="1601470"/>
            <a:ext cx="1014095" cy="8293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alpha val="0"/>
            </a:schemeClr>
          </a:solidFill>
          <a:ln xmlns:a="http://schemas.openxmlformats.org/drawingml/2006/main" w="88900">
            <a:solidFill>
              <a:schemeClr val="bg1"/>
            </a:solidFill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B5DD7FF-F686-4C7E-8887-4C65CDD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7065" y="1416685"/>
            <a:ext cx="73977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  <p:sp>
        <p:nvSpPr>
          <p:cNvPr id="12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E47A88C-6A47-4D70-A0F8-629004C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2220"/>
            <a:ext cx="12192000" cy="525780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09797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806294B1-4BA4-4943-AAC8-9BC61CE5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D7CAC0B5-2BE7-48F5-8CD6-6DCD86ED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0104FFA-07D5-458B-A4D7-E0D553D2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III · Proposed route: anchor, then seal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B2493C9B-CE3E-430E-A0CA-B0BF917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C97A994-15FE-42C7-9F03-40F8E857A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02f69e0b247ca">
            <a:extLst>
              <a:ext uri="{96DAC541-7B7A-43D3-8B79-37D633B846F1}">
                <asvg:svgBlip xmlns:asvg="http://schemas.microsoft.com/office/drawing/2016/SVG/main" r:embed="Rcd69003093254678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88E5F63D-B3C7-42A4-98C8-ED97E11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D375DF-2B9F-4FB5-948A-90B8DAA5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Proposed architecture; not to scale. Bonding and pore sealing require validation.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BCF465-6B60-4521-A5D1-10668CE8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F23D66-4B33-4CD1-86F9-06558007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3619500" cy="39147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0405D2-4A44-44C1-81E1-72649E64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Sol-assisted interface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DEF11B-E1B2-4F1A-90B9-51B27244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90600"/>
                </a:moveTo>
                <a:lnTo>
                  <a:pt x="285750" y="942975"/>
                </a:lnTo>
                <a:lnTo>
                  <a:pt x="523875" y="1038225"/>
                </a:lnTo>
                <a:lnTo>
                  <a:pt x="809625" y="895350"/>
                </a:lnTo>
                <a:lnTo>
                  <a:pt x="1076325" y="981075"/>
                </a:lnTo>
                <a:lnTo>
                  <a:pt x="1371600" y="933450"/>
                </a:lnTo>
                <a:lnTo>
                  <a:pt x="1638300" y="1066800"/>
                </a:lnTo>
                <a:lnTo>
                  <a:pt x="1971675" y="923925"/>
                </a:lnTo>
                <a:lnTo>
                  <a:pt x="2276475" y="1000125"/>
                </a:lnTo>
                <a:lnTo>
                  <a:pt x="2609850" y="923925"/>
                </a:lnTo>
                <a:lnTo>
                  <a:pt x="2952750" y="981075"/>
                </a:lnTo>
                <a:lnTo>
                  <a:pt x="2952750" y="1714500"/>
                </a:lnTo>
                <a:lnTo>
                  <a:pt x="0" y="1714500"/>
                </a:lnTo>
                <a:close/>
              </a:path>
            </a:pathLst>
          </a:cu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BF8577-34D7-4574-81D1-42792F3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33450"/>
                </a:moveTo>
                <a:lnTo>
                  <a:pt x="285750" y="885825"/>
                </a:lnTo>
                <a:lnTo>
                  <a:pt x="523875" y="981075"/>
                </a:lnTo>
                <a:lnTo>
                  <a:pt x="809625" y="838200"/>
                </a:lnTo>
                <a:lnTo>
                  <a:pt x="1076325" y="923925"/>
                </a:lnTo>
                <a:lnTo>
                  <a:pt x="1371600" y="876300"/>
                </a:lnTo>
                <a:lnTo>
                  <a:pt x="1638300" y="1009650"/>
                </a:lnTo>
                <a:lnTo>
                  <a:pt x="1971675" y="866775"/>
                </a:lnTo>
                <a:lnTo>
                  <a:pt x="2276475" y="942975"/>
                </a:lnTo>
                <a:lnTo>
                  <a:pt x="2609850" y="866775"/>
                </a:lnTo>
                <a:lnTo>
                  <a:pt x="2952750" y="923925"/>
                </a:lnTo>
                <a:lnTo>
                  <a:pt x="2952750" y="981075"/>
                </a:lnTo>
                <a:lnTo>
                  <a:pt x="2609850" y="923925"/>
                </a:lnTo>
                <a:lnTo>
                  <a:pt x="2276475" y="1000125"/>
                </a:lnTo>
                <a:lnTo>
                  <a:pt x="1971675" y="923925"/>
                </a:lnTo>
                <a:lnTo>
                  <a:pt x="1638300" y="1066800"/>
                </a:lnTo>
                <a:lnTo>
                  <a:pt x="1371600" y="933450"/>
                </a:lnTo>
                <a:lnTo>
                  <a:pt x="1076325" y="981075"/>
                </a:lnTo>
                <a:lnTo>
                  <a:pt x="809625" y="895350"/>
                </a:lnTo>
                <a:lnTo>
                  <a:pt x="523875" y="1038225"/>
                </a:lnTo>
                <a:lnTo>
                  <a:pt x="285750" y="942975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51618A-106B-4C0D-97D3-260503A4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828675"/>
                </a:moveTo>
                <a:lnTo>
                  <a:pt x="285750" y="781050"/>
                </a:lnTo>
                <a:lnTo>
                  <a:pt x="523875" y="876300"/>
                </a:lnTo>
                <a:lnTo>
                  <a:pt x="809625" y="733425"/>
                </a:lnTo>
                <a:lnTo>
                  <a:pt x="1076325" y="819150"/>
                </a:lnTo>
                <a:lnTo>
                  <a:pt x="1371600" y="771525"/>
                </a:lnTo>
                <a:lnTo>
                  <a:pt x="1638300" y="904875"/>
                </a:lnTo>
                <a:lnTo>
                  <a:pt x="1971675" y="762000"/>
                </a:lnTo>
                <a:lnTo>
                  <a:pt x="2276475" y="838200"/>
                </a:lnTo>
                <a:lnTo>
                  <a:pt x="2609850" y="762000"/>
                </a:lnTo>
                <a:lnTo>
                  <a:pt x="2952750" y="819150"/>
                </a:lnTo>
                <a:lnTo>
                  <a:pt x="2952750" y="923925"/>
                </a:lnTo>
                <a:lnTo>
                  <a:pt x="2609850" y="866775"/>
                </a:lnTo>
                <a:lnTo>
                  <a:pt x="2276475" y="942975"/>
                </a:lnTo>
                <a:lnTo>
                  <a:pt x="1971675" y="866775"/>
                </a:lnTo>
                <a:lnTo>
                  <a:pt x="1638300" y="1009650"/>
                </a:lnTo>
                <a:lnTo>
                  <a:pt x="1371600" y="876300"/>
                </a:lnTo>
                <a:lnTo>
                  <a:pt x="1076325" y="923925"/>
                </a:lnTo>
                <a:lnTo>
                  <a:pt x="809625" y="838200"/>
                </a:lnTo>
                <a:lnTo>
                  <a:pt x="523875" y="981075"/>
                </a:lnTo>
                <a:lnTo>
                  <a:pt x="285750" y="885825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3C0896-C444-470F-A9AA-CF03004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199AA7-7527-44F6-A535-7B484344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Thin oxide + sol-derived layer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2A8EBA-AB4C-4761-8E56-FB880704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142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C36499-563C-4F8D-BB4A-4EEAD9B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62050"/>
            <a:ext cx="3619500" cy="39147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C198D7-6B37-4D0E-B2EE-3F079B2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371600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2 ·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-rich network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C28519-E7AC-45ED-9F24-836C76EA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90600"/>
                </a:moveTo>
                <a:lnTo>
                  <a:pt x="285750" y="942975"/>
                </a:lnTo>
                <a:lnTo>
                  <a:pt x="523875" y="1038225"/>
                </a:lnTo>
                <a:lnTo>
                  <a:pt x="809625" y="895350"/>
                </a:lnTo>
                <a:lnTo>
                  <a:pt x="1076325" y="981075"/>
                </a:lnTo>
                <a:lnTo>
                  <a:pt x="1371600" y="933450"/>
                </a:lnTo>
                <a:lnTo>
                  <a:pt x="1638300" y="1066800"/>
                </a:lnTo>
                <a:lnTo>
                  <a:pt x="1971675" y="923925"/>
                </a:lnTo>
                <a:lnTo>
                  <a:pt x="2276475" y="1000125"/>
                </a:lnTo>
                <a:lnTo>
                  <a:pt x="2609850" y="923925"/>
                </a:lnTo>
                <a:lnTo>
                  <a:pt x="2952750" y="981075"/>
                </a:lnTo>
                <a:lnTo>
                  <a:pt x="2952750" y="1714500"/>
                </a:lnTo>
                <a:lnTo>
                  <a:pt x="0" y="1714500"/>
                </a:lnTo>
                <a:close/>
              </a:path>
            </a:pathLst>
          </a:cu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0C1FD6-D017-41E8-8D65-D7534042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33450"/>
                </a:moveTo>
                <a:lnTo>
                  <a:pt x="285750" y="885825"/>
                </a:lnTo>
                <a:lnTo>
                  <a:pt x="523875" y="981075"/>
                </a:lnTo>
                <a:lnTo>
                  <a:pt x="809625" y="838200"/>
                </a:lnTo>
                <a:lnTo>
                  <a:pt x="1076325" y="923925"/>
                </a:lnTo>
                <a:lnTo>
                  <a:pt x="1371600" y="876300"/>
                </a:lnTo>
                <a:lnTo>
                  <a:pt x="1638300" y="1009650"/>
                </a:lnTo>
                <a:lnTo>
                  <a:pt x="1971675" y="866775"/>
                </a:lnTo>
                <a:lnTo>
                  <a:pt x="2276475" y="942975"/>
                </a:lnTo>
                <a:lnTo>
                  <a:pt x="2609850" y="866775"/>
                </a:lnTo>
                <a:lnTo>
                  <a:pt x="2952750" y="923925"/>
                </a:lnTo>
                <a:lnTo>
                  <a:pt x="2952750" y="981075"/>
                </a:lnTo>
                <a:lnTo>
                  <a:pt x="2609850" y="923925"/>
                </a:lnTo>
                <a:lnTo>
                  <a:pt x="2276475" y="1000125"/>
                </a:lnTo>
                <a:lnTo>
                  <a:pt x="1971675" y="923925"/>
                </a:lnTo>
                <a:lnTo>
                  <a:pt x="1638300" y="1066800"/>
                </a:lnTo>
                <a:lnTo>
                  <a:pt x="1371600" y="933450"/>
                </a:lnTo>
                <a:lnTo>
                  <a:pt x="1076325" y="981075"/>
                </a:lnTo>
                <a:lnTo>
                  <a:pt x="809625" y="895350"/>
                </a:lnTo>
                <a:lnTo>
                  <a:pt x="523875" y="1038225"/>
                </a:lnTo>
                <a:lnTo>
                  <a:pt x="285750" y="942975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40D0B7-8B05-42C4-8DC6-2B8C8F75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828675"/>
                </a:moveTo>
                <a:lnTo>
                  <a:pt x="285750" y="781050"/>
                </a:lnTo>
                <a:lnTo>
                  <a:pt x="523875" y="876300"/>
                </a:lnTo>
                <a:lnTo>
                  <a:pt x="809625" y="733425"/>
                </a:lnTo>
                <a:lnTo>
                  <a:pt x="1076325" y="819150"/>
                </a:lnTo>
                <a:lnTo>
                  <a:pt x="1371600" y="771525"/>
                </a:lnTo>
                <a:lnTo>
                  <a:pt x="1638300" y="904875"/>
                </a:lnTo>
                <a:lnTo>
                  <a:pt x="1971675" y="762000"/>
                </a:lnTo>
                <a:lnTo>
                  <a:pt x="2276475" y="838200"/>
                </a:lnTo>
                <a:lnTo>
                  <a:pt x="2609850" y="762000"/>
                </a:lnTo>
                <a:lnTo>
                  <a:pt x="2952750" y="819150"/>
                </a:lnTo>
                <a:lnTo>
                  <a:pt x="2952750" y="923925"/>
                </a:lnTo>
                <a:lnTo>
                  <a:pt x="2609850" y="866775"/>
                </a:lnTo>
                <a:lnTo>
                  <a:pt x="2276475" y="942975"/>
                </a:lnTo>
                <a:lnTo>
                  <a:pt x="1971675" y="866775"/>
                </a:lnTo>
                <a:lnTo>
                  <a:pt x="1638300" y="1009650"/>
                </a:lnTo>
                <a:lnTo>
                  <a:pt x="1371600" y="876300"/>
                </a:lnTo>
                <a:lnTo>
                  <a:pt x="1076325" y="923925"/>
                </a:lnTo>
                <a:lnTo>
                  <a:pt x="809625" y="838200"/>
                </a:lnTo>
                <a:lnTo>
                  <a:pt x="523875" y="981075"/>
                </a:lnTo>
                <a:lnTo>
                  <a:pt x="285750" y="885825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4BD1ACE-77B2-47C8-B33A-7FB6A65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142875"/>
                </a:moveTo>
                <a:lnTo>
                  <a:pt x="2952750" y="142875"/>
                </a:lnTo>
                <a:lnTo>
                  <a:pt x="2952750" y="819150"/>
                </a:lnTo>
                <a:lnTo>
                  <a:pt x="2609850" y="762000"/>
                </a:lnTo>
                <a:lnTo>
                  <a:pt x="2276475" y="838200"/>
                </a:lnTo>
                <a:lnTo>
                  <a:pt x="1971675" y="762000"/>
                </a:lnTo>
                <a:lnTo>
                  <a:pt x="1638300" y="904875"/>
                </a:lnTo>
                <a:lnTo>
                  <a:pt x="1371600" y="771525"/>
                </a:lnTo>
                <a:lnTo>
                  <a:pt x="1076325" y="819150"/>
                </a:lnTo>
                <a:lnTo>
                  <a:pt x="809625" y="733425"/>
                </a:lnTo>
                <a:lnTo>
                  <a:pt x="523875" y="876300"/>
                </a:lnTo>
                <a:lnTo>
                  <a:pt x="285750" y="781050"/>
                </a:lnTo>
                <a:lnTo>
                  <a:pt x="0" y="828675"/>
                </a:lnTo>
                <a:close/>
              </a:path>
            </a:pathLst>
          </a:cu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FF95BB-AC30-460A-B3A8-31654A2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9C0B94-D8BB-42A5-9969-B91591D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146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7BD714-674A-45B8-B807-761EB814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1C9CAD-5497-43F5-90A2-DF5496FE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C89B2F-4D2D-4CEC-AFCB-AC415541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62610F-DB3C-4E34-B9D8-A6B1C1C2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D553E3-5F1E-468A-A0D5-99C67F1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742950" y="142875"/>
                </a:moveTo>
                <a:lnTo>
                  <a:pt x="895350" y="142875"/>
                </a:lnTo>
                <a:lnTo>
                  <a:pt x="885825" y="333375"/>
                </a:lnTo>
                <a:lnTo>
                  <a:pt x="981075" y="485775"/>
                </a:lnTo>
                <a:lnTo>
                  <a:pt x="923925" y="657225"/>
                </a:lnTo>
                <a:lnTo>
                  <a:pt x="819150" y="657225"/>
                </a:lnTo>
                <a:lnTo>
                  <a:pt x="866775" y="485775"/>
                </a:lnTo>
                <a:lnTo>
                  <a:pt x="762000" y="361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25340C-93C5-4477-9D87-E30AC63F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2105025" y="142875"/>
                </a:moveTo>
                <a:lnTo>
                  <a:pt x="2238375" y="142875"/>
                </a:lnTo>
                <a:lnTo>
                  <a:pt x="2209800" y="333375"/>
                </a:lnTo>
                <a:lnTo>
                  <a:pt x="2305050" y="476250"/>
                </a:lnTo>
                <a:lnTo>
                  <a:pt x="2247900" y="647700"/>
                </a:lnTo>
                <a:lnTo>
                  <a:pt x="2152650" y="647700"/>
                </a:lnTo>
                <a:lnTo>
                  <a:pt x="2181225" y="485775"/>
                </a:lnTo>
                <a:lnTo>
                  <a:pt x="2095500" y="352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E6CEEE7-2FE7-4EC2-B1FB-1506454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333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BC2C3D-1B11-41E7-8163-9B48DE19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337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41EA71-D5AD-4117-82BB-CFC592D9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957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Dispersed, preformed YAG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6217E1-B16C-46C7-AC8D-ECD884FD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142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617EB2-30E7-4100-A7CD-9046AA17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3619500" cy="39147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FB95CF-C073-4360-AB49-C2907C07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71600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Secondary sealing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6CF1A22-E0D4-4EF4-AD0A-E7AF328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90600"/>
                </a:moveTo>
                <a:lnTo>
                  <a:pt x="285750" y="942975"/>
                </a:lnTo>
                <a:lnTo>
                  <a:pt x="523875" y="1038225"/>
                </a:lnTo>
                <a:lnTo>
                  <a:pt x="809625" y="895350"/>
                </a:lnTo>
                <a:lnTo>
                  <a:pt x="1076325" y="981075"/>
                </a:lnTo>
                <a:lnTo>
                  <a:pt x="1371600" y="933450"/>
                </a:lnTo>
                <a:lnTo>
                  <a:pt x="1638300" y="1066800"/>
                </a:lnTo>
                <a:lnTo>
                  <a:pt x="1971675" y="923925"/>
                </a:lnTo>
                <a:lnTo>
                  <a:pt x="2276475" y="1000125"/>
                </a:lnTo>
                <a:lnTo>
                  <a:pt x="2609850" y="923925"/>
                </a:lnTo>
                <a:lnTo>
                  <a:pt x="2952750" y="981075"/>
                </a:lnTo>
                <a:lnTo>
                  <a:pt x="2952750" y="1714500"/>
                </a:lnTo>
                <a:lnTo>
                  <a:pt x="0" y="1714500"/>
                </a:lnTo>
                <a:close/>
              </a:path>
            </a:pathLst>
          </a:cu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D4DF863-E950-49FA-B6F0-C7D22B0E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33450"/>
                </a:moveTo>
                <a:lnTo>
                  <a:pt x="285750" y="885825"/>
                </a:lnTo>
                <a:lnTo>
                  <a:pt x="523875" y="981075"/>
                </a:lnTo>
                <a:lnTo>
                  <a:pt x="809625" y="838200"/>
                </a:lnTo>
                <a:lnTo>
                  <a:pt x="1076325" y="923925"/>
                </a:lnTo>
                <a:lnTo>
                  <a:pt x="1371600" y="876300"/>
                </a:lnTo>
                <a:lnTo>
                  <a:pt x="1638300" y="1009650"/>
                </a:lnTo>
                <a:lnTo>
                  <a:pt x="1971675" y="866775"/>
                </a:lnTo>
                <a:lnTo>
                  <a:pt x="2276475" y="942975"/>
                </a:lnTo>
                <a:lnTo>
                  <a:pt x="2609850" y="866775"/>
                </a:lnTo>
                <a:lnTo>
                  <a:pt x="2952750" y="923925"/>
                </a:lnTo>
                <a:lnTo>
                  <a:pt x="2952750" y="981075"/>
                </a:lnTo>
                <a:lnTo>
                  <a:pt x="2609850" y="923925"/>
                </a:lnTo>
                <a:lnTo>
                  <a:pt x="2276475" y="1000125"/>
                </a:lnTo>
                <a:lnTo>
                  <a:pt x="1971675" y="923925"/>
                </a:lnTo>
                <a:lnTo>
                  <a:pt x="1638300" y="1066800"/>
                </a:lnTo>
                <a:lnTo>
                  <a:pt x="1371600" y="933450"/>
                </a:lnTo>
                <a:lnTo>
                  <a:pt x="1076325" y="981075"/>
                </a:lnTo>
                <a:lnTo>
                  <a:pt x="809625" y="895350"/>
                </a:lnTo>
                <a:lnTo>
                  <a:pt x="523875" y="1038225"/>
                </a:lnTo>
                <a:lnTo>
                  <a:pt x="285750" y="942975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CFF5CA1-8EDD-4645-AD14-092E576B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828675"/>
                </a:moveTo>
                <a:lnTo>
                  <a:pt x="285750" y="781050"/>
                </a:lnTo>
                <a:lnTo>
                  <a:pt x="523875" y="876300"/>
                </a:lnTo>
                <a:lnTo>
                  <a:pt x="809625" y="733425"/>
                </a:lnTo>
                <a:lnTo>
                  <a:pt x="1076325" y="819150"/>
                </a:lnTo>
                <a:lnTo>
                  <a:pt x="1371600" y="771525"/>
                </a:lnTo>
                <a:lnTo>
                  <a:pt x="1638300" y="904875"/>
                </a:lnTo>
                <a:lnTo>
                  <a:pt x="1971675" y="762000"/>
                </a:lnTo>
                <a:lnTo>
                  <a:pt x="2276475" y="838200"/>
                </a:lnTo>
                <a:lnTo>
                  <a:pt x="2609850" y="762000"/>
                </a:lnTo>
                <a:lnTo>
                  <a:pt x="2952750" y="819150"/>
                </a:lnTo>
                <a:lnTo>
                  <a:pt x="2952750" y="923925"/>
                </a:lnTo>
                <a:lnTo>
                  <a:pt x="2609850" y="866775"/>
                </a:lnTo>
                <a:lnTo>
                  <a:pt x="2276475" y="942975"/>
                </a:lnTo>
                <a:lnTo>
                  <a:pt x="1971675" y="866775"/>
                </a:lnTo>
                <a:lnTo>
                  <a:pt x="1638300" y="1009650"/>
                </a:lnTo>
                <a:lnTo>
                  <a:pt x="1371600" y="876300"/>
                </a:lnTo>
                <a:lnTo>
                  <a:pt x="1076325" y="923925"/>
                </a:lnTo>
                <a:lnTo>
                  <a:pt x="809625" y="838200"/>
                </a:lnTo>
                <a:lnTo>
                  <a:pt x="523875" y="981075"/>
                </a:lnTo>
                <a:lnTo>
                  <a:pt x="285750" y="885825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8D31A88-146D-453D-A590-E7170D7C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142875"/>
                </a:moveTo>
                <a:lnTo>
                  <a:pt x="2952750" y="142875"/>
                </a:lnTo>
                <a:lnTo>
                  <a:pt x="2952750" y="819150"/>
                </a:lnTo>
                <a:lnTo>
                  <a:pt x="2609850" y="762000"/>
                </a:lnTo>
                <a:lnTo>
                  <a:pt x="2276475" y="838200"/>
                </a:lnTo>
                <a:lnTo>
                  <a:pt x="1971675" y="762000"/>
                </a:lnTo>
                <a:lnTo>
                  <a:pt x="1638300" y="904875"/>
                </a:lnTo>
                <a:lnTo>
                  <a:pt x="1371600" y="771525"/>
                </a:lnTo>
                <a:lnTo>
                  <a:pt x="1076325" y="819150"/>
                </a:lnTo>
                <a:lnTo>
                  <a:pt x="809625" y="733425"/>
                </a:lnTo>
                <a:lnTo>
                  <a:pt x="523875" y="876300"/>
                </a:lnTo>
                <a:lnTo>
                  <a:pt x="285750" y="781050"/>
                </a:lnTo>
                <a:lnTo>
                  <a:pt x="0" y="828675"/>
                </a:lnTo>
                <a:close/>
              </a:path>
            </a:pathLst>
          </a:cu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43AEEFC-F19A-46DC-83E5-A4C34975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384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ECA50CD-D833-49ED-892F-BF004C8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146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6B5E21-A6E5-4210-A43C-7EABA76E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E5966A-4C1F-4404-A073-8F4D727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5527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9BA0AC2-916C-4847-B6E2-96E0C4C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E4D41A-17E6-4E38-AA87-F351417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FA3670-32A9-4783-B906-B691521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742950" y="142875"/>
                </a:moveTo>
                <a:lnTo>
                  <a:pt x="895350" y="142875"/>
                </a:lnTo>
                <a:lnTo>
                  <a:pt x="885825" y="333375"/>
                </a:lnTo>
                <a:lnTo>
                  <a:pt x="981075" y="485775"/>
                </a:lnTo>
                <a:lnTo>
                  <a:pt x="923925" y="657225"/>
                </a:lnTo>
                <a:lnTo>
                  <a:pt x="819150" y="657225"/>
                </a:lnTo>
                <a:lnTo>
                  <a:pt x="866775" y="485775"/>
                </a:lnTo>
                <a:lnTo>
                  <a:pt x="762000" y="361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B4AED9D-AE75-43FB-9180-62B35F39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2105025" y="142875"/>
                </a:moveTo>
                <a:lnTo>
                  <a:pt x="2238375" y="142875"/>
                </a:lnTo>
                <a:lnTo>
                  <a:pt x="2209800" y="333375"/>
                </a:lnTo>
                <a:lnTo>
                  <a:pt x="2305050" y="476250"/>
                </a:lnTo>
                <a:lnTo>
                  <a:pt x="2247900" y="647700"/>
                </a:lnTo>
                <a:lnTo>
                  <a:pt x="2152650" y="647700"/>
                </a:lnTo>
                <a:lnTo>
                  <a:pt x="2181225" y="485775"/>
                </a:lnTo>
                <a:lnTo>
                  <a:pt x="2095500" y="352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7E5615-6B63-4A87-B7CB-AFA1BD24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86025"/>
            <a:ext cx="1333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BFA1EAE-CD48-427C-9B7E-15DC56F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09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770387-6AE0-43ED-A6A8-A8CCFC9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05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3032F1C-94E4-4512-BCFA-06B02E8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C825A4-E79E-4895-B3F5-F4E9D0B0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14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B1A2369-35D7-4946-92B4-BB1D29FB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428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7E65733-6DE7-4C8F-ACFD-74534C9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24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34013A6-906A-4066-A3B0-4E190BE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5D005C8-13E2-4710-A141-447F81D2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3E82C91-5754-4082-B241-1943A820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14525"/>
            <a:ext cx="180975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59C2386-D70E-4F5E-839D-E153DD1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14525"/>
            <a:ext cx="180975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EAD629-C158-4380-B5A6-16463EA6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337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51E1C1-E9A4-40EA-BD66-F6BD052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957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Nano-Al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in open pores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16AEBFA-C2F4-4557-8FB0-3C268E2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00650"/>
            <a:ext cx="113347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70924B-94CF-4E4A-AFC3-B76DCFE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BFB439B-4AE8-48C4-8405-F1976701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Metal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403DD82-8A46-40CF-B4F3-722B25AA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44F396E-4B32-45EA-8BAA-46AFF1E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Sol-derived 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1D5BD16-D31D-49F1-981F-156B605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9EBC187-D25A-4481-A4D2-E275177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340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baseline="0"/>
              <a:t>Al</a:t>
            </a:r>
            <a:r>
              <a:rPr baseline="-25000"/>
              <a:t>2</a:t>
            </a:r>
            <a:r>
              <a:rPr baseline="0"/>
              <a:t>O</a:t>
            </a:r>
            <a:r>
              <a:rPr baseline="-25000"/>
              <a:t>3</a:t>
            </a:r>
            <a:r>
              <a:rPr baseline="0"/>
              <a:t> network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45AE42-FDAB-4BDE-8E6F-B9A0B21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8672F30-EB3B-4EBA-9446-4D686C21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340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YAG</a:t>
            </a:r>
          </a:p>
        </p:txBody>
      </p:sp>
    </p:spTree>
    <p:extLst>
      <p:ext uri="{BB962C8B-B14F-4D97-AF65-F5344CB8AC3E}">
        <p14:creationId xmlns:p14="http://schemas.microsoft.com/office/powerpoint/2010/main" val="1088607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EE061635-A6BD-4577-B600-2BCACA34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FB271DC7-ED8F-4AB5-B01C-746F405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E4B15AC-310E-48F7-92C1-BA3F0A5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III · Key question: will the coating stay bonded?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00954461-9853-4670-9FF6-3F6FBDA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D85FC2F-680D-4587-B9A9-7914E8312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4d0522c1d4635">
            <a:extLst>
              <a:ext uri="{96DAC541-7B7A-43D3-8B79-37D633B846F1}">
                <asvg:svgBlip xmlns:asvg="http://schemas.microsoft.com/office/drawing/2016/SVG/main" r:embed="R43cb37f298704d38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050" y="270510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9E45BFA5-BE2F-4C55-9CC9-0CB479FF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9FB18DCF-05F4-41C1-9BF6-A5F4863CA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dbb052bbb4c26">
            <a:extLst>
              <a:ext uri="{96DAC541-7B7A-43D3-8B79-37D633B846F1}">
                <asvg:svgBlip xmlns:asvg="http://schemas.microsoft.com/office/drawing/2016/SVG/main" r:embed="R2494157434dc4c80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885" y="28257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815B4C-14BA-47B2-97CE-A74B249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1100 °C / 1 h bonding and 1250 °C / 100 h CMAS durability are unverified.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3662C4-51ED-4BC4-96E4-DFEE08C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FDE2E6-3F7D-4F8A-8FA7-C46CB237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419850" cy="3867150"/>
          </a:xfrm>
          <a:prstGeom xmlns:a="http://schemas.openxmlformats.org/drawingml/2006/main" prst="roundRect">
            <a:avLst>
              <a:gd name="adj" fmla="val 8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EEECDB-3CAA-4124-A0F3-1327EB5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62050"/>
            <a:ext cx="4676775" cy="3867150"/>
          </a:xfrm>
          <a:prstGeom xmlns:a="http://schemas.openxmlformats.org/drawingml/2006/main" prst="roundRect">
            <a:avLst>
              <a:gd name="adj" fmla="val 8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77C32F-0B27-461C-9833-2DA43AFE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430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Two possible failure paths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3B6FF9-FD00-4E1D-AF3D-6C3CE141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50958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5550E7-0BC2-46A7-B635-2E23D43F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38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E4D93A-1830-4C25-9ECD-65740A87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E50C5E-A5EC-4045-96EE-84537B2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43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DB8511-80D0-4EB7-9FF6-F95BAA66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84FF2D-D542-4761-A8D6-35E0DCE8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FD16B9-D1FA-4774-ADD5-AC25739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98BBE1-4CEE-4F10-B4FF-89035713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40EFD6-6343-46A9-A541-08DC344E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FCFC89-4EA9-41AE-99B2-78EC3FF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28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9AFB09-CE36-45EC-8536-C5A247D4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9A398F-1AA0-435D-A964-21E9836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57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B1B262-5895-4C81-9CA1-6077D2F8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E95315-4355-4CA5-9ADC-0B40A6CB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62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623B96-D27A-4E8A-BFC3-3D833E2C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00BFC2-8924-41F5-81D4-F2063EAF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7D1404-A65F-4BA2-AC1E-A7B32F2B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F106DE-2058-421A-8DD9-2F55036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75EBF5-C194-45AF-8E12-FB1F898A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B763E0-8EEF-4B9A-AF60-FDC790E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47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D475B46-E7C2-4E00-BED2-21FADF7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9675761-CD18-4F79-8176-D2990F6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76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0C67C6-5D04-4F9D-A60F-EC4E0DD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8DC0AB-B2F9-4833-8B81-FCFE665D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09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FA93B1-8828-441D-8E0F-74561723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DBD897-C21B-4A13-A958-5B4B1A3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509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3D49A0E-AF68-4161-A772-34C53E5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FC2231-836A-4EF0-BFE3-C7CF4AB6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4953000" cy="381000"/>
          </a:xfrm>
          <a:custGeom xmlns:a="http://schemas.openxmlformats.org/drawingml/2006/main">
            <a:pathLst>
              <a:path w="4953000" h="381000">
                <a:moveTo>
                  <a:pt x="0" y="200025"/>
                </a:moveTo>
                <a:lnTo>
                  <a:pt x="647700" y="114300"/>
                </a:lnTo>
                <a:lnTo>
                  <a:pt x="1047750" y="228600"/>
                </a:lnTo>
                <a:lnTo>
                  <a:pt x="1552575" y="142875"/>
                </a:lnTo>
                <a:lnTo>
                  <a:pt x="1990725" y="257175"/>
                </a:lnTo>
                <a:lnTo>
                  <a:pt x="2638425" y="114300"/>
                </a:lnTo>
                <a:lnTo>
                  <a:pt x="3152775" y="247650"/>
                </a:lnTo>
                <a:lnTo>
                  <a:pt x="3771900" y="133350"/>
                </a:lnTo>
                <a:lnTo>
                  <a:pt x="4352925" y="228600"/>
                </a:lnTo>
                <a:lnTo>
                  <a:pt x="48577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AA20B2D-4348-431F-8EFC-A0480810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86200"/>
            <a:ext cx="4953000" cy="142875"/>
          </a:xfrm>
          <a:custGeom xmlns:a="http://schemas.openxmlformats.org/drawingml/2006/main">
            <a:pathLst>
              <a:path w="4953000" h="142875">
                <a:moveTo>
                  <a:pt x="0" y="66675"/>
                </a:moveTo>
                <a:lnTo>
                  <a:pt x="952500" y="66675"/>
                </a:lnTo>
                <a:lnTo>
                  <a:pt x="1524000" y="85725"/>
                </a:lnTo>
                <a:lnTo>
                  <a:pt x="2476500" y="57150"/>
                </a:lnTo>
                <a:lnTo>
                  <a:pt x="3238500" y="95250"/>
                </a:lnTo>
                <a:lnTo>
                  <a:pt x="3905250" y="57150"/>
                </a:lnTo>
                <a:lnTo>
                  <a:pt x="48577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0625731-A170-4FB7-A9C9-978930F2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954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 · Adhesion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DC36A70-9B39-4ED8-90BE-CA154861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954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 · Cohesion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302CFA-B0D0-4A68-84A0-E0E00715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228B49-F4FD-4E51-BBE3-020D858C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860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98F5896-8B3E-46ED-A481-A92760CB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B4F238-48CE-4348-BB84-3DC1B09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43CCA6C-54E6-4341-AB29-7970E24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38475"/>
            <a:ext cx="352425" cy="19050"/>
          </a:xfrm>
          <a:custGeom xmlns:a="http://schemas.openxmlformats.org/drawingml/2006/main">
            <a:pathLst>
              <a:path w="352425" h="19050">
                <a:moveTo>
                  <a:pt x="0" y="9525"/>
                </a:moveTo>
                <a:lnTo>
                  <a:pt x="3524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1A6DDD-4A6C-40E1-945C-0D5F8CF0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52875"/>
            <a:ext cx="352425" cy="19050"/>
          </a:xfrm>
          <a:custGeom xmlns:a="http://schemas.openxmlformats.org/drawingml/2006/main">
            <a:pathLst>
              <a:path w="352425" h="19050">
                <a:moveTo>
                  <a:pt x="0" y="9525"/>
                </a:moveTo>
                <a:lnTo>
                  <a:pt x="3524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DAA0710-E9BF-4161-B1A9-31B742B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62075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1100 °C × 1 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766884-E10D-4D64-8C33-FD8A7CE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81175"/>
            <a:ext cx="4257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Bonding is not yet established.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B421DD-40D2-495F-81C9-37D7CB7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Screen without CMAS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075ADB-C773-4208-9B8A-CBEF673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90850"/>
            <a:ext cx="4257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1250 °C × 1 h + cross-section SEM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36AE520-F6AF-41AB-B5AF-5C3D888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57625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Measure the weak link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0668897-1B24-49FC-8F92-74E078F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76725"/>
            <a:ext cx="4257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Adhesion + crack location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0E782D-B7F1-4566-A138-CE6241CB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91125"/>
            <a:ext cx="1133475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EF49F43-8EFB-4192-A7F1-E45CFD9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First verify adhesion and cohesion. Then test long-term CMAS resistance.</a:t>
            </a:r>
          </a:p>
        </p:txBody>
      </p:sp>
    </p:spTree>
    <p:extLst>
      <p:ext uri="{BB962C8B-B14F-4D97-AF65-F5344CB8AC3E}">
        <p14:creationId xmlns:p14="http://schemas.microsoft.com/office/powerpoint/2010/main" val="1587357995"/>
      </p:ext>
    </p:extLst>
  </p:cSld>
</p:sld>
</file>

<file path=ppt/theme/theme1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2026-10-11T16:34:02.2480000Z</dcterms:created>
  <dcterms:modified xsi:type="dcterms:W3CDTF">2026-10-11T16:34:02.2480000Z</dcterms:modified>
</coreProperties>
</file>