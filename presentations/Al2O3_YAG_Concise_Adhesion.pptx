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9569ea485c4f30" /><Relationship Type="http://schemas.openxmlformats.org/officeDocument/2006/relationships/extended-properties" Target="/docProps/app.xml" Id="R4ed514f0b6794bfd" /><Relationship Type="http://schemas.openxmlformats.org/officeDocument/2006/relationships/officeDocument" Target="/ppt/presentation.xml" Id="R27972e3837c24a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e96ebfab7a4a69"/>
  </p:sldMasterIdLst>
  <p:notesMasterIdLst>
    <p:notesMasterId xmlns:r="http://schemas.openxmlformats.org/officeDocument/2006/relationships" r:id="R87b426512815497c"/>
  </p:notesMasterIdLst>
  <p:sldIdLst>
    <p:sldId xmlns:r="http://schemas.openxmlformats.org/officeDocument/2006/relationships" id="256" r:id="R440ff0e7e33b4e70"/>
    <p:sldId xmlns:r="http://schemas.openxmlformats.org/officeDocument/2006/relationships" id="257" r:id="R293ce2d5fbd04333"/>
    <p:sldId xmlns:r="http://schemas.openxmlformats.org/officeDocument/2006/relationships" id="258" r:id="R1ecb944a1f634757"/>
    <p:sldId xmlns:r="http://schemas.openxmlformats.org/officeDocument/2006/relationships" id="259" r:id="Rf1d712dac8d74c04"/>
    <p:sldId xmlns:r="http://schemas.openxmlformats.org/officeDocument/2006/relationships" id="260" r:id="R6c26b3f852184d2e"/>
    <p:sldId xmlns:r="http://schemas.openxmlformats.org/officeDocument/2006/relationships" id="261" r:id="Rd4514756db3a4535"/>
    <p:sldId xmlns:r="http://schemas.openxmlformats.org/officeDocument/2006/relationships" id="262" r:id="Rf06018dcbab5443c"/>
    <p:sldId xmlns:r="http://schemas.openxmlformats.org/officeDocument/2006/relationships" id="263" r:id="R41085f8040a84335"/>
    <p:sldId xmlns:r="http://schemas.openxmlformats.org/officeDocument/2006/relationships" id="264" r:id="Rfcba9203e0a340e3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db7fc16ce84236" /><Relationship Type="http://schemas.openxmlformats.org/officeDocument/2006/relationships/slideMaster" Target="/ppt/slideMasters/slideMaster1.xml" Id="Rd6e96ebfab7a4a69" /><Relationship Type="http://schemas.openxmlformats.org/officeDocument/2006/relationships/notesMaster" Target="/ppt/notesMasters/notesMaster1.xml" Id="R87b426512815497c" /><Relationship Type="http://schemas.openxmlformats.org/officeDocument/2006/relationships/presProps" Target="/ppt/presProps.xml" Id="Ra74bd1c0b16e4706" /><Relationship Type="http://schemas.openxmlformats.org/officeDocument/2006/relationships/viewProps" Target="/ppt/viewProps.xml" Id="R80cf83563fbc46e2" /><Relationship Type="http://schemas.openxmlformats.org/officeDocument/2006/relationships/tableStyles" Target="/ppt/tableStyles.xml" Id="R18df471ff6c4440a" /><Relationship Type="http://schemas.openxmlformats.org/officeDocument/2006/relationships/slide" Target="/ppt/slides/slide1.xml" Id="R440ff0e7e33b4e70" /><Relationship Type="http://schemas.openxmlformats.org/officeDocument/2006/relationships/slide" Target="/ppt/slides/slide2.xml" Id="R293ce2d5fbd04333" /><Relationship Type="http://schemas.openxmlformats.org/officeDocument/2006/relationships/slide" Target="/ppt/slides/slide3.xml" Id="R1ecb944a1f634757" /><Relationship Type="http://schemas.openxmlformats.org/officeDocument/2006/relationships/slide" Target="/ppt/slides/slide4.xml" Id="Rf1d712dac8d74c04" /><Relationship Type="http://schemas.openxmlformats.org/officeDocument/2006/relationships/slide" Target="/ppt/slides/slide5.xml" Id="R6c26b3f852184d2e" /><Relationship Type="http://schemas.openxmlformats.org/officeDocument/2006/relationships/slide" Target="/ppt/slides/slide6.xml" Id="Rd4514756db3a4535" /><Relationship Type="http://schemas.openxmlformats.org/officeDocument/2006/relationships/slide" Target="/ppt/slides/slide7.xml" Id="Rf06018dcbab5443c" /><Relationship Type="http://schemas.openxmlformats.org/officeDocument/2006/relationships/slide" Target="/ppt/slides/slide8.xml" Id="R41085f8040a84335" /><Relationship Type="http://schemas.openxmlformats.org/officeDocument/2006/relationships/slide" Target="/ppt/slides/slide9.xml" Id="Rfcba9203e0a340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840965814c4b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">
  <a:themeElements>
    <a:clrScheme name="黄色">
      <a:dk1>
        <a:srgbClr val="000000"/>
      </a:dk1>
      <a:lt1>
        <a:srgbClr val="FFFFFF"/>
      </a:lt1>
      <a:dk2>
        <a:srgbClr val="39302A"/>
      </a:dk2>
      <a:lt2>
        <a:srgbClr val="E5DEDB"/>
      </a:lt2>
      <a:accent1>
        <a:srgbClr val="0E335B"/>
      </a:accent1>
      <a:accent2>
        <a:srgbClr val="F2DE6C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1940a74d-57a2-469d-a31b-79088e81dbeb">
      <a:majorFont>
        <a:latin typeface="Times New Roman "/>
        <a:ea typeface="Times New Roman "/>
        <a:cs typeface=""/>
      </a:majorFont>
      <a:minorFont>
        <a:latin typeface="Times New Roman "/>
        <a:ea typeface="Times New Roman "/>
        <a:cs typeface=""/>
      </a:minorFont>
    </a:fontScheme>
    <a:fmtScheme name="黄色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addcc74347496a" /><Relationship Type="http://schemas.openxmlformats.org/officeDocument/2006/relationships/notesMaster" Target="/ppt/notesMasters/notesMaster1.xml" Id="R9266bc07584a41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d4b8eca0b54d83" /><Relationship Type="http://schemas.openxmlformats.org/officeDocument/2006/relationships/notesMaster" Target="/ppt/notesMasters/notesMaster1.xml" Id="R8ff4aee7ec6b4f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803ae30ad341c4" /><Relationship Type="http://schemas.openxmlformats.org/officeDocument/2006/relationships/notesMaster" Target="/ppt/notesMasters/notesMaster1.xml" Id="R07e006e9e20e4d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e65944cc3f4875" /><Relationship Type="http://schemas.openxmlformats.org/officeDocument/2006/relationships/notesMaster" Target="/ppt/notesMasters/notesMaster1.xml" Id="R06b543c2d3ed45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3ae8b4c5d64345" /><Relationship Type="http://schemas.openxmlformats.org/officeDocument/2006/relationships/notesMaster" Target="/ppt/notesMasters/notesMaster1.xml" Id="Rd1bb2d93b7a04b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9e2393137548a1" /><Relationship Type="http://schemas.openxmlformats.org/officeDocument/2006/relationships/notesMaster" Target="/ppt/notesMasters/notesMaster1.xml" Id="R76b97b91ec224bd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0ec7c57e274d97" /><Relationship Type="http://schemas.openxmlformats.org/officeDocument/2006/relationships/notesMaster" Target="/ppt/notesMasters/notesMaster1.xml" Id="R54389cfd4e1746d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9d97b67b3f416d" /><Relationship Type="http://schemas.openxmlformats.org/officeDocument/2006/relationships/notesMaster" Target="/ppt/notesMasters/notesMaster1.xml" Id="R3657352159bc48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60ce2f39f2943f9" /><Relationship Type="http://schemas.openxmlformats.org/officeDocument/2006/relationships/notesMaster" Target="/ppt/notesMasters/notesMaster1.xml" Id="R5aeab80158a14b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Three-part review for the group meeting. Part I: Paper 1 on a GH864 superalloy with an Al2O3–YAG interlayer and YSZ top layer. Part II: Paper 2 on bulk NiCoCrAlY. Part III: a proposed externally prepared YAG/Al2O3 coating on CoNiCrAlY, using sol-assisted interface anchoring and secondary nano-Al2O3 pore sealing. The proposal is not an experimentally validated outcome.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Ren, He &amp; Wang. Cyclic oxidation behavior and thermal barrier effect of YSZ–(Al2O3/YAG) double-layer TBCs prepared by the composite sol–gel method. Surface &amp; Coatings Technology 206 (2011), 1461–1468. DOI: 10.1016/j.surfcoat.2011.09.025.</a:t>
            </a:r>
          </a:p>
          <a:p xmlns:a="http://schemas.openxmlformats.org/drawingml/2006/main">
            <a:r>
              <a:t>Ren, He &amp; Wang. High-temperature cyclic oxidation behavior of Al2O3–YAG composite coating prepared by EPD and microwave sintering. Applied Surface Science 258 (2012), 5739–5745. DOI: 10.1016/j.apsusc.2012.02.081.</a:t>
            </a:r>
          </a:p>
          <a:p xmlns:a="http://schemas.openxmlformats.org/drawingml/2006/main">
            <a:r>
              <a:t>Figures are excerpts supplied by the user for this internal academic presentation; schematics are original explanatory drawings, not to scale.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Ren, He &amp; Wang. Cyclic oxidation behavior and thermal barrier effect of YSZ–(Al2O3/YAG) double-layer TBCs prepared by the composite sol–gel method. Surface &amp; Coatings Technology 206 (2011), 1461–1468. DOI: 10.1016/j.surfcoat.2011.09.025.</a:t>
            </a:r>
          </a:p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An alumina–YAG composite interlayer was externally deposited on GH864 superalloy; YSZ was blade-coated on top. This double-layer TBC was tested for cyclic oxidation and thermal insulation. GH864 is not CoNiCrAlY. Original explanatory schematic; colors distinguish layers rather than compositions quantitatively.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Ren, He &amp; Wang. Cyclic oxidation behavior and thermal barrier effect of YSZ–(Al2O3/YAG) double-layer TBCs prepared by the composite sol–gel method. Surface &amp; Coatings Technology 206 (2011), 1461–1468. DOI: 10.1016/j.surfcoat.2011.09.025.</a:t>
            </a:r>
          </a:p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800-grit SiC polishing and acetone cleaning of GH864. Seeded boehmite sol contains 1 wt.% alpha-Al2O3 seeds and Y nitrate. EPD: 30 mA/cm² for 6 min. Room-temperature drying: 24 h, then interlayer microwave sintering. The YSZ slurry is blade-coated and dried; final PFMS schedule is 960 °C for 2 h. The intermediate interlayer heat-treatment schedule is not separately assigned a temperature on this slide. Y/Al ratios are in the full paper. Native drawings simplify the process without implying a measured thickness.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Ren, He &amp; Wang. Cyclic oxidation behavior and thermal barrier effect of YSZ–(Al2O3/YAG) double-layer TBCs prepared by the composite sol–gel method. Surface &amp; Coatings Technology 206 (2011), 1461–1468. DOI: 10.1016/j.surfcoat.2011.09.025.</a:t>
            </a:r>
          </a:p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SEM figure 2 shown here is AY1, not the best-performing AY3 specimen. Panels a/b show interlayer surface/section; c/d show the YSZ double layer surface/section. Original labels and scale bars are retained. SEM indicates an identifiable continuous interlayer beneath YSZ; it does not measure bond strength. At 1000 °C and 200 h (10 h hot / 20 min air cooling), AY3+YSZ mass gain is 1.035 mg/cm² vs 2.231 for YSZ and 3.996 for blank; AY3 also has the lowest spallation among double layers. Thermal drop at furnace 1000 °C, N2 8 L/min and 150 µm total coating thickness is 205 °C for dual vs 156 °C for YSZ. These SEM, cyclic oxidation and thermal tests are different specimen conditions; no assertion that AY1 SEM establishes AY3 strength. Delta T is T1 minus T2 as used in results; the source methods have reversed sign.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Ren, He &amp; Wang. High-temperature cyclic oxidation behavior of Al2O3–YAG composite coating prepared by EPD and microwave sintering. Applied Surface Science 258 (2012), 5739–5745. DOI: 10.1016/j.apsusc.2012.02.081.</a:t>
            </a:r>
            <a:endParaRPr/>
          </a:p>
          <a:p xmlns:a="http://schemas.openxmlformats.org/drawingml/2006/main">
            <a:r>
              <a:t>The authors deposited a seeded alumina–YAG precursor by EPD directly on polished bulk NiCoCrAlY, then used microwave sintering. They studied cyclic oxidation mass gain and spallation. The alloy is Ni39.5Co32Cr20Al8Y0.5 wt.%. This is not identical to a sprayed CoNiCrAlY bond coat. The drawing represents a ceramic coating externally supplied by deposition rather than a substrate-grown TGO. Both phases crystallize during heat treatment in the source process.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Ren, He &amp; Wang. High-temperature cyclic oxidation behavior of Al2O3–YAG composite coating prepared by EPD and microwave sintering. Applied Surface Science 258 (2012), 5739–5745. DOI: 10.1016/j.apsusc.2012.02.081.</a:t>
            </a:r>
          </a:p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Prepare bulk NiCoCrAlY with 1000-grit grinding and acetone cleaning. Seeded boehmite sol with 1 wt.% alpha-alumina and Y nitrate; Y/Al 0.05, 0.10, 0.20. PEG 0.2 wt.%. Graphite anodes, 10 mm gap. Representative deposition 3 mA/cm² for 8 min. Figure 3 shows a smooth dense surface at 6–8 min and cracking/local spallation at 10 min, so EPD time is a control variable rather than a calibrated thickness. PFMS 1 h forms alpha-Al2O3 and YAG. Source does not explicitly state PFMS temperature; do not import 960 °C from Paper 1. Microscale drawings do not establish real pore dimensions.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Ren, He &amp; Wang. High-temperature cyclic oxidation behavior of Al2O3–YAG composite coating prepared by EPD and microwave sintering. Applied Surface Science 258 (2012), 5739–5745. DOI: 10.1016/j.apsusc.2012.02.081.</a:t>
            </a:r>
          </a:p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Figure 4a/b are coating sections after 10 min and 1 h PFMS, c/d surfaces after 1 h; EDS panels omitted. Authors identify fine YAG in alumina; phase assignment also supported by XRD Fig.5. Section continuity supports qualitative adherence; no quantitative bond strength is reported. Figure 7 at 200 h shows AY1 lowest mass gain ~0.19 mg/cm² and AY3 lowest spallation ~0.11 mg/cm². Blank mass gain 1.29 and spallation .94; alumina-only .99 and .57. Different Y/Al compositions optimize these separate responses. The prose assigns .19 to AY3 in error; curve labels and kp table support AY1. Methods/Fig7/Table1 state1050 °C, while abstract/conclusion/Fig8 state1000 °C; unresolved source inconsistency retained in footer. Do not assign these quantitative curves to the shown microscopy specimen indiscriminately.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This is a proposed ex situ route for CoNiCrAlY, not a reported result. A thin, adherent surface oxide and an alumina-sol-derived interface are intended to connect the substrate to an alumina-rich continuous ceramic network containing dispersed preformed YAG particles. The irregular metal boundary remains connected; it is not a layer of detached rectangular metal particles. Gray is metal, a darker thin band is surface oxide, medium blue is sol/sol-derived alumina, pale blue is the desired alumina-rich network, gold is YAG, white is void, and dark-blue small dots are secondary nano-alumina. The desired continuity of the network is a design target, not proof of sintering. Secondary nano-Al2O3 is drawn entering channels open to the surface; closed pores and residual lower voids remain. It cannot be assumed to fill closed pores or to penetrate below its accessible size range. The diagram is not a measured thickness or microstructure. Surface oxide adherence, precursor shrinkage, phase conversion, thermal mismatch, particle neck formation and deposition thickness all require measurement. 1100 °C for1h is only a proposed conventional-furnace baseline; it does not establish strong bonding or equivalence to pressure-filtration microwave sintering.</a:t>
            </a:r>
          </a:p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/>
            </a:r>
          </a:p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Ren, He &amp; Wang. Cyclic oxidation behavior and thermal barrier effect of YSZ–(Al2O3/YAG) double-layer TBCs prepared by the composite sol–gel method. Surface &amp; Coatings Technology 206 (2011), 1461–1468. DOI: 10.1016/j.surfcoat.2011.09.025.</a:t>
            </a:r>
          </a:p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Ren, He &amp; Wang. High-temperature cyclic oxidation behavior of Al2O3–YAG composite coating prepared by EPD and microwave sintering. Applied Surface Science 258 (2012), 5739–5745. DOI: 10.1016/j.apsusc.2012.02.081.</a:t>
            </a:r>
            <a:endParaRPr sz="1200" b="0" kern="1200"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Critical question based on the user's revised research proposal. Two stress-transfer links must be distinguished: adhesion of the coating/oxide system to CoNiCrAlY and cohesion within the sol-derived alumina/particle network. The red schematic paths are hypothetical failure locations, not observed cracks. A TGO or native oxide cannot automatically be assumed pure alpha-Al2O3, thin, or adherent; oxide chemistry and location must be characterized. Low-temperature sol tack does not establish fired bond strength. Conventional furnace treatment at1100°C for1h may be insufficient for robust necking of preformed YAG/Al2O3 particles; actual behavior depends on powder size, sol fraction, phase evolution and schedule. Thermal mismatch and shrinkage add stress. Ren et al.2012 report morphological adherence and improved spallation with seeded-sol EPD plus PFMS on bulk NiCoCrAlY, not a quantified adhesion strength or validation of drop coating + ordinary furnace on CoNiCrAlY. The source has conflicting1000/1050°C test temperatures and no1250°C CMAS evidence. The unspecific2018 paper in the pasted material has not been verified and is not cited. Proposed minimum comparison: A powder layer; B add a sol-derived interface; C additionally increase the alumina-derived connecting phase. Keep thickness and heat treatment comparable. First screen powdering/cracks after drying and heat treatment; then1250°C for1h without CMAS and cross-sectional SEM to locate damage, with a suitable quantitative adhesion test and failure-mode inspection. Scratch critical load alone is not an intrinsic interface strength. Only then assess prolonged CMAS durability up to100h and secondary sealing.</a:t>
            </a:r>
          </a:p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/>
            </a:r>
          </a:p>
          <a:p xmlns:a="http://schemas.openxmlformats.org/drawingml/2006/main">
            <a:r>
              <a:rPr sz="1200" b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Ren, He &amp; Wang. High-temperature cyclic oxidation behavior of Al2O3–YAG composite coating prepared by EPD and microwave sintering. Applied Surface Science 258 (2012), 5739–5745. DOI: 10.1016/j.apsusc.2012.02.081.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a6deb794e5413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faf8c5f58b4cf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a18b916f3f4c7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f2b70cb754461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e091564e7948c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c7ff03d1844d5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9c4f2fdd294a4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e96c74c0f3419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cbdb14e0eb4d6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9d5b6b00f24ec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538dff9f8a433b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901934E-BC7C-4CF1-A547-BC9F0540661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81F52893-3DD2-4784-BFFF-E8989FE320A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7408BD0-D737-4024-93C1-8B00B3713D9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97B5FA-0921-464F-AAE1-844C04324D75}" type="datetimeFigureOut">
              <a:t>2026/10/5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A547AA2-09FF-4F46-BD4E-504540B14B4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585A4EB-D1D2-42E8-A3EB-A249FEF3D8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5CE74E-AB26-4998-AD42-012C4C1AD076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A268D6E-EABD-4EB9-A8C5-9E9BE79502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BAD5F17-3ED4-4CA2-AAAC-CEA2F87FD03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6A33156-8ECD-4F36-AFD9-767844C4369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97B5FA-0921-464F-AAE1-844C04324D75}" type="datetimeFigureOut">
              <a:t>2026/10/5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BBCAE49-F70D-4A1D-B8A2-65B482BFF0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5A9585A-4D90-4F94-B579-760E8CF7FF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5CE74E-AB26-4998-AD42-012C4C1AD076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AA034E2-C9A7-439C-AA6C-0330461A83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8526805-26FD-498E-95D6-240168F509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6EAFFF-1811-4D20-85B3-4BDC8A26EDA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97B5FA-0921-464F-AAE1-844C04324D75}" type="datetimeFigureOut">
              <a:t>2026/10/5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E4D6C90-363E-4334-A1E5-E973A24C31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4A03906-A428-43A3-8BCD-2CB05FB2CC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5CE74E-AB26-4998-AD42-012C4C1AD076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E45F95D-DF95-47DD-91C0-F4D43BAFCF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616E5B34-6F7A-4874-8E69-9CF1E9E8E12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3CADA00-0AAC-4CAB-A11A-DB079A5E1F3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E2911169-3DB7-4DE2-8978-D60B386222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97B5FA-0921-464F-AAE1-844C04324D75}" type="datetimeFigureOut">
              <a:t>2026/10/5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C446099-7ACE-4257-8FE7-A293F69A4D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CAAE27A-AB7A-41D0-B4BF-DA4C325509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5CE74E-AB26-4998-AD42-012C4C1AD076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80B9AA2-4460-40CA-96EC-6FF5CD8E09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FA9A655-66CA-42D9-8162-BF79D9A301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B8405308-718A-4F2E-8ABC-B167447A473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30DC7BAC-B021-4C3B-A207-D94093CC96D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1DF7D1D4-D551-4347-A4F5-1FC2E64EED5F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27E984D4-7845-41F0-9FEA-EB46DDB42C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97B5FA-0921-464F-AAE1-844C04324D75}" type="datetimeFigureOut">
              <a:t>2026/10/5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D578913E-F033-466A-806F-FF612E9539F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B061FDC5-0B05-42A2-AA65-246DE43D43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5CE74E-AB26-4998-AD42-012C4C1AD07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014D23C-47BF-4794-AD5E-AF1512FC3E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1C6F0803-2DE5-4BDA-A6E3-6667535A76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97B5FA-0921-464F-AAE1-844C04324D75}" type="datetimeFigureOut">
              <a:t>2026/10/5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00AD57B5-617C-46E7-AB57-F8FB1C6A73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63593BBC-8B4E-4B3C-92EA-B3677ADDE70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5CE74E-AB26-4998-AD42-012C4C1AD07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E42BE322-14C1-4036-9E7F-36D3469A660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97B5FA-0921-464F-AAE1-844C04324D75}" type="datetimeFigureOut">
              <a:t>2026/10/5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5279AE5F-29AD-4066-8811-D36039D719A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58E3999A-E123-455C-8EDB-41ED64C18F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5CE74E-AB26-4998-AD42-012C4C1AD07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F53B88F-F895-470E-83CF-1B46E568CF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A4D4E37A-5A84-4E1F-BC51-1E206737AF8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28E7BB92-5507-4A88-924A-59732757077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72018E10-BE13-4DAE-86F2-FC0C749CA99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97B5FA-0921-464F-AAE1-844C04324D75}" type="datetimeFigureOut">
              <a:t>2026/10/5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5116639-F29D-4D35-9A87-EED6E449F8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131C216-5CAD-439D-8160-AAECD235B6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5CE74E-AB26-4998-AD42-012C4C1AD07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CD505B6-04B2-46C7-9362-30511F932F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3634C204-2EC6-410F-98B8-60D71F81287D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34D8E574-A956-4659-9CDA-1BEE2776D3F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BFD3991-BA75-46EA-B20F-BD51AAFF56A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97B5FA-0921-464F-AAE1-844C04324D75}" type="datetimeFigureOut">
              <a:t>2026/10/5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1253AA8-FCF6-4733-9773-DE8F3DD15A7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A0545457-C3A7-4823-82D9-2CB221CA8E6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5CE74E-AB26-4998-AD42-012C4C1AD07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F6E24B8-A022-48FB-A964-F2709D056A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2C9E53E-7E59-48AD-8A48-CE31017CE0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2B276CD-97D2-4937-803D-D3A47360832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97B5FA-0921-464F-AAE1-844C04324D75}" type="datetimeFigureOut">
              <a:t>2026/10/5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C1C19A0-17E5-4F3A-AAEA-099855C9CE0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8059D3E-7B00-422A-B502-AA54BB31EE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5CE74E-AB26-4998-AD42-012C4C1AD07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51B80AF7-322E-4F29-95B7-239779F501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D9D9DE2-ECF0-45E6-A8AA-4C0F554ED0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80A6510-A410-4ADE-899A-C247685B531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97B5FA-0921-464F-AAE1-844C04324D75}" type="datetimeFigureOut">
              <a:t>2026/10/5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BBB0B53-D002-43D0-AAC0-4FDE9F2209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E3D7BFF-B310-40DC-9413-7BE79790EA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65CE74E-AB26-4998-AD42-012C4C1AD076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9c7cff933347f0" /><Relationship Type="http://schemas.openxmlformats.org/officeDocument/2006/relationships/slideLayout" Target="/ppt/slideLayouts/slideLayout1.xml" Id="Rf7c4dd4aa0de4097" /><Relationship Type="http://schemas.openxmlformats.org/officeDocument/2006/relationships/slideLayout" Target="/ppt/slideLayouts/slideLayout2.xml" Id="R74c8f92edf324caa" /><Relationship Type="http://schemas.openxmlformats.org/officeDocument/2006/relationships/slideLayout" Target="/ppt/slideLayouts/slideLayout3.xml" Id="Rdca2e8b1368f46b6" /><Relationship Type="http://schemas.openxmlformats.org/officeDocument/2006/relationships/slideLayout" Target="/ppt/slideLayouts/slideLayout4.xml" Id="Re73a58f1639a41dc" /><Relationship Type="http://schemas.openxmlformats.org/officeDocument/2006/relationships/slideLayout" Target="/ppt/slideLayouts/slideLayout5.xml" Id="R26c35ef184644cb6" /><Relationship Type="http://schemas.openxmlformats.org/officeDocument/2006/relationships/slideLayout" Target="/ppt/slideLayouts/slideLayout6.xml" Id="R7666ed8ca7fe4ff9" /><Relationship Type="http://schemas.openxmlformats.org/officeDocument/2006/relationships/slideLayout" Target="/ppt/slideLayouts/slideLayout7.xml" Id="R50afa9484d87481f" /><Relationship Type="http://schemas.openxmlformats.org/officeDocument/2006/relationships/slideLayout" Target="/ppt/slideLayouts/slideLayout8.xml" Id="R2614dcb5b8f04846" /><Relationship Type="http://schemas.openxmlformats.org/officeDocument/2006/relationships/slideLayout" Target="/ppt/slideLayouts/slideLayout9.xml" Id="Rde63fea1515842d7" /><Relationship Type="http://schemas.openxmlformats.org/officeDocument/2006/relationships/slideLayout" Target="/ppt/slideLayouts/slideLayout10.xml" Id="R7f8b931b3e72447b" /><Relationship Type="http://schemas.openxmlformats.org/officeDocument/2006/relationships/slideLayout" Target="/ppt/slideLayouts/slideLayout11.xml" Id="Rb48c2fc8f0a6485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BBF7AF0-9674-4E63-AE8B-E6FBC9D309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5E3D0EF-4D16-4AE1-89CA-65355AEA3B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E27EC78-60A2-4844-8F16-1807DC33536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D997B5FA-0921-464F-AAE1-844C04324D75}" type="datetimeFigureOut">
              <a:t>2026/10/5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1E6EA8-4721-403C-9E4B-E1C9768000B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89941E3-E4DA-4C53-BBAF-76896DDA026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65CE74E-AB26-4998-AD42-012C4C1AD07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c4dd4aa0de4097"/>
    <p:sldLayoutId xmlns:r="http://schemas.openxmlformats.org/officeDocument/2006/relationships" id="2147483650" r:id="R74c8f92edf324caa"/>
    <p:sldLayoutId xmlns:r="http://schemas.openxmlformats.org/officeDocument/2006/relationships" id="2147483651" r:id="Rdca2e8b1368f46b6"/>
    <p:sldLayoutId xmlns:r="http://schemas.openxmlformats.org/officeDocument/2006/relationships" id="2147483652" r:id="Re73a58f1639a41dc"/>
    <p:sldLayoutId xmlns:r="http://schemas.openxmlformats.org/officeDocument/2006/relationships" id="2147483653" r:id="R26c35ef184644cb6"/>
    <p:sldLayoutId xmlns:r="http://schemas.openxmlformats.org/officeDocument/2006/relationships" id="2147483654" r:id="R7666ed8ca7fe4ff9"/>
    <p:sldLayoutId xmlns:r="http://schemas.openxmlformats.org/officeDocument/2006/relationships" id="2147483655" r:id="R50afa9484d87481f"/>
    <p:sldLayoutId xmlns:r="http://schemas.openxmlformats.org/officeDocument/2006/relationships" id="2147483656" r:id="R2614dcb5b8f04846"/>
    <p:sldLayoutId xmlns:r="http://schemas.openxmlformats.org/officeDocument/2006/relationships" id="2147483657" r:id="Rde63fea1515842d7"/>
    <p:sldLayoutId xmlns:r="http://schemas.openxmlformats.org/officeDocument/2006/relationships" id="2147483658" r:id="R7f8b931b3e72447b"/>
    <p:sldLayoutId xmlns:r="http://schemas.openxmlformats.org/officeDocument/2006/relationships" id="2147483659" r:id="Rb48c2fc8f0a6485c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">
  <a:themeElements>
    <a:clrScheme name="黄色">
      <a:dk1>
        <a:srgbClr val="000000"/>
      </a:dk1>
      <a:lt1>
        <a:srgbClr val="FFFFFF"/>
      </a:lt1>
      <a:dk2>
        <a:srgbClr val="39302A"/>
      </a:dk2>
      <a:lt2>
        <a:srgbClr val="E5DEDB"/>
      </a:lt2>
      <a:accent1>
        <a:srgbClr val="0E335B"/>
      </a:accent1>
      <a:accent2>
        <a:srgbClr val="F2DE6C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1940a74d-57a2-469d-a31b-79088e81dbeb">
      <a:majorFont>
        <a:latin typeface="Times New Roman "/>
        <a:ea typeface="Times New Roman "/>
        <a:cs typeface=""/>
      </a:majorFont>
      <a:minorFont>
        <a:latin typeface="Times New Roman "/>
        <a:ea typeface="Times New Roman "/>
        <a:cs typeface=""/>
      </a:minorFont>
    </a:fontScheme>
    <a:fmtScheme name="黄色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4b6a1b384a74434" /><Relationship Type="http://schemas.openxmlformats.org/officeDocument/2006/relationships/notesSlide" Target="/ppt/notesSlides/notesSlide1.xml" Id="Rf530819a33f242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82ad013dab54d91" /><Relationship Type="http://schemas.openxmlformats.org/officeDocument/2006/relationships/image" Target="/ppt/media/image.png" Id="R7e5bbf626f4a4cdb" /><Relationship Type="http://schemas.openxmlformats.org/officeDocument/2006/relationships/image" Target="/ppt/media/image.svg" Id="Red0ccfab7e744e5b" /><Relationship Type="http://schemas.openxmlformats.org/officeDocument/2006/relationships/notesSlide" Target="/ppt/notesSlides/notesSlide2.xml" Id="R579ff505f2ff49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4d24094fbb048d1" /><Relationship Type="http://schemas.openxmlformats.org/officeDocument/2006/relationships/image" Target="/ppt/media/image.png" Id="R673a3bb1da764513" /><Relationship Type="http://schemas.openxmlformats.org/officeDocument/2006/relationships/image" Target="/ppt/media/image.svg" Id="Rc13aa4989edd4eef" /><Relationship Type="http://schemas.openxmlformats.org/officeDocument/2006/relationships/notesSlide" Target="/ppt/notesSlides/notesSlide3.xml" Id="R76135ca1c63747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edee2e49ddd4181" /><Relationship Type="http://schemas.openxmlformats.org/officeDocument/2006/relationships/image" Target="/ppt/media/image.png" Id="R5d1dc9473932455c" /><Relationship Type="http://schemas.openxmlformats.org/officeDocument/2006/relationships/image" Target="/ppt/media/image.svg" Id="R9f301a73e9f14bca" /><Relationship Type="http://schemas.openxmlformats.org/officeDocument/2006/relationships/image" Target="/ppt/media/image.jpeg" Id="R96efcf1cc020419b" /><Relationship Type="http://schemas.openxmlformats.org/officeDocument/2006/relationships/notesSlide" Target="/ppt/notesSlides/notesSlide4.xml" Id="R49dd7150ed304b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8c98c6b1fa045f5" /><Relationship Type="http://schemas.openxmlformats.org/officeDocument/2006/relationships/image" Target="/ppt/media/image2.png" Id="Rdc4fb32bd127418a" /><Relationship Type="http://schemas.openxmlformats.org/officeDocument/2006/relationships/notesSlide" Target="/ppt/notesSlides/notesSlide5.xml" Id="R4688543664a849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4213f07cbf54ca9" /><Relationship Type="http://schemas.openxmlformats.org/officeDocument/2006/relationships/image" Target="/ppt/media/image3.png" Id="Rfcb63cf7517e4fc9" /><Relationship Type="http://schemas.openxmlformats.org/officeDocument/2006/relationships/image" Target="/ppt/media/image2.svg" Id="R65f61507eee948cc" /><Relationship Type="http://schemas.openxmlformats.org/officeDocument/2006/relationships/notesSlide" Target="/ppt/notesSlides/notesSlide6.xml" Id="Rb3b5d24f72064e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6dab1869b5d4855" /><Relationship Type="http://schemas.openxmlformats.org/officeDocument/2006/relationships/image" Target="/ppt/media/image4.png" Id="Ref2965509022425d" /><Relationship Type="http://schemas.openxmlformats.org/officeDocument/2006/relationships/image" Target="/ppt/media/image3.svg" Id="R66b1f26e4f2b4eb6" /><Relationship Type="http://schemas.openxmlformats.org/officeDocument/2006/relationships/image" Target="/ppt/media/image5.png" Id="Rfd1b19099a6e4d11" /><Relationship Type="http://schemas.openxmlformats.org/officeDocument/2006/relationships/notesSlide" Target="/ppt/notesSlides/notesSlide7.xml" Id="R0f9f5cc4576f470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44888ffb5b34ac9" /><Relationship Type="http://schemas.openxmlformats.org/officeDocument/2006/relationships/image" Target="/ppt/media/image4.png" Id="R9df4eb2679634907" /><Relationship Type="http://schemas.openxmlformats.org/officeDocument/2006/relationships/image" Target="/ppt/media/image3.svg" Id="R9e7aea38e76741cc" /><Relationship Type="http://schemas.openxmlformats.org/officeDocument/2006/relationships/notesSlide" Target="/ppt/notesSlides/notesSlide8.xml" Id="R56ac672cd7e04e8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8787dcc156e4e34" /><Relationship Type="http://schemas.openxmlformats.org/officeDocument/2006/relationships/image" Target="/ppt/media/image6.png" Id="R135b5fb3b87c4087" /><Relationship Type="http://schemas.openxmlformats.org/officeDocument/2006/relationships/image" Target="/ppt/media/image4.svg" Id="Ra0df8c59450f4c89" /><Relationship Type="http://schemas.openxmlformats.org/officeDocument/2006/relationships/image" Target="/ppt/media/image7.png" Id="R1270c0f953a7481d" /><Relationship Type="http://schemas.openxmlformats.org/officeDocument/2006/relationships/image" Target="/ppt/media/image5.svg" Id="R169cced87b844445" /><Relationship Type="http://schemas.openxmlformats.org/officeDocument/2006/relationships/notesSlide" Target="/ppt/notesSlides/notesSlide9.xml" Id="R292188cf584640d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任意多边形: 形状 15">
            <a:extLst xmlns:a="http://schemas.openxmlformats.org/drawingml/2006/main">
              <a:ext uri="{FF2B5EF4-FFF2-40B4-BE49-F238E27FC236}">
                <a16:creationId xmlns:a16="http://schemas.microsoft.com/office/drawing/2014/main" id="{91CF933B-4E53-4781-A27F-80692B2A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72696"/>
            <a:ext cx="12192000" cy="1385305"/>
          </a:xfrm>
          <a:custGeom xmlns:a="http://schemas.openxmlformats.org/drawingml/2006/main">
            <a:gdLst>
              <a:gd name="connsiteX0" fmla="*/ 0 w 12192000"/>
              <a:gd name="connsiteY0" fmla="*/ 0 h 1385305"/>
              <a:gd name="connsiteX1" fmla="*/ 102263 w 12192000"/>
              <a:gd name="connsiteY1" fmla="*/ 25266 h 1385305"/>
              <a:gd name="connsiteX2" fmla="*/ 6096002 w 12192000"/>
              <a:gd name="connsiteY2" fmla="*/ 670198 h 1385305"/>
              <a:gd name="connsiteX3" fmla="*/ 12089739 w 12192000"/>
              <a:gd name="connsiteY3" fmla="*/ 25266 h 1385305"/>
              <a:gd name="connsiteX4" fmla="*/ 12192000 w 12192000"/>
              <a:gd name="connsiteY4" fmla="*/ 1 h 1385305"/>
              <a:gd name="connsiteX5" fmla="*/ 12192000 w 12192000"/>
              <a:gd name="connsiteY5" fmla="*/ 1385305 h 1385305"/>
              <a:gd name="connsiteX6" fmla="*/ 0 w 12192000"/>
              <a:gd name="connsiteY6" fmla="*/ 1385305 h 1385305"/>
            </a:gdLst>
            <a:rect l="l" t="t" r="r" b="b"/>
            <a:pathLst>
              <a:path w="12192000" h="1385305">
                <a:moveTo>
                  <a:pt x="0" y="0"/>
                </a:moveTo>
                <a:lnTo>
                  <a:pt x="102263" y="25266"/>
                </a:lnTo>
                <a:cubicBezTo>
                  <a:pt x="1849942" y="434524"/>
                  <a:pt x="3901558" y="670198"/>
                  <a:pt x="6096002" y="670198"/>
                </a:cubicBezTo>
                <a:cubicBezTo>
                  <a:pt x="8290444" y="670198"/>
                  <a:pt x="10342060" y="434524"/>
                  <a:pt x="12089739" y="25266"/>
                </a:cubicBezTo>
                <a:lnTo>
                  <a:pt x="12192000" y="1"/>
                </a:lnTo>
                <a:lnTo>
                  <a:pt x="12192000" y="1385305"/>
                </a:lnTo>
                <a:lnTo>
                  <a:pt x="0" y="1385305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2700" cap="flat" cmpd="sng">
            <a:noFill/>
            <a:prstDash val="solid"/>
            <a:miter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7" name="任意多边形: 形状 16">
            <a:extLst xmlns:a="http://schemas.openxmlformats.org/drawingml/2006/main">
              <a:ext uri="{FF2B5EF4-FFF2-40B4-BE49-F238E27FC236}">
                <a16:creationId xmlns:a16="http://schemas.microsoft.com/office/drawing/2014/main" id="{040109C3-4697-41A1-A7D5-FC3DC930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72696"/>
            <a:ext cx="12192000" cy="1385305"/>
          </a:xfrm>
          <a:custGeom xmlns:a="http://schemas.openxmlformats.org/drawingml/2006/main">
            <a:gdLst>
              <a:gd name="connsiteX0" fmla="*/ 0 w 12192000"/>
              <a:gd name="connsiteY0" fmla="*/ 0 h 1385305"/>
              <a:gd name="connsiteX1" fmla="*/ 102263 w 12192000"/>
              <a:gd name="connsiteY1" fmla="*/ 25266 h 1385305"/>
              <a:gd name="connsiteX2" fmla="*/ 6096002 w 12192000"/>
              <a:gd name="connsiteY2" fmla="*/ 670198 h 1385305"/>
              <a:gd name="connsiteX3" fmla="*/ 12089739 w 12192000"/>
              <a:gd name="connsiteY3" fmla="*/ 25266 h 1385305"/>
              <a:gd name="connsiteX4" fmla="*/ 12192000 w 12192000"/>
              <a:gd name="connsiteY4" fmla="*/ 1 h 1385305"/>
              <a:gd name="connsiteX5" fmla="*/ 12192000 w 12192000"/>
              <a:gd name="connsiteY5" fmla="*/ 1385305 h 1385305"/>
              <a:gd name="connsiteX6" fmla="*/ 0 w 12192000"/>
              <a:gd name="connsiteY6" fmla="*/ 1385305 h 1385305"/>
            </a:gdLst>
            <a:rect l="l" t="t" r="r" b="b"/>
            <a:pathLst>
              <a:path w="12192000" h="1385305">
                <a:moveTo>
                  <a:pt x="0" y="0"/>
                </a:moveTo>
                <a:lnTo>
                  <a:pt x="102263" y="25266"/>
                </a:lnTo>
                <a:cubicBezTo>
                  <a:pt x="1849942" y="434524"/>
                  <a:pt x="3901558" y="670198"/>
                  <a:pt x="6096002" y="670198"/>
                </a:cubicBezTo>
                <a:cubicBezTo>
                  <a:pt x="8290444" y="670198"/>
                  <a:pt x="10342060" y="434524"/>
                  <a:pt x="12089739" y="25266"/>
                </a:cubicBezTo>
                <a:lnTo>
                  <a:pt x="12192000" y="1"/>
                </a:lnTo>
                <a:lnTo>
                  <a:pt x="12192000" y="1385305"/>
                </a:lnTo>
                <a:lnTo>
                  <a:pt x="0" y="138530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2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xmlns:a="http://schemas.openxmlformats.org/drawingml/2006/main" w="12700" cap="flat" cmpd="sng">
            <a:noFill/>
            <a:prstDash val="solid"/>
            <a:miter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4" name="任意多边形: 形状 13">
            <a:extLst xmlns:a="http://schemas.openxmlformats.org/drawingml/2006/main">
              <a:ext uri="{FF2B5EF4-FFF2-40B4-BE49-F238E27FC236}">
                <a16:creationId xmlns:a16="http://schemas.microsoft.com/office/drawing/2014/main" id="{2C1D9A1D-8993-4176-A8E8-D456A6E6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590"/>
            <a:ext cx="12192000" cy="6142893"/>
          </a:xfrm>
          <a:custGeom xmlns:a="http://schemas.openxmlformats.org/drawingml/2006/main">
            <a:gdLst>
              <a:gd name="connsiteX0" fmla="*/ 0 w 12192000"/>
              <a:gd name="connsiteY0" fmla="*/ 0 h 6142893"/>
              <a:gd name="connsiteX1" fmla="*/ 12192000 w 12192000"/>
              <a:gd name="connsiteY1" fmla="*/ 0 h 6142893"/>
              <a:gd name="connsiteX2" fmla="*/ 12192000 w 12192000"/>
              <a:gd name="connsiteY2" fmla="*/ 5472696 h 6142893"/>
              <a:gd name="connsiteX3" fmla="*/ 12089739 w 12192000"/>
              <a:gd name="connsiteY3" fmla="*/ 5497961 h 6142893"/>
              <a:gd name="connsiteX4" fmla="*/ 6096002 w 12192000"/>
              <a:gd name="connsiteY4" fmla="*/ 6142893 h 6142893"/>
              <a:gd name="connsiteX5" fmla="*/ 102263 w 12192000"/>
              <a:gd name="connsiteY5" fmla="*/ 5497961 h 6142893"/>
              <a:gd name="connsiteX6" fmla="*/ 0 w 12192000"/>
              <a:gd name="connsiteY6" fmla="*/ 5472695 h 6142893"/>
            </a:gdLst>
            <a:rect l="l" t="t" r="r" b="b"/>
            <a:pathLst>
              <a:path w="12192000" h="6142893">
                <a:moveTo>
                  <a:pt x="0" y="0"/>
                </a:moveTo>
                <a:lnTo>
                  <a:pt x="12192000" y="0"/>
                </a:lnTo>
                <a:lnTo>
                  <a:pt x="12192000" y="5472696"/>
                </a:lnTo>
                <a:lnTo>
                  <a:pt x="12089739" y="5497961"/>
                </a:lnTo>
                <a:cubicBezTo>
                  <a:pt x="10342060" y="5907219"/>
                  <a:pt x="8290444" y="6142893"/>
                  <a:pt x="6096002" y="6142893"/>
                </a:cubicBezTo>
                <a:cubicBezTo>
                  <a:pt x="3901558" y="6142893"/>
                  <a:pt x="1849942" y="5907219"/>
                  <a:pt x="102263" y="5497961"/>
                </a:cubicBezTo>
                <a:lnTo>
                  <a:pt x="0" y="547269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8" name="任意多边形: 形状 17">
            <a:extLst xmlns:a="http://schemas.openxmlformats.org/drawingml/2006/main">
              <a:ext uri="{FF2B5EF4-FFF2-40B4-BE49-F238E27FC236}">
                <a16:creationId xmlns:a16="http://schemas.microsoft.com/office/drawing/2014/main" id="{06215EF5-ED5D-40F9-AAF0-ADACB807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79376"/>
            <a:ext cx="12192000" cy="1385305"/>
          </a:xfrm>
          <a:custGeom xmlns:a="http://schemas.openxmlformats.org/drawingml/2006/main">
            <a:gdLst>
              <a:gd name="connsiteX0" fmla="*/ 0 w 12192000"/>
              <a:gd name="connsiteY0" fmla="*/ 0 h 1385305"/>
              <a:gd name="connsiteX1" fmla="*/ 102263 w 12192000"/>
              <a:gd name="connsiteY1" fmla="*/ 25266 h 1385305"/>
              <a:gd name="connsiteX2" fmla="*/ 6096002 w 12192000"/>
              <a:gd name="connsiteY2" fmla="*/ 670198 h 1385305"/>
              <a:gd name="connsiteX3" fmla="*/ 12089739 w 12192000"/>
              <a:gd name="connsiteY3" fmla="*/ 25266 h 1385305"/>
              <a:gd name="connsiteX4" fmla="*/ 12192000 w 12192000"/>
              <a:gd name="connsiteY4" fmla="*/ 1 h 1385305"/>
              <a:gd name="connsiteX5" fmla="*/ 12192000 w 12192000"/>
              <a:gd name="connsiteY5" fmla="*/ 1385305 h 1385305"/>
              <a:gd name="connsiteX6" fmla="*/ 0 w 12192000"/>
              <a:gd name="connsiteY6" fmla="*/ 1385305 h 1385305"/>
            </a:gdLst>
            <a:rect l="l" t="t" r="r" b="b"/>
            <a:pathLst>
              <a:path w="12192000" h="1385305">
                <a:moveTo>
                  <a:pt x="0" y="0"/>
                </a:moveTo>
                <a:lnTo>
                  <a:pt x="102263" y="25266"/>
                </a:lnTo>
                <a:cubicBezTo>
                  <a:pt x="1849942" y="434524"/>
                  <a:pt x="3901558" y="670198"/>
                  <a:pt x="6096002" y="670198"/>
                </a:cubicBezTo>
                <a:cubicBezTo>
                  <a:pt x="8290444" y="670198"/>
                  <a:pt x="10342060" y="434524"/>
                  <a:pt x="12089739" y="25266"/>
                </a:cubicBezTo>
                <a:lnTo>
                  <a:pt x="12192000" y="1"/>
                </a:lnTo>
                <a:lnTo>
                  <a:pt x="12192000" y="1385305"/>
                </a:lnTo>
                <a:lnTo>
                  <a:pt x="0" y="1385305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2700" cap="flat" cmpd="sng">
            <a:noFill/>
            <a:prstDash val="solid"/>
            <a:miter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12F50F0E-3503-4CEF-9055-00F391BC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0300"/>
            <a:ext cx="11049000" cy="10789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ctr">
              <a:defRPr sz="5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20000"/>
              </a:lnSpc>
              <a:buNone/>
              <a:defRPr sz="5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4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Al₂O₃–YAG Coatings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45E5FE2F-DF77-4A01-9BD6-E441F5A2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"/>
            <a:ext cx="11049000" cy="1432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 algn="ctr">
              <a:defRPr sz="8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buNone/>
              <a:defRPr sz="8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0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Literature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ED6901-0A48-45BB-8589-65940207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33800"/>
            <a:ext cx="8953500" cy="15240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03153"/>
          </a:solidFill>
          <a:ln xmlns:a="http://schemas.openxmlformats.org/drawingml/2006/main" w="19050">
            <a:solidFill>
              <a:srgbClr val="E4BB4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D9F5AF-20A6-4D74-BC6D-F870C4E9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857625"/>
            <a:ext cx="8477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8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8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Part I · YSZ / Al₂O₃–YAG double-layer TBCs</a:t>
            </a:r>
          </a:p>
          <a:p xmlns:a="http://schemas.openxmlformats.org/drawingml/2006/main">
            <a:pPr algn="ctr">
              <a:defRPr sz="28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Part II · Al₂O₃–YAG oxidation coating</a:t>
            </a:r>
          </a:p>
          <a:p xmlns:a="http://schemas.openxmlformats.org/drawingml/2006/main">
            <a:pPr algn="ctr">
              <a:defRPr sz="28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Part III · Our proposed coating route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3F0FFC-098B-4992-9A34-4A0DB2D5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81625"/>
            <a:ext cx="742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8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8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Group Meeting · 12 October 2026</a:t>
            </a:r>
          </a:p>
        </p:txBody>
      </p:sp>
    </p:spTree>
    <p:extLst>
      <p:ext uri="{BB962C8B-B14F-4D97-AF65-F5344CB8AC3E}">
        <p14:creationId xmlns:p14="http://schemas.microsoft.com/office/powerpoint/2010/main" val="23311874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: 圆角 3">
            <a:extLst xmlns:a="http://schemas.openxmlformats.org/drawingml/2006/main">
              <a:ext uri="{FF2B5EF4-FFF2-40B4-BE49-F238E27FC236}">
                <a16:creationId xmlns:a16="http://schemas.microsoft.com/office/drawing/2014/main" id="{73183FA7-3626-4274-A86B-CA7055B5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11536680" cy="627348"/>
          </a:xfrm>
          <a:prstGeom xmlns:a="http://schemas.openxmlformats.org/drawingml/2006/main" prst="roundRect">
            <a:avLst/>
          </a:prstGeom>
          <a:gradFill xmlns:a="http://schemas.openxmlformats.org/drawingml/2006/main" flip="none" rotWithShape="1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  <a:alpha val="0"/>
                </a:schemeClr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椭圆 4">
            <a:extLst xmlns:a="http://schemas.openxmlformats.org/drawingml/2006/main">
              <a:ext uri="{FF2B5EF4-FFF2-40B4-BE49-F238E27FC236}">
                <a16:creationId xmlns:a16="http://schemas.microsoft.com/office/drawing/2014/main" id="{4305C9F5-0222-45E2-B48A-3952C22F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82880"/>
            <a:ext cx="602269" cy="602269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chemeClr val="accent1">
                  <a:lumMod val="90000"/>
                  <a:lumOff val="1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190500" dist="127000" dir="2700000" algn="tl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F8614AE4-8A58-46F3-851C-72CB9CE0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"/>
            <a:ext cx="1085850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Part I · A composite interlayer beneath YSZ</a:t>
            </a:r>
            <a:endParaRPr sz="2800" b="1">
              <a:solidFill>
                <a:schemeClr val="accent1"/>
              </a:solidFill>
            </a:endParaRPr>
          </a:p>
        </p:txBody>
      </p:sp>
      <p:sp>
        <p:nvSpPr>
          <p:cNvPr id="28" name="矩形: 圆角 27">
            <a:extLst xmlns:a="http://schemas.openxmlformats.org/drawingml/2006/main">
              <a:ext uri="{FF2B5EF4-FFF2-40B4-BE49-F238E27FC236}">
                <a16:creationId xmlns:a16="http://schemas.microsoft.com/office/drawing/2014/main" id="{9F181E5C-ABFC-43B8-BBEB-42A70E04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86220"/>
            <a:ext cx="12191365" cy="28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sx="102000" sy="102000" algn="ctr" rotWithShape="0">
              <a:schemeClr val="accent1"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/>
          </a:p>
        </p:txBody>
      </p:sp>
      <p:pic>
        <p:nvPicPr>
          <p:cNvPr id="2" name="图片 1">
            <a:extLst xmlns:a="http://schemas.openxmlformats.org/drawingml/2006/main">
              <a:ext uri="{FF2B5EF4-FFF2-40B4-BE49-F238E27FC236}">
                <a16:creationId xmlns:a16="http://schemas.microsoft.com/office/drawing/2014/main" id="{932D8380-D731-41C9-8726-36B9D29901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5bbf626f4a4cdb">
            <a:extLst>
              <a:ext uri="{96DAC541-7B7A-43D3-8B79-37D633B846F1}">
                <asvg:svgBlip xmlns:asvg="http://schemas.microsoft.com/office/drawing/2016/SVG/main" r:embed="Red0ccfab7e744e5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5285" y="254635"/>
            <a:ext cx="431165" cy="431165"/>
          </a:xfrm>
          <a:prstGeom xmlns:a="http://schemas.openxmlformats.org/drawingml/2006/main" prst="rect">
            <a:avLst/>
          </a:prstGeom>
        </p:spPr>
      </p:pic>
      <p:sp>
        <p:nvSpPr>
          <p:cNvPr id="60" name="任意多边形: 形状 59">
            <a:extLst xmlns:a="http://schemas.openxmlformats.org/drawingml/2006/main">
              <a:ext uri="{FF2B5EF4-FFF2-40B4-BE49-F238E27FC236}">
                <a16:creationId xmlns:a16="http://schemas.microsoft.com/office/drawing/2014/main" id="{723DC8DE-0294-4BAB-8E4D-D5724C62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89065"/>
            <a:ext cx="12192635" cy="422910"/>
          </a:xfrm>
          <a:custGeom xmlns:a="http://schemas.openxmlformats.org/drawingml/2006/main">
            <a:gdLst>
              <a:gd name="connsiteX0" fmla="*/ 0 w 12192000"/>
              <a:gd name="connsiteY0" fmla="*/ 0 h 1934308"/>
              <a:gd name="connsiteX1" fmla="*/ 12192000 w 12192000"/>
              <a:gd name="connsiteY1" fmla="*/ 0 h 1934308"/>
              <a:gd name="connsiteX2" fmla="*/ 12192000 w 12192000"/>
              <a:gd name="connsiteY2" fmla="*/ 1934308 h 1934308"/>
              <a:gd name="connsiteX3" fmla="*/ 0 w 12192000"/>
              <a:gd name="connsiteY3" fmla="*/ 1934308 h 1934308"/>
            </a:gdLst>
            <a:rect l="l" t="t" r="r" b="b"/>
            <a:pathLst>
              <a:path w="12192000" h="1934308">
                <a:moveTo>
                  <a:pt x="0" y="0"/>
                </a:moveTo>
                <a:lnTo>
                  <a:pt x="12192000" y="0"/>
                </a:lnTo>
                <a:lnTo>
                  <a:pt x="12192000" y="1934308"/>
                </a:lnTo>
                <a:lnTo>
                  <a:pt x="0" y="1934308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90000"/>
                  <a:lumOff val="1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190500" dist="127000" dir="2700000" algn="tl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D5C01CE-5551-4E5F-9731-2C5BA050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388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rPr>
              <a:t>Ren et al., Surf. Coat. Technol., 2011. Original schematic; not to scale.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BA76222-A69A-4378-B4F8-E406810A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07695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882A275-FC3C-4E21-9EDE-C642B9D0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62050"/>
            <a:ext cx="6762750" cy="4552950"/>
          </a:xfrm>
          <a:prstGeom xmlns:a="http://schemas.openxmlformats.org/drawingml/2006/main" prst="roundRect">
            <a:avLst>
              <a:gd name="adj" fmla="val 7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088E3D5-ECC2-4339-B15B-3BE0FA55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162050"/>
            <a:ext cx="4333875" cy="4552950"/>
          </a:xfrm>
          <a:prstGeom xmlns:a="http://schemas.openxmlformats.org/drawingml/2006/main" prst="roundRect">
            <a:avLst>
              <a:gd name="adj" fmla="val 79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CB247BF-8E99-4B8D-BCFB-37E93C84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52550"/>
            <a:ext cx="633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YSZ / Al₂O₃–YAG double-layer TBC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938D664-2FC6-4680-97DC-64ED7A5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90988"/>
            <a:ext cx="3190875" cy="7119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2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4342C74-AFE6-4AD7-84B4-1D40D756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78994"/>
            <a:ext cx="3190875" cy="7119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6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8642C6D-697D-40E9-86D1-74EBBF25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88544"/>
            <a:ext cx="109538" cy="1095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819B9CD-17CF-419E-AD88-E3606B25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67100"/>
            <a:ext cx="109538" cy="1095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9728E85-4659-464F-85CC-2C582891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819525"/>
            <a:ext cx="109538" cy="1095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5710ED1-1DA7-44C1-A62B-1C6D9D9B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698081"/>
            <a:ext cx="109538" cy="1095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8A2E6A9-105F-42C0-AE61-DB7908D5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576638"/>
            <a:ext cx="109538" cy="1095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A74DD2F-C6CA-417B-9CFE-4DD5CE49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929063"/>
            <a:ext cx="109538" cy="1095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3056234-7153-4F29-B41C-980A02F6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07619"/>
            <a:ext cx="109538" cy="1095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D5BAF6A-6786-4506-A4CE-DDF036C9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86175"/>
            <a:ext cx="109538" cy="1095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AC3C91D-09CE-438E-BEDB-0B15BD14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564731"/>
            <a:ext cx="109538" cy="1095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BD80CE1-F0C8-413B-9A41-E7D37BAD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917156"/>
            <a:ext cx="109538" cy="1095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1D255C8-F311-4BCD-A754-0637E03E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795713"/>
            <a:ext cx="109538" cy="1095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FDC22D0-68A2-425C-A716-010D0D8C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74269"/>
            <a:ext cx="109538" cy="1095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FFC1034-F746-488E-9589-8CEBB18B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52825"/>
            <a:ext cx="109538" cy="1095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FE216CC-EA4E-4FBC-B133-F8266BC9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905250"/>
            <a:ext cx="109538" cy="1095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15C4917-FC85-4AC5-93FD-2A2EAD41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83806"/>
            <a:ext cx="109538" cy="1095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53CFB79-07CF-481F-BBA7-595646C5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662363"/>
            <a:ext cx="109538" cy="1095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6F6237A-A6B7-43AA-92CE-D7915B1D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40919"/>
            <a:ext cx="109538" cy="1095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BB878B0-AD32-490D-89DD-1A86E117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93344"/>
            <a:ext cx="109538" cy="1095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DD254E3-E283-4F0F-AC0A-853D2650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67000"/>
            <a:ext cx="3190875" cy="7119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FA6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2FE5A62-4AEE-4D38-9950-71148743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695575"/>
            <a:ext cx="2619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YSZ top layer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1C9C539-968C-4095-9D72-3BD6BEBD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419475"/>
            <a:ext cx="2619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Al₂O₃ matrix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+ YAG particles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CD7EA69-9DC9-476A-963C-8D3C7DE6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257675"/>
            <a:ext cx="2619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GH864 superalloy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AF5EA0E-4A04-48DF-AF05-2B68556C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047875"/>
            <a:ext cx="38100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E3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E8AE63B-7156-4E16-881B-51E33A80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764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Heat + oxygen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C4FEB25-5B62-4E3E-9C72-C8376912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162550"/>
            <a:ext cx="628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Gold: YAG · Pale blue: Al₂O₃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D12D8B2-68B6-47B1-A43C-D5415524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1419225"/>
            <a:ext cx="3914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Design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A4F2D94-1708-4CCC-B2F8-30CED4DE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1838325"/>
            <a:ext cx="39147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Al₂O₃–YAG interlayer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+ YSZ top coat.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9823C83-B6F2-439C-8C96-BE5FA905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209925"/>
            <a:ext cx="3914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Aim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1135076-1FB0-42D4-8FC8-760F15E6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629025"/>
            <a:ext cx="39147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Oxidation protection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+ thermal insulation.</a:t>
            </a:r>
          </a:p>
        </p:txBody>
      </p:sp>
    </p:spTree>
    <p:extLst>
      <p:ext uri="{BB962C8B-B14F-4D97-AF65-F5344CB8AC3E}">
        <p14:creationId xmlns:p14="http://schemas.microsoft.com/office/powerpoint/2010/main" val="178132136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: 圆角 3">
            <a:extLst xmlns:a="http://schemas.openxmlformats.org/drawingml/2006/main">
              <a:ext uri="{FF2B5EF4-FFF2-40B4-BE49-F238E27FC236}">
                <a16:creationId xmlns:a16="http://schemas.microsoft.com/office/drawing/2014/main" id="{AE24DDD9-7777-48FA-B278-9662BA33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11536680" cy="627348"/>
          </a:xfrm>
          <a:prstGeom xmlns:a="http://schemas.openxmlformats.org/drawingml/2006/main" prst="roundRect">
            <a:avLst/>
          </a:prstGeom>
          <a:gradFill xmlns:a="http://schemas.openxmlformats.org/drawingml/2006/main" flip="none" rotWithShape="1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  <a:alpha val="0"/>
                </a:schemeClr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椭圆 4">
            <a:extLst xmlns:a="http://schemas.openxmlformats.org/drawingml/2006/main">
              <a:ext uri="{FF2B5EF4-FFF2-40B4-BE49-F238E27FC236}">
                <a16:creationId xmlns:a16="http://schemas.microsoft.com/office/drawing/2014/main" id="{457FBF48-429A-4062-8FC2-3765AC2B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82880"/>
            <a:ext cx="602269" cy="602269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chemeClr val="accent1">
                  <a:lumMod val="90000"/>
                  <a:lumOff val="1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190500" dist="127000" dir="2700000" algn="tl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951DB159-A7B8-4803-813A-118044B5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"/>
            <a:ext cx="1085850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Part I · Preparation</a:t>
            </a:r>
            <a:endParaRPr sz="2800" b="1">
              <a:solidFill>
                <a:schemeClr val="accent1"/>
              </a:solidFill>
            </a:endParaRPr>
          </a:p>
        </p:txBody>
      </p:sp>
      <p:sp>
        <p:nvSpPr>
          <p:cNvPr id="28" name="矩形: 圆角 27">
            <a:extLst xmlns:a="http://schemas.openxmlformats.org/drawingml/2006/main">
              <a:ext uri="{FF2B5EF4-FFF2-40B4-BE49-F238E27FC236}">
                <a16:creationId xmlns:a16="http://schemas.microsoft.com/office/drawing/2014/main" id="{EA2980BE-BE6F-49B4-8AA0-F41F59F0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86220"/>
            <a:ext cx="12191365" cy="28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sx="102000" sy="102000" algn="ctr" rotWithShape="0">
              <a:schemeClr val="accent1"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/>
          </a:p>
        </p:txBody>
      </p:sp>
      <p:pic>
        <p:nvPicPr>
          <p:cNvPr id="2" name="图片 1">
            <a:extLst xmlns:a="http://schemas.openxmlformats.org/drawingml/2006/main">
              <a:ext uri="{FF2B5EF4-FFF2-40B4-BE49-F238E27FC236}">
                <a16:creationId xmlns:a16="http://schemas.microsoft.com/office/drawing/2014/main" id="{0A71ACAD-A543-4CD3-B51B-19FCD3F023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3a3bb1da764513">
            <a:extLst>
              <a:ext uri="{96DAC541-7B7A-43D3-8B79-37D633B846F1}">
                <asvg:svgBlip xmlns:asvg="http://schemas.microsoft.com/office/drawing/2016/SVG/main" r:embed="Rc13aa4989edd4ee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5285" y="254635"/>
            <a:ext cx="431165" cy="431165"/>
          </a:xfrm>
          <a:prstGeom xmlns:a="http://schemas.openxmlformats.org/drawingml/2006/main" prst="rect">
            <a:avLst/>
          </a:prstGeom>
        </p:spPr>
      </p:pic>
      <p:sp>
        <p:nvSpPr>
          <p:cNvPr id="60" name="任意多边形: 形状 59">
            <a:extLst xmlns:a="http://schemas.openxmlformats.org/drawingml/2006/main">
              <a:ext uri="{FF2B5EF4-FFF2-40B4-BE49-F238E27FC236}">
                <a16:creationId xmlns:a16="http://schemas.microsoft.com/office/drawing/2014/main" id="{D1EFB209-D336-42DC-AD45-953753616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89065"/>
            <a:ext cx="12192635" cy="422910"/>
          </a:xfrm>
          <a:custGeom xmlns:a="http://schemas.openxmlformats.org/drawingml/2006/main">
            <a:gdLst>
              <a:gd name="connsiteX0" fmla="*/ 0 w 12192000"/>
              <a:gd name="connsiteY0" fmla="*/ 0 h 1934308"/>
              <a:gd name="connsiteX1" fmla="*/ 12192000 w 12192000"/>
              <a:gd name="connsiteY1" fmla="*/ 0 h 1934308"/>
              <a:gd name="connsiteX2" fmla="*/ 12192000 w 12192000"/>
              <a:gd name="connsiteY2" fmla="*/ 1934308 h 1934308"/>
              <a:gd name="connsiteX3" fmla="*/ 0 w 12192000"/>
              <a:gd name="connsiteY3" fmla="*/ 1934308 h 1934308"/>
            </a:gdLst>
            <a:rect l="l" t="t" r="r" b="b"/>
            <a:pathLst>
              <a:path w="12192000" h="1934308">
                <a:moveTo>
                  <a:pt x="0" y="0"/>
                </a:moveTo>
                <a:lnTo>
                  <a:pt x="12192000" y="0"/>
                </a:lnTo>
                <a:lnTo>
                  <a:pt x="12192000" y="1934308"/>
                </a:lnTo>
                <a:lnTo>
                  <a:pt x="0" y="1934308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90000"/>
                  <a:lumOff val="1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190500" dist="127000" dir="2700000" algn="tl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31F2E28-5D8B-4CEF-9597-20A406E3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388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rPr>
              <a:t>Ren et al., Surf. Coat. Technol., 2011, §2. Original process schematic.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6A2A71A-10E4-4C39-8E90-417F8345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07695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7C71A6A-7345-4248-97D6-BD152B1A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62050"/>
            <a:ext cx="2619375" cy="4562475"/>
          </a:xfrm>
          <a:prstGeom xmlns:a="http://schemas.openxmlformats.org/drawingml/2006/main" prst="roundRect">
            <a:avLst>
              <a:gd name="adj" fmla="val 13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D2D6C11-A2A3-43F2-8FE1-FFDD98D4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43025"/>
            <a:ext cx="2305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1 · Precursor sol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7B62F15-78DA-4DD6-9FBB-B1ABB07C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1809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2B7B6BE-8A3F-4E05-80EE-D58E1956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28913"/>
            <a:ext cx="1752600" cy="9572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ECBF2B7-419A-4427-92ED-CDE2FD46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00418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C61B4BF-D2FA-4802-B01A-7C2D81C1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35661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F8B3851-A75E-4F2E-98F2-E0670DA7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09276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F7429A8-4D0A-40C2-889C-32795055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4519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F232241-EC7B-417D-9BC0-55BA2D78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1813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CC0DAE3-E687-4878-9234-C8F46BC0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917507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79EEE3E-BBC5-4BD3-9AFD-06672C77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269932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504CF63-1E25-4DDC-8410-E9D170A3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00609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3BE725F-AD59-419E-97F0-9FA0CF74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5851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CED1F09-B101-4F52-B01D-20356B90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9467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6E9BB10-47AC-4EF3-BFBD-E4496615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44709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0242C4B-F282-4A06-A8FA-FBAF507B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325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F22D1BC-8709-4416-BB69-67727F4C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919412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3CB9235-B3F5-4BDF-AF1A-8098CA3E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271837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6B85E88-F111-4800-A20F-2DD28DE1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00799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7AE8251-732E-4E13-8AB4-46F1D47A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295775"/>
            <a:ext cx="23145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Boehmite + Y³⁺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1 wt.% α-Al₂O₃ seeds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83DAC40-3D6B-4356-98C3-131D10C8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076575"/>
            <a:ext cx="1905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3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562E24E-7014-4E2E-B1DA-A2B3FE54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162050"/>
            <a:ext cx="2619375" cy="4562475"/>
          </a:xfrm>
          <a:prstGeom xmlns:a="http://schemas.openxmlformats.org/drawingml/2006/main" prst="roundRect">
            <a:avLst>
              <a:gd name="adj" fmla="val 13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128C6DA-4C52-40E3-8BE1-D6AA38C5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343025"/>
            <a:ext cx="2305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2 · EPD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83F6923-E620-4B18-8E44-76F0ADDD5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400300"/>
            <a:ext cx="1809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511135E-7AC8-4FF5-B933-90B41130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28913"/>
            <a:ext cx="1752600" cy="9572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FF0D6A2-7C74-49E1-B9C8-91451940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00418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7066C66-2868-4905-BF6D-DA0B457A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35661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51EDFD5-897D-400F-A094-B3C22E65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9276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94875CC-EE0A-4DC9-924D-AC381C55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44519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A396495-7C37-46F9-A4FB-02085E46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813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C418064-321B-4966-98F4-944ABE26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917507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ABDC9B9-274C-4A31-A277-729DC455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69932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EF2B9C3-1390-43BE-A5D5-9E198B42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00609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ED40F0F-46EF-44CF-92FA-F36A5409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35851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7F2EFAD-115A-4F7D-AEBB-DC67DB35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09467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CD7F1E0-35CE-4E56-AAA2-E4E99E8E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4709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609950B-B3B8-463F-A9C0-07BE0F76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18325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D87F1C6-6E60-4DD0-BED8-D52F8CEB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19412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56BB954-869D-4F08-985A-BC0C89AE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271837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A82F8C5-C9E5-4700-8A67-6F550AA3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0799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06E0567-CB2F-4337-BD4B-CE58737C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476500"/>
            <a:ext cx="9525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532A6D7-7328-4058-B292-64996871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07645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F5D5E58-4AE4-4081-ACC9-40623E9B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76500"/>
            <a:ext cx="9525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0A0F24B-905B-4CBF-9A10-9247A1DA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07645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DA26AFE-FB90-4DE5-8FB0-E728D3BA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476500"/>
            <a:ext cx="13335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0475055-0EE3-4295-B3E2-EAFC1118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728913"/>
            <a:ext cx="38100" cy="8429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AE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7AD0191-D4CA-484E-A29E-05BD288A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728913"/>
            <a:ext cx="38100" cy="8429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AE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C11E968-6C15-4F31-B1D2-18DCCF33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07645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DA97342-8C86-43F6-9C70-351A4774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188970"/>
            <a:ext cx="35242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3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206DC88C-2CC8-43CC-9D94-1DDC5F63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88970"/>
            <a:ext cx="352425" cy="1333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0E3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BEADCC8-65FB-4813-AD91-7A43FB4C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295775"/>
            <a:ext cx="23145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30 mA/cm²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6 min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8937AA0-A190-4DAE-AF4E-12DB38B3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76575"/>
            <a:ext cx="1905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3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E73BC1B-8BB1-4526-89DD-BCEF0C05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162050"/>
            <a:ext cx="2619375" cy="4562475"/>
          </a:xfrm>
          <a:prstGeom xmlns:a="http://schemas.openxmlformats.org/drawingml/2006/main" prst="roundRect">
            <a:avLst>
              <a:gd name="adj" fmla="val 13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A66508FD-3F59-4219-B4A2-DF2E736C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343025"/>
            <a:ext cx="2305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3 · Interlayer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A062BCD-294E-451B-A7BC-0AB1267A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924175"/>
            <a:ext cx="20097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2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E9845B6-FB94-4688-8849-5EC6F5E3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638425"/>
            <a:ext cx="20097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6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1480638-36E8-43CF-9310-A9E53ED3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52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E665E5E-3F38-4C97-9479-2A041727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724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F643F3C-958A-4754-9F7E-B51FEBC2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D92FADC-F7CF-4B85-9711-ABD0E760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7622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CFB17CD-CE91-42C9-AF2B-051DD98D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7336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5AB08EB4-6489-4F5D-94F9-5415C836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52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4D996E0-C466-42B3-954B-0CA5A22A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724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703A8C1-0D94-47E4-968E-D415DB72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743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D47AFB89-64D8-4E31-B84F-048E47BB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7622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4FB7AA22-1BBD-43D6-9323-3BB9A4FE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7336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93C6A9F3-786D-4C9F-98E3-A2B06278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752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12290701-886E-4D63-AE40-E95380A8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24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8A39A2DC-0242-4CA3-8034-5BDDDFAB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295775"/>
            <a:ext cx="23145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Dry: 24 h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Then PFMS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CAC98971-A790-4E84-9DD0-059B7067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076575"/>
            <a:ext cx="1905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3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76E2761-8B0C-47C8-A280-6334EE11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162050"/>
            <a:ext cx="2619375" cy="4562475"/>
          </a:xfrm>
          <a:prstGeom xmlns:a="http://schemas.openxmlformats.org/drawingml/2006/main" prst="roundRect">
            <a:avLst>
              <a:gd name="adj" fmla="val 13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80A19AC9-1CEE-4281-BAE9-483076E3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343025"/>
            <a:ext cx="2305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4 · YSZ + PFMS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46BA4099-1816-4F33-8C94-9D463398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348038"/>
            <a:ext cx="2009775" cy="4024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2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D58622F9-CCA7-430C-8053-CEE62C26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945606"/>
            <a:ext cx="2009775" cy="4024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6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293A0E5E-0705-4723-ADA9-DC395163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155156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833DEFDB-6F69-4528-9424-5DD80604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178969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966ED2A8-BDAA-4B89-AD69-EC092507E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038475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E2EDAC15-270A-45A9-A28A-3AA90D2F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062288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2C963F4F-973A-497C-A55E-30F60C79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86100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44C57BA4-971B-4AA0-ACB0-DBF63B79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3109913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9942B7FD-BD22-4EE6-A6A4-20BCBDFC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3133725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3E3DA74D-64F2-48F3-AF98-BB65B641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157538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6F4161F8-0AAB-4B81-9993-EAC3AA58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181350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1D8402CC-563C-46AE-982E-3A09CD7E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040856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68828E2C-E598-477C-B728-0FE4AEA0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064669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0F51F57C-D922-4E05-86FC-1EFCBF8D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3088481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34FD56AB-9418-409B-A1E5-81663074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112294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3FA6DE6C-BBCC-447D-A88E-8F5485D5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136106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99C5DF19-5516-42B1-A09B-EE099858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159919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651C07F3-0E12-44A0-AF1B-B4DEB73C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83731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37A5EC08-12AF-45B9-8BBD-A0519573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043238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55A4284A-3EE0-449A-B1C5-BA6547DA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067050"/>
            <a:ext cx="61913" cy="619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BCCA9510-974B-419D-83A6-196D0B36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43175"/>
            <a:ext cx="2009775" cy="4024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FA6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9799A8B4-F6E0-4F43-A0B3-CEFA9514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38375"/>
            <a:ext cx="6191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3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54E798B8-5CEB-4583-9D70-09DE54FB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295775"/>
            <a:ext cx="23145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Blade-coat YSZ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PFMS: 960 °C, 2 h</a:t>
            </a:r>
          </a:p>
        </p:txBody>
      </p:sp>
    </p:spTree>
    <p:extLst>
      <p:ext uri="{BB962C8B-B14F-4D97-AF65-F5344CB8AC3E}">
        <p14:creationId xmlns:p14="http://schemas.microsoft.com/office/powerpoint/2010/main" val="197932426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: 圆角 3">
            <a:extLst xmlns:a="http://schemas.openxmlformats.org/drawingml/2006/main">
              <a:ext uri="{FF2B5EF4-FFF2-40B4-BE49-F238E27FC236}">
                <a16:creationId xmlns:a16="http://schemas.microsoft.com/office/drawing/2014/main" id="{D405A38E-3917-43FD-AE8F-8C6D6AD2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11536680" cy="627348"/>
          </a:xfrm>
          <a:prstGeom xmlns:a="http://schemas.openxmlformats.org/drawingml/2006/main" prst="roundRect">
            <a:avLst/>
          </a:prstGeom>
          <a:gradFill xmlns:a="http://schemas.openxmlformats.org/drawingml/2006/main" flip="none" rotWithShape="1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  <a:alpha val="0"/>
                </a:schemeClr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8" name="矩形: 圆角 27">
            <a:extLst xmlns:a="http://schemas.openxmlformats.org/drawingml/2006/main">
              <a:ext uri="{FF2B5EF4-FFF2-40B4-BE49-F238E27FC236}">
                <a16:creationId xmlns:a16="http://schemas.microsoft.com/office/drawing/2014/main" id="{6CD516AE-7852-4F20-9EAB-147A28D3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86220"/>
            <a:ext cx="12191365" cy="28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sx="102000" sy="102000" algn="ctr" rotWithShape="0">
              <a:schemeClr val="accent1"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/>
          </a:p>
        </p:txBody>
      </p:sp>
      <p:sp>
        <p:nvSpPr>
          <p:cNvPr id="5" name="椭圆 4">
            <a:extLst xmlns:a="http://schemas.openxmlformats.org/drawingml/2006/main">
              <a:ext uri="{FF2B5EF4-FFF2-40B4-BE49-F238E27FC236}">
                <a16:creationId xmlns:a16="http://schemas.microsoft.com/office/drawing/2014/main" id="{09073210-D23E-49F8-ABD3-F7CF74C8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82880"/>
            <a:ext cx="602269" cy="602269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chemeClr val="accent1">
                  <a:lumMod val="90000"/>
                  <a:lumOff val="1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190500" dist="127000" dir="2700000" algn="tl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0" name="任意多边形: 形状 59">
            <a:extLst xmlns:a="http://schemas.openxmlformats.org/drawingml/2006/main">
              <a:ext uri="{FF2B5EF4-FFF2-40B4-BE49-F238E27FC236}">
                <a16:creationId xmlns:a16="http://schemas.microsoft.com/office/drawing/2014/main" id="{D7893C03-F647-40D2-BE75-61D58E4D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89065"/>
            <a:ext cx="12192635" cy="422910"/>
          </a:xfrm>
          <a:custGeom xmlns:a="http://schemas.openxmlformats.org/drawingml/2006/main">
            <a:gdLst>
              <a:gd name="connsiteX0" fmla="*/ 0 w 12192000"/>
              <a:gd name="connsiteY0" fmla="*/ 0 h 1934308"/>
              <a:gd name="connsiteX1" fmla="*/ 12192000 w 12192000"/>
              <a:gd name="connsiteY1" fmla="*/ 0 h 1934308"/>
              <a:gd name="connsiteX2" fmla="*/ 12192000 w 12192000"/>
              <a:gd name="connsiteY2" fmla="*/ 1934308 h 1934308"/>
              <a:gd name="connsiteX3" fmla="*/ 0 w 12192000"/>
              <a:gd name="connsiteY3" fmla="*/ 1934308 h 1934308"/>
            </a:gdLst>
            <a:rect l="l" t="t" r="r" b="b"/>
            <a:pathLst>
              <a:path w="12192000" h="1934308">
                <a:moveTo>
                  <a:pt x="0" y="0"/>
                </a:moveTo>
                <a:lnTo>
                  <a:pt x="12192000" y="0"/>
                </a:lnTo>
                <a:lnTo>
                  <a:pt x="12192000" y="1934308"/>
                </a:lnTo>
                <a:lnTo>
                  <a:pt x="0" y="1934308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90000"/>
                  <a:lumOff val="1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190500" dist="127000" dir="2700000" algn="tl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2" name="图片 1">
            <a:extLst xmlns:a="http://schemas.openxmlformats.org/drawingml/2006/main">
              <a:ext uri="{FF2B5EF4-FFF2-40B4-BE49-F238E27FC236}">
                <a16:creationId xmlns:a16="http://schemas.microsoft.com/office/drawing/2014/main" id="{6442A54F-E973-4931-B668-6F6F958B8C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1dc9473932455c">
            <a:extLst>
              <a:ext uri="{96DAC541-7B7A-43D3-8B79-37D633B846F1}">
                <asvg:svgBlip xmlns:asvg="http://schemas.microsoft.com/office/drawing/2016/SVG/main" r:embed="R9f301a73e9f14bc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5285" y="254635"/>
            <a:ext cx="431165" cy="431165"/>
          </a:xfrm>
          <a:prstGeom xmlns:a="http://schemas.openxmlformats.org/drawingml/2006/main" prst="rect">
            <a:avLst/>
          </a:prstGeom>
        </p:spPr>
      </p:pic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A6E3BFAE-12F4-47A8-97FD-9F4D9D2E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"/>
            <a:ext cx="1085850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Part I · Structure and performance</a:t>
            </a:r>
            <a:endParaRPr sz="2800" b="1">
              <a:solidFill>
                <a:schemeClr val="accent1"/>
              </a:solidFill>
            </a:endParaRP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E791501-E9DE-4EA4-A5AC-3FF9619E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388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rPr>
              <a:t>Ren et al., Surf. Coat. Technol., 2011, Fig. 2, Fig. 5 and Table 1.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5445847-AF4F-4466-9395-EA9B210C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07695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pic>
        <p:nvPic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3A48C4A-15FD-4956-9247-EB5FDAB410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efcf1cc020419b"/>
          <a:stretch xmlns:a="http://schemas.openxmlformats.org/drawingml/2006/main"/>
        </p:blipFill>
        <p:spPr>
          <a:xfrm xmlns:a="http://schemas.openxmlformats.org/drawingml/2006/main">
            <a:off x="804435" y="1171575"/>
            <a:ext cx="5706330" cy="4286250"/>
          </a:xfrm>
          <a:prstGeom xmlns:a="http://schemas.openxmlformats.org/drawingml/2006/main" prst="rect">
            <a:avLst/>
          </a:prstGeom>
        </p:spPr>
      </p:pic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12F8761-7DFF-4EA2-9901-F448650F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162050"/>
            <a:ext cx="4667250" cy="4552950"/>
          </a:xfrm>
          <a:prstGeom xmlns:a="http://schemas.openxmlformats.org/drawingml/2006/main" prst="roundRect">
            <a:avLst>
              <a:gd name="adj" fmla="val 7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677C695-5CBD-497B-9A1B-8A8A803A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3525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SEM: AY1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2790EA6-AB64-4814-9FF4-82EFF7B4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771650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Interlayer beneath YSZ (d).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4A2AC0A-CC2D-4064-A0C1-9412DE8B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77177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1000 °C · 200 h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A37C1AF-BAAB-4892-A204-6E7658FD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90875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Mass gain: 1.04 vs. 2.23 mg/cm²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AY3 + YSZ / YSZ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D513D4B-03F9-450B-B811-CF307FB5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33387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Thermal drop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8F0F929-6A07-4265-8F56-8AFE6FBF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752975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205 vs. 156 °C (dual / YSZ)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150 μm total thickness</a:t>
            </a:r>
          </a:p>
        </p:txBody>
      </p:sp>
    </p:spTree>
    <p:extLst>
      <p:ext uri="{BB962C8B-B14F-4D97-AF65-F5344CB8AC3E}">
        <p14:creationId xmlns:p14="http://schemas.microsoft.com/office/powerpoint/2010/main" val="182215011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: 圆角 3">
            <a:extLst xmlns:a="http://schemas.openxmlformats.org/drawingml/2006/main">
              <a:ext uri="{FF2B5EF4-FFF2-40B4-BE49-F238E27FC236}">
                <a16:creationId xmlns:a16="http://schemas.microsoft.com/office/drawing/2014/main" id="{91FCB263-206C-403F-AAE3-53E9FC83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11536680" cy="627348"/>
          </a:xfrm>
          <a:prstGeom xmlns:a="http://schemas.openxmlformats.org/drawingml/2006/main" prst="roundRect">
            <a:avLst/>
          </a:prstGeom>
          <a:gradFill xmlns:a="http://schemas.openxmlformats.org/drawingml/2006/main" flip="none" rotWithShape="1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  <a:alpha val="0"/>
                </a:schemeClr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椭圆 4">
            <a:extLst xmlns:a="http://schemas.openxmlformats.org/drawingml/2006/main">
              <a:ext uri="{FF2B5EF4-FFF2-40B4-BE49-F238E27FC236}">
                <a16:creationId xmlns:a16="http://schemas.microsoft.com/office/drawing/2014/main" id="{F302A800-4BA8-4A0B-BF53-8EF0101D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82880"/>
            <a:ext cx="602269" cy="602269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chemeClr val="accent1">
                  <a:lumMod val="90000"/>
                  <a:lumOff val="1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190500" dist="127000" dir="2700000" algn="tl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A59FE1B5-3A19-40CC-853A-30D51BC5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"/>
            <a:ext cx="1085850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Part II · Al₂O₃–YAG on NiCoCrAlY</a:t>
            </a:r>
          </a:p>
        </p:txBody>
      </p:sp>
      <p:pic>
        <p:nvPicPr>
          <p:cNvPr id="2" name="图片 1">
            <a:extLst xmlns:a="http://schemas.openxmlformats.org/drawingml/2006/main">
              <a:ext uri="{FF2B5EF4-FFF2-40B4-BE49-F238E27FC236}">
                <a16:creationId xmlns:a16="http://schemas.microsoft.com/office/drawing/2014/main" id="{473C200C-4982-4887-B6E9-DEB328A54D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4fb32bd12741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5285" y="254635"/>
            <a:ext cx="431165" cy="431165"/>
          </a:xfrm>
          <a:prstGeom xmlns:a="http://schemas.openxmlformats.org/drawingml/2006/main" prst="rect">
            <a:avLst/>
          </a:prstGeom>
        </p:spPr>
      </p:pic>
      <p:sp>
        <p:nvSpPr>
          <p:cNvPr id="12" name="矩形: 圆角 27">
            <a:extLst xmlns:a="http://schemas.openxmlformats.org/drawingml/2006/main">
              <a:ext uri="{FF2B5EF4-FFF2-40B4-BE49-F238E27FC236}">
                <a16:creationId xmlns:a16="http://schemas.microsoft.com/office/drawing/2014/main" id="{C0731616-FE2B-4FE1-8D87-01746364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86220"/>
            <a:ext cx="12191365" cy="28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sx="102000" sy="102000" algn="ctr" rotWithShape="0">
              <a:schemeClr val="accent1"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/>
          </a:p>
        </p:txBody>
      </p:sp>
      <p:sp>
        <p:nvSpPr>
          <p:cNvPr id="60" name="任意多边形: 形状 59">
            <a:extLst xmlns:a="http://schemas.openxmlformats.org/drawingml/2006/main">
              <a:ext uri="{FF2B5EF4-FFF2-40B4-BE49-F238E27FC236}">
                <a16:creationId xmlns:a16="http://schemas.microsoft.com/office/drawing/2014/main" id="{86C9E0BC-4F3F-46A0-AB3D-90876C6C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89065"/>
            <a:ext cx="12192635" cy="422910"/>
          </a:xfrm>
          <a:custGeom xmlns:a="http://schemas.openxmlformats.org/drawingml/2006/main">
            <a:gdLst>
              <a:gd name="connsiteX0" fmla="*/ 0 w 12192000"/>
              <a:gd name="connsiteY0" fmla="*/ 0 h 1934308"/>
              <a:gd name="connsiteX1" fmla="*/ 12192000 w 12192000"/>
              <a:gd name="connsiteY1" fmla="*/ 0 h 1934308"/>
              <a:gd name="connsiteX2" fmla="*/ 12192000 w 12192000"/>
              <a:gd name="connsiteY2" fmla="*/ 1934308 h 1934308"/>
              <a:gd name="connsiteX3" fmla="*/ 0 w 12192000"/>
              <a:gd name="connsiteY3" fmla="*/ 1934308 h 1934308"/>
            </a:gdLst>
            <a:rect l="l" t="t" r="r" b="b"/>
            <a:pathLst>
              <a:path w="12192000" h="1934308">
                <a:moveTo>
                  <a:pt x="0" y="0"/>
                </a:moveTo>
                <a:lnTo>
                  <a:pt x="12192000" y="0"/>
                </a:lnTo>
                <a:lnTo>
                  <a:pt x="12192000" y="1934308"/>
                </a:lnTo>
                <a:lnTo>
                  <a:pt x="0" y="1934308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90000"/>
                  <a:lumOff val="1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190500" dist="127000" dir="2700000" algn="tl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1416A34-5AF2-45C8-A147-2A8D20E4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388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rPr>
              <a:t>Ren et al., Appl. Surf. Sci., 2012. Original schematic; not to scale.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179A261-6477-487C-9540-F32C6D71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07695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B1B106E-EB08-4649-8BA0-D4BD3D33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62050"/>
            <a:ext cx="6762750" cy="4552950"/>
          </a:xfrm>
          <a:prstGeom xmlns:a="http://schemas.openxmlformats.org/drawingml/2006/main" prst="roundRect">
            <a:avLst>
              <a:gd name="adj" fmla="val 7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E1ED1D3-96DF-4ECC-B8DC-7173A0C0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162050"/>
            <a:ext cx="4333875" cy="4552950"/>
          </a:xfrm>
          <a:prstGeom xmlns:a="http://schemas.openxmlformats.org/drawingml/2006/main" prst="roundRect">
            <a:avLst>
              <a:gd name="adj" fmla="val 79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37B7D5D-22C0-4AD7-815F-4EF5934E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52550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Al₂O₃–YAG directly on the alloy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7C50070-E097-4E4F-A895-191EC67A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90975"/>
            <a:ext cx="3190875" cy="8048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2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9FF2C14-F06C-4911-834D-F68FA6B7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86113"/>
            <a:ext cx="3190875" cy="8048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6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86CFCA8-4AE1-412F-86C2-A2C5AAB5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566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58460B2-E749-4AAD-9F02-614DCC62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748088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56BD009-AD59-44A5-A0D7-0BBA6A39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5337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F1856DA-7F64-46C2-8E35-DE390E58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31946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36F9A0F-4BA6-4B77-8D66-1403FC43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671888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0F16EB5-026C-4947-8001-47F4DE1F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4575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FEE8E0D-2B3F-4B12-B7C6-6CA6236A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100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699357C-2EEB-4AD4-A0D6-CBC97681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595688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4B2BC84-7BA9-4823-BA48-D45C26EC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3813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D2C7417-072A-4C10-8415-F6760C59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7338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E0C2E83-90DD-4520-8E84-D2B9CD9F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519488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1A33A78-899F-428A-B306-05C92D51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051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871411F-A1D0-4D8D-B1D9-4492F6E8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576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AE9E8FA-22DC-40C7-B1DF-2A6644EB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443288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FB666F1-BE55-41CF-ADE0-464B1F7B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9571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C728ABB-D756-4AAA-A5E6-9D60D787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5814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AE30524-6B3E-499E-96BA-B396C07B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67088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9D39038-1A2D-4964-A946-3D84E492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1951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1CFC232-5E8D-4DD5-BDF2-0969A823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209925"/>
            <a:ext cx="2619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Al₂O₃ matrix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+ YAG particles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20204A2-7864-4E31-8212-90B3D60A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257675"/>
            <a:ext cx="2619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NiCoCrAlY alloy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AA9B18E-F1F3-435B-A0C4-94227D47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219325"/>
            <a:ext cx="361950" cy="571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E3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4F90678-AFCD-41CB-987E-1D22F5AA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050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Oxygen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19A7912-4275-4B9B-B484-80A28097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162550"/>
            <a:ext cx="623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Bulk NiCoCrAlY substrate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21811A8-2149-443A-B6DE-997E411C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1419225"/>
            <a:ext cx="3914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Design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62AFC91-097B-419C-9854-33494A32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1838325"/>
            <a:ext cx="39147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Al₂O₃ matrix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+ dispersed YAG.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D48ED56-31DE-4332-9B4A-48CA348E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486150"/>
            <a:ext cx="3914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Aim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8FF1F26-BC1B-42EA-AA6D-7DF12094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905250"/>
            <a:ext cx="39147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Less oxidation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and spallation.</a:t>
            </a:r>
          </a:p>
        </p:txBody>
      </p:sp>
    </p:spTree>
    <p:extLst>
      <p:ext uri="{BB962C8B-B14F-4D97-AF65-F5344CB8AC3E}">
        <p14:creationId xmlns:p14="http://schemas.microsoft.com/office/powerpoint/2010/main" val="40515661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: 圆角 3">
            <a:extLst xmlns:a="http://schemas.openxmlformats.org/drawingml/2006/main">
              <a:ext uri="{FF2B5EF4-FFF2-40B4-BE49-F238E27FC236}">
                <a16:creationId xmlns:a16="http://schemas.microsoft.com/office/drawing/2014/main" id="{8C2ECF34-1F43-4D51-AFB4-C65AD367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11536680" cy="627348"/>
          </a:xfrm>
          <a:prstGeom xmlns:a="http://schemas.openxmlformats.org/drawingml/2006/main" prst="roundRect">
            <a:avLst/>
          </a:prstGeom>
          <a:gradFill xmlns:a="http://schemas.openxmlformats.org/drawingml/2006/main" flip="none" rotWithShape="1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  <a:alpha val="0"/>
                </a:schemeClr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椭圆 4">
            <a:extLst xmlns:a="http://schemas.openxmlformats.org/drawingml/2006/main">
              <a:ext uri="{FF2B5EF4-FFF2-40B4-BE49-F238E27FC236}">
                <a16:creationId xmlns:a16="http://schemas.microsoft.com/office/drawing/2014/main" id="{A370612A-A59C-4CDD-8706-65997A19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82880"/>
            <a:ext cx="602269" cy="602269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chemeClr val="accent1">
                  <a:lumMod val="90000"/>
                  <a:lumOff val="1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190500" dist="127000" dir="2700000" algn="tl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E40FC16F-C799-4D41-97D5-DE6F2304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"/>
            <a:ext cx="1085850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def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Part II · Preparation</a:t>
            </a:r>
          </a:p>
        </p:txBody>
      </p:sp>
      <p:sp>
        <p:nvSpPr>
          <p:cNvPr id="28" name="矩形: 圆角 27">
            <a:extLst xmlns:a="http://schemas.openxmlformats.org/drawingml/2006/main">
              <a:ext uri="{FF2B5EF4-FFF2-40B4-BE49-F238E27FC236}">
                <a16:creationId xmlns:a16="http://schemas.microsoft.com/office/drawing/2014/main" id="{E722AC7E-893F-49C3-8627-54A80621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86220"/>
            <a:ext cx="12191365" cy="28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sx="102000" sy="102000" algn="ctr" rotWithShape="0">
              <a:schemeClr val="accent1"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/>
          </a:p>
        </p:txBody>
      </p:sp>
      <p:pic>
        <p:nvPicPr>
          <p:cNvPr id="2" name="图片 1">
            <a:extLst xmlns:a="http://schemas.openxmlformats.org/drawingml/2006/main">
              <a:ext uri="{FF2B5EF4-FFF2-40B4-BE49-F238E27FC236}">
                <a16:creationId xmlns:a16="http://schemas.microsoft.com/office/drawing/2014/main" id="{02EC9593-C83B-4F56-924F-237447CA02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b63cf7517e4fc9">
            <a:extLst>
              <a:ext uri="{96DAC541-7B7A-43D3-8B79-37D633B846F1}">
                <asvg:svgBlip xmlns:asvg="http://schemas.microsoft.com/office/drawing/2016/SVG/main" r:embed="R65f61507eee948cc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5285" y="254635"/>
            <a:ext cx="431165" cy="431165"/>
          </a:xfrm>
          <a:prstGeom xmlns:a="http://schemas.openxmlformats.org/drawingml/2006/main" prst="rect">
            <a:avLst/>
          </a:prstGeom>
        </p:spPr>
      </p:pic>
      <p:sp>
        <p:nvSpPr>
          <p:cNvPr id="60" name="任意多边形: 形状 59">
            <a:extLst xmlns:a="http://schemas.openxmlformats.org/drawingml/2006/main">
              <a:ext uri="{FF2B5EF4-FFF2-40B4-BE49-F238E27FC236}">
                <a16:creationId xmlns:a16="http://schemas.microsoft.com/office/drawing/2014/main" id="{D24955CA-F665-444A-8591-D18D29E4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89065"/>
            <a:ext cx="12192635" cy="422910"/>
          </a:xfrm>
          <a:custGeom xmlns:a="http://schemas.openxmlformats.org/drawingml/2006/main">
            <a:gdLst>
              <a:gd name="connsiteX0" fmla="*/ 0 w 12192000"/>
              <a:gd name="connsiteY0" fmla="*/ 0 h 1934308"/>
              <a:gd name="connsiteX1" fmla="*/ 12192000 w 12192000"/>
              <a:gd name="connsiteY1" fmla="*/ 0 h 1934308"/>
              <a:gd name="connsiteX2" fmla="*/ 12192000 w 12192000"/>
              <a:gd name="connsiteY2" fmla="*/ 1934308 h 1934308"/>
              <a:gd name="connsiteX3" fmla="*/ 0 w 12192000"/>
              <a:gd name="connsiteY3" fmla="*/ 1934308 h 1934308"/>
            </a:gdLst>
            <a:rect l="l" t="t" r="r" b="b"/>
            <a:pathLst>
              <a:path w="12192000" h="1934308">
                <a:moveTo>
                  <a:pt x="0" y="0"/>
                </a:moveTo>
                <a:lnTo>
                  <a:pt x="12192000" y="0"/>
                </a:lnTo>
                <a:lnTo>
                  <a:pt x="12192000" y="1934308"/>
                </a:lnTo>
                <a:lnTo>
                  <a:pt x="0" y="1934308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90000"/>
                  <a:lumOff val="1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190500" dist="127000" dir="2700000" algn="tl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FFD2BF0-ECBA-4F07-BDAC-60A1D286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388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rPr>
              <a:t>Ren et al., Appl. Surf. Sci., 2012, §2, Figs. 3–5. PFMS temperature not stated.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54AD436-9721-4B6A-B3EA-BBD40890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07695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rPr>
              <a:t>06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8C4613F-6093-4EF1-9977-FC42D96A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62050"/>
            <a:ext cx="2619375" cy="4562475"/>
          </a:xfrm>
          <a:prstGeom xmlns:a="http://schemas.openxmlformats.org/drawingml/2006/main" prst="roundRect">
            <a:avLst>
              <a:gd name="adj" fmla="val 13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C233E90-E0C8-4D21-96E8-6C3B83C2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343025"/>
            <a:ext cx="2305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1 · Surface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7424DFF-052B-45C2-85E4-67BB15B1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019425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2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7986378-4AD5-498F-82BE-FE287816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590800"/>
            <a:ext cx="1428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0D00F70-672A-4964-BF40-0C0E59BD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71775"/>
            <a:ext cx="400050" cy="2190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3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EA31CA9-6752-4747-A1E7-B32779C8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295775"/>
            <a:ext cx="23145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1000-grit SiC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Acetone cleaning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A932B32-F2B0-4723-A6D4-70C96F85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076575"/>
            <a:ext cx="1905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3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4BDF300-56C0-4825-8C63-694569A0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162050"/>
            <a:ext cx="2619375" cy="4562475"/>
          </a:xfrm>
          <a:prstGeom xmlns:a="http://schemas.openxmlformats.org/drawingml/2006/main" prst="roundRect">
            <a:avLst>
              <a:gd name="adj" fmla="val 13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E70A954-E352-42D4-9B9C-ADA50D03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343025"/>
            <a:ext cx="2305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2 · Precursor sol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327E8D3-1F28-40DF-988C-A4EFB4A9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400300"/>
            <a:ext cx="1809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396DEF2-2399-4C97-905C-203BD3D6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28913"/>
            <a:ext cx="1752600" cy="9572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D5431BC-D243-4583-9E36-DBC14C15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00418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4013F0C-FE77-4674-BF9B-6C9A9292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35661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CB037E6-C7CB-4F44-AD92-4A9DA9A1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9276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2A2A3D8-AE0B-4106-AD0B-E3B17125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44519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7FE48D1-01F7-4681-A02C-D9E720B5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813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29A8AA6-D9F3-4A40-A27E-29B83097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917507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54377E3-E771-463C-AC48-72C91D53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69932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3B2DB1A-A5A1-4359-9D22-02D3B2B8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00609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C46AC0A-AE44-4B43-A998-6A701BD2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35851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8C17B8D-3205-4FB2-A47D-1482532E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09467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1B2963E-46C0-4FA4-A2B9-1B39E0B3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4709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4593E0A-7D35-489E-B2D1-80AC85C6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18325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D54EFE3-92E6-4006-B42D-2E6308EB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19412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1DBDE59-549D-4C77-97AD-5C8AEB08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271837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9D5D1BC-EDB2-48CC-A2A9-4622FF56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0799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4214E03-47B9-41AA-BEA7-8C365389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295775"/>
            <a:ext cx="23145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Boehmite + Y³⁺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α-Al₂O₃ seeds + PEG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C65CE36-B7F0-46E3-9D5F-1A923E2C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76575"/>
            <a:ext cx="1905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3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1AB794A-2F19-456D-9074-435D2C5A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162050"/>
            <a:ext cx="2619375" cy="4562475"/>
          </a:xfrm>
          <a:prstGeom xmlns:a="http://schemas.openxmlformats.org/drawingml/2006/main" prst="roundRect">
            <a:avLst>
              <a:gd name="adj" fmla="val 13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9B90AC3-2883-43A8-BAF4-C232CE09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343025"/>
            <a:ext cx="2305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3 · EPD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9D75873-F8D2-44B8-B511-0B073772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00300"/>
            <a:ext cx="1809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8E1DF8C-5718-4719-B582-2F497F00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728913"/>
            <a:ext cx="1752600" cy="9572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2B3A796-CBC0-4667-83F2-EB8CEDDB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00418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8F709B6-EE2F-40FE-8041-417E351E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5661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FA906FC-590D-4D74-B7C1-34315769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9276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B32F0FC-C6B2-4E5F-86CF-503C0565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4519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79559C2-8DAF-42FC-B32E-19890820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1813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BBBF5F4-6588-4F2B-B571-0208DCFF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7507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8B3CB98-762C-4F7D-A606-AFA12443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269932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33B56C8-72C0-46F7-B9FA-364BDF85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0609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FD4B754-A03B-4FE9-979B-62791743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35851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8AFE73F-5236-4E95-BB04-590D230D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9467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78E4D6D-5963-4DE7-ADC6-C13FD3FD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44709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A51B5DC-A186-49CF-BB43-79CA1754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18325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04CF33A-70F1-41C0-940A-1F6A7851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919412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771CB18-E48F-4504-90D6-B2B467C0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71837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E2AD57F-C516-47B4-A04E-493F0C25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00799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56444F3-A180-4494-BF5B-1B848FF9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476500"/>
            <a:ext cx="9525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F20C0C5-0C17-428A-A461-BFBAF787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7645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45270EB-DE43-4D85-A306-1061B610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76500"/>
            <a:ext cx="9525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3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8231213-E60D-4F90-A283-40023ECD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7645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135A778-7DBF-4612-BC6B-203852A4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76500"/>
            <a:ext cx="13335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070491A-67B5-4A5D-97A5-700265E6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28913"/>
            <a:ext cx="38100" cy="8429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AE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15D40FD-9E7E-457E-A6D1-279DC310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728913"/>
            <a:ext cx="38100" cy="8429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AE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DE26E23-BB5F-4F52-98BC-3325AB4A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07645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51CCD67-C219-4C54-9553-C7F9532FF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88970"/>
            <a:ext cx="35242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3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A69B765E-1D45-4A9C-A31C-3AC3261A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188970"/>
            <a:ext cx="352425" cy="1333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0E3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0D80E60-E0D0-48A6-A7BF-054648D5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295775"/>
            <a:ext cx="23145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3.0 mA/cm²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8 min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BB645CE-0421-4E2E-A1C8-7A8F0D1B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076575"/>
            <a:ext cx="1905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3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084D03E-21EE-4F5A-B168-9B3CFA63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162050"/>
            <a:ext cx="2619375" cy="4562475"/>
          </a:xfrm>
          <a:prstGeom xmlns:a="http://schemas.openxmlformats.org/drawingml/2006/main" prst="roundRect">
            <a:avLst>
              <a:gd name="adj" fmla="val 13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362542D-E7C0-460C-A3D8-6334C261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343025"/>
            <a:ext cx="2305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4 · PFMS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25E1FE7-97B6-419D-BD7B-1146344D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223260"/>
            <a:ext cx="2000250" cy="4829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2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DAAF6CE-E93D-4AFB-B267-B83A0534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40343"/>
            <a:ext cx="2000250" cy="4829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6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AD868DE-4235-4CD8-9987-007A3269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949893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CCCD4F17-A9BF-467F-8014-158A3275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057525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65C5C56-9374-4C1A-91B3-3CE2886F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920365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020FCB9-D6EC-4E36-B4BE-88B8D549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027998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CEB89D91-0DCD-481C-AFC4-3F9D47BA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890838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A5B3EA58-D5DA-4C37-9EE7-9201D14F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998470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7C183422-2AF9-4061-AFCA-9E74F77C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2861310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D01F8CA-DFBB-4628-923D-8A0B323C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68942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9A8968DD-CE29-4C9E-ABF2-5ACEB536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831782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88EFE6CF-73F4-4B46-A696-354B80B0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939415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6C0554D5-4C78-45F6-B890-C43621A8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047048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07908B55-1FF8-4000-8B31-4294C042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909887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529999C2-8691-41F5-A3FC-9AB3453C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017520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9802053B-2178-4486-8A2D-B4FBC924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80360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F9E84A4C-881C-41B8-B26B-7442B2F7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987992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E879BF01-6FD9-4002-B915-5C74139E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50832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FF4BFC5D-C3EF-43EA-B67A-92490976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958465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BA6BCCC7-2E78-45E8-868A-F425A164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66097"/>
            <a:ext cx="74295" cy="7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EEA61B60-E795-4271-AFB9-94D6462A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447925"/>
            <a:ext cx="2257425" cy="1438275"/>
          </a:xfrm>
          <a:prstGeom xmlns:a="http://schemas.openxmlformats.org/drawingml/2006/main" prst="roundRect">
            <a:avLst>
              <a:gd name="adj" fmla="val 5298"/>
            </a:avLst>
          </a:prstGeom>
          <a:noFill xmlns:a="http://schemas.openxmlformats.org/drawingml/2006/main"/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635D3EAF-E21A-4AA9-8087-4E442288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295775"/>
            <a:ext cx="23145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PFMS: 1 h</a:t>
            </a:r>
          </a:p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α-Al₂O₃ + YAG</a:t>
            </a:r>
          </a:p>
        </p:txBody>
      </p:sp>
    </p:spTree>
    <p:extLst>
      <p:ext uri="{BB962C8B-B14F-4D97-AF65-F5344CB8AC3E}">
        <p14:creationId xmlns:p14="http://schemas.microsoft.com/office/powerpoint/2010/main" val="135532299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: 圆角 3">
            <a:extLst xmlns:a="http://schemas.openxmlformats.org/drawingml/2006/main">
              <a:ext uri="{FF2B5EF4-FFF2-40B4-BE49-F238E27FC236}">
                <a16:creationId xmlns:a16="http://schemas.microsoft.com/office/drawing/2014/main" id="{35530101-D90A-49E8-97D0-5A102578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11536680" cy="627348"/>
          </a:xfrm>
          <a:prstGeom xmlns:a="http://schemas.openxmlformats.org/drawingml/2006/main" prst="roundRect">
            <a:avLst/>
          </a:prstGeom>
          <a:gradFill xmlns:a="http://schemas.openxmlformats.org/drawingml/2006/main" flip="none" rotWithShape="1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  <a:alpha val="0"/>
                </a:schemeClr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椭圆 4">
            <a:extLst xmlns:a="http://schemas.openxmlformats.org/drawingml/2006/main">
              <a:ext uri="{FF2B5EF4-FFF2-40B4-BE49-F238E27FC236}">
                <a16:creationId xmlns:a16="http://schemas.microsoft.com/office/drawing/2014/main" id="{063D5182-B4E7-42CF-B422-86CE333E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82880"/>
            <a:ext cx="602269" cy="602269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chemeClr val="accent1">
                  <a:lumMod val="90000"/>
                  <a:lumOff val="1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190500" dist="127000" dir="2700000" algn="tl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358E8634-E711-4FE5-BFA1-C21D6143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"/>
            <a:ext cx="10858500" cy="469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ct val="0"/>
              </a:spcBef>
              <a:spcAft>
                <a:spcPts val="400"/>
              </a:spcAft>
              <a:buNone/>
              <a:def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Part II · Structure and performance</a:t>
            </a:r>
            <a:endParaRPr sz="2800" b="1">
              <a:solidFill>
                <a:schemeClr val="accent1"/>
              </a:solidFill>
            </a:endParaRPr>
          </a:p>
        </p:txBody>
      </p:sp>
      <p:sp>
        <p:nvSpPr>
          <p:cNvPr id="28" name="矩形: 圆角 27">
            <a:extLst xmlns:a="http://schemas.openxmlformats.org/drawingml/2006/main">
              <a:ext uri="{FF2B5EF4-FFF2-40B4-BE49-F238E27FC236}">
                <a16:creationId xmlns:a16="http://schemas.microsoft.com/office/drawing/2014/main" id="{82F9C24F-F6EE-4897-BF61-CD4C0182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86220"/>
            <a:ext cx="12191365" cy="28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sx="102000" sy="102000" algn="ctr" rotWithShape="0">
              <a:schemeClr val="accent1"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/>
          </a:p>
        </p:txBody>
      </p:sp>
      <p:pic>
        <p:nvPicPr>
          <p:cNvPr id="2" name="图片 1">
            <a:extLst xmlns:a="http://schemas.openxmlformats.org/drawingml/2006/main">
              <a:ext uri="{FF2B5EF4-FFF2-40B4-BE49-F238E27FC236}">
                <a16:creationId xmlns:a16="http://schemas.microsoft.com/office/drawing/2014/main" id="{C7BD54B9-1E50-42D7-9D96-0315C9DCFF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2965509022425d">
            <a:extLst>
              <a:ext uri="{96DAC541-7B7A-43D3-8B79-37D633B846F1}">
                <asvg:svgBlip xmlns:asvg="http://schemas.microsoft.com/office/drawing/2016/SVG/main" r:embed="R66b1f26e4f2b4eb6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5285" y="254635"/>
            <a:ext cx="431165" cy="431165"/>
          </a:xfrm>
          <a:prstGeom xmlns:a="http://schemas.openxmlformats.org/drawingml/2006/main" prst="rect">
            <a:avLst/>
          </a:prstGeom>
        </p:spPr>
      </p:pic>
      <p:sp>
        <p:nvSpPr>
          <p:cNvPr id="60" name="任意多边形: 形状 59">
            <a:extLst xmlns:a="http://schemas.openxmlformats.org/drawingml/2006/main">
              <a:ext uri="{FF2B5EF4-FFF2-40B4-BE49-F238E27FC236}">
                <a16:creationId xmlns:a16="http://schemas.microsoft.com/office/drawing/2014/main" id="{526D80C5-2A5B-435D-9937-CBE6AC66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89065"/>
            <a:ext cx="12192635" cy="422910"/>
          </a:xfrm>
          <a:custGeom xmlns:a="http://schemas.openxmlformats.org/drawingml/2006/main">
            <a:gdLst>
              <a:gd name="connsiteX0" fmla="*/ 0 w 12192000"/>
              <a:gd name="connsiteY0" fmla="*/ 0 h 1934308"/>
              <a:gd name="connsiteX1" fmla="*/ 12192000 w 12192000"/>
              <a:gd name="connsiteY1" fmla="*/ 0 h 1934308"/>
              <a:gd name="connsiteX2" fmla="*/ 12192000 w 12192000"/>
              <a:gd name="connsiteY2" fmla="*/ 1934308 h 1934308"/>
              <a:gd name="connsiteX3" fmla="*/ 0 w 12192000"/>
              <a:gd name="connsiteY3" fmla="*/ 1934308 h 1934308"/>
            </a:gdLst>
            <a:rect l="l" t="t" r="r" b="b"/>
            <a:pathLst>
              <a:path w="12192000" h="1934308">
                <a:moveTo>
                  <a:pt x="0" y="0"/>
                </a:moveTo>
                <a:lnTo>
                  <a:pt x="12192000" y="0"/>
                </a:lnTo>
                <a:lnTo>
                  <a:pt x="12192000" y="1934308"/>
                </a:lnTo>
                <a:lnTo>
                  <a:pt x="0" y="1934308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90000"/>
                  <a:lumOff val="1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190500" dist="127000" dir="2700000" algn="tl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76E72E4-A88B-49B7-A621-A84CE36D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388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rPr>
              <a:t>Ren et al., Appl. Surf. Sci., 2012, Figs. 4–7. Fig. 7: 1050 °C; text differs.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53F8350-675E-4162-BC56-552A9546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07695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rPr>
              <a:t>07</a:t>
            </a:r>
          </a:p>
        </p:txBody>
      </p:sp>
      <p:pic>
        <p:nvPic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6E8EF3D-12A4-436F-A37A-56DBA5598E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1b19099a6e4d11"/>
          <a:stretch xmlns:a="http://schemas.openxmlformats.org/drawingml/2006/main"/>
        </p:blipFill>
        <p:spPr>
          <a:xfrm xmlns:a="http://schemas.openxmlformats.org/drawingml/2006/main">
            <a:off x="798419" y="1171575"/>
            <a:ext cx="5718362" cy="4286250"/>
          </a:xfrm>
          <a:prstGeom xmlns:a="http://schemas.openxmlformats.org/drawingml/2006/main" prst="rect">
            <a:avLst/>
          </a:prstGeom>
        </p:spPr>
      </p:pic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80C81E8-BC4F-4B37-8DE5-B2F1228C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162050"/>
            <a:ext cx="4667250" cy="4552950"/>
          </a:xfrm>
          <a:prstGeom xmlns:a="http://schemas.openxmlformats.org/drawingml/2006/main" prst="roundRect">
            <a:avLst>
              <a:gd name="adj" fmla="val 75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AF00B85-A83C-4565-A600-BA59B8C4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3430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SEM + XRD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E64959C-B190-4CAC-81EE-9ED2CEE3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762125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Fine YAG in an Al₂O₃ matrix.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70926D3-DE38-4EF9-93AD-D92271C1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7813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AY1: lowest mass gain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8833CCC-4CF6-45CC-AE9B-108871D7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200400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≈ 0.19 mg/cm² at 200 h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B3B091E-04B7-4406-98A0-9803CF0A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1243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AY3: lowest spallation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FB8945F-C743-4A4A-A518-D7982B79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543425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0.11 mg/cm² at 200 h</a:t>
            </a:r>
          </a:p>
        </p:txBody>
      </p:sp>
    </p:spTree>
    <p:extLst>
      <p:ext uri="{BB962C8B-B14F-4D97-AF65-F5344CB8AC3E}">
        <p14:creationId xmlns:p14="http://schemas.microsoft.com/office/powerpoint/2010/main" val="82504625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: 圆角 3">
            <a:extLst xmlns:a="http://schemas.openxmlformats.org/drawingml/2006/main">
              <a:ext uri="{FF2B5EF4-FFF2-40B4-BE49-F238E27FC236}">
                <a16:creationId xmlns:a16="http://schemas.microsoft.com/office/drawing/2014/main" id="{D4FBFBD7-5A3E-4F52-A758-74FEBDF2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11536680" cy="627348"/>
          </a:xfrm>
          <a:prstGeom xmlns:a="http://schemas.openxmlformats.org/drawingml/2006/main" prst="roundRect">
            <a:avLst/>
          </a:prstGeom>
          <a:gradFill xmlns:a="http://schemas.openxmlformats.org/drawingml/2006/main" flip="none" rotWithShape="1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  <a:alpha val="0"/>
                </a:schemeClr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椭圆 4">
            <a:extLst xmlns:a="http://schemas.openxmlformats.org/drawingml/2006/main">
              <a:ext uri="{FF2B5EF4-FFF2-40B4-BE49-F238E27FC236}">
                <a16:creationId xmlns:a16="http://schemas.microsoft.com/office/drawing/2014/main" id="{608C781D-D105-471F-9641-F1971B1F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82880"/>
            <a:ext cx="602269" cy="602269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chemeClr val="accent1">
                  <a:lumMod val="90000"/>
                  <a:lumOff val="1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190500" dist="127000" dir="2700000" algn="tl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BE0B43D9-9313-4A29-85FA-8A614D05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"/>
            <a:ext cx="10858500" cy="469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ct val="0"/>
              </a:spcBef>
              <a:spcAft>
                <a:spcPts val="400"/>
              </a:spcAft>
              <a:buNone/>
              <a:def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Part III · Proposed route: anchor, then seal</a:t>
            </a:r>
            <a:endParaRPr sz="2800" b="1">
              <a:solidFill>
                <a:schemeClr val="accent1"/>
              </a:solidFill>
            </a:endParaRPr>
          </a:p>
        </p:txBody>
      </p:sp>
      <p:sp>
        <p:nvSpPr>
          <p:cNvPr id="28" name="矩形: 圆角 27">
            <a:extLst xmlns:a="http://schemas.openxmlformats.org/drawingml/2006/main">
              <a:ext uri="{FF2B5EF4-FFF2-40B4-BE49-F238E27FC236}">
                <a16:creationId xmlns:a16="http://schemas.microsoft.com/office/drawing/2014/main" id="{EA366722-F15B-403B-A326-BC446D06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86220"/>
            <a:ext cx="12191365" cy="28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sx="102000" sy="102000" algn="ctr" rotWithShape="0">
              <a:schemeClr val="accent1"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/>
          </a:p>
        </p:txBody>
      </p:sp>
      <p:pic>
        <p:nvPicPr>
          <p:cNvPr id="2" name="图片 1">
            <a:extLst xmlns:a="http://schemas.openxmlformats.org/drawingml/2006/main">
              <a:ext uri="{FF2B5EF4-FFF2-40B4-BE49-F238E27FC236}">
                <a16:creationId xmlns:a16="http://schemas.microsoft.com/office/drawing/2014/main" id="{99B34C8C-9903-46BC-898B-B5339A1E77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f4eb2679634907">
            <a:extLst>
              <a:ext uri="{96DAC541-7B7A-43D3-8B79-37D633B846F1}">
                <asvg:svgBlip xmlns:asvg="http://schemas.microsoft.com/office/drawing/2016/SVG/main" r:embed="R9e7aea38e76741cc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5285" y="254635"/>
            <a:ext cx="431165" cy="431165"/>
          </a:xfrm>
          <a:prstGeom xmlns:a="http://schemas.openxmlformats.org/drawingml/2006/main" prst="rect">
            <a:avLst/>
          </a:prstGeom>
        </p:spPr>
      </p:pic>
      <p:sp>
        <p:nvSpPr>
          <p:cNvPr id="60" name="任意多边形: 形状 59">
            <a:extLst xmlns:a="http://schemas.openxmlformats.org/drawingml/2006/main">
              <a:ext uri="{FF2B5EF4-FFF2-40B4-BE49-F238E27FC236}">
                <a16:creationId xmlns:a16="http://schemas.microsoft.com/office/drawing/2014/main" id="{B0BD6C1D-EEE4-47AD-A77A-FEDB8EAD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89065"/>
            <a:ext cx="12192635" cy="422910"/>
          </a:xfrm>
          <a:custGeom xmlns:a="http://schemas.openxmlformats.org/drawingml/2006/main">
            <a:gdLst>
              <a:gd name="connsiteX0" fmla="*/ 0 w 12192000"/>
              <a:gd name="connsiteY0" fmla="*/ 0 h 1934308"/>
              <a:gd name="connsiteX1" fmla="*/ 12192000 w 12192000"/>
              <a:gd name="connsiteY1" fmla="*/ 0 h 1934308"/>
              <a:gd name="connsiteX2" fmla="*/ 12192000 w 12192000"/>
              <a:gd name="connsiteY2" fmla="*/ 1934308 h 1934308"/>
              <a:gd name="connsiteX3" fmla="*/ 0 w 12192000"/>
              <a:gd name="connsiteY3" fmla="*/ 1934308 h 1934308"/>
            </a:gdLst>
            <a:rect l="l" t="t" r="r" b="b"/>
            <a:pathLst>
              <a:path w="12192000" h="1934308">
                <a:moveTo>
                  <a:pt x="0" y="0"/>
                </a:moveTo>
                <a:lnTo>
                  <a:pt x="12192000" y="0"/>
                </a:lnTo>
                <a:lnTo>
                  <a:pt x="12192000" y="1934308"/>
                </a:lnTo>
                <a:lnTo>
                  <a:pt x="0" y="1934308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90000"/>
                  <a:lumOff val="1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190500" dist="127000" dir="2700000" algn="tl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94DD3E9-3D8A-4D71-8CD0-F8D1C536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388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rPr>
              <a:t>Proposed architecture; not to scale. Bonding and pore sealing require validation.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41069AB-0159-4A9B-BC60-2F4DDE05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07695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rPr>
              <a:t>08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E181C49-C771-4125-8A0D-8894D650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62050"/>
            <a:ext cx="3619500" cy="3914775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D700EC8-AD18-4DAE-98D2-275498DD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71600"/>
            <a:ext cx="3295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1 · Sol-assisted interface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F1865E6-9F4C-4578-A8C7-A31B38AA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57425"/>
            <a:ext cx="2952750" cy="1714500"/>
          </a:xfrm>
          <a:custGeom xmlns:a="http://schemas.openxmlformats.org/drawingml/2006/main">
            <a:pathLst>
              <a:path w="2952750" h="1714500">
                <a:moveTo>
                  <a:pt x="0" y="990600"/>
                </a:moveTo>
                <a:lnTo>
                  <a:pt x="285750" y="942975"/>
                </a:lnTo>
                <a:lnTo>
                  <a:pt x="523875" y="1038225"/>
                </a:lnTo>
                <a:lnTo>
                  <a:pt x="809625" y="895350"/>
                </a:lnTo>
                <a:lnTo>
                  <a:pt x="1076325" y="981075"/>
                </a:lnTo>
                <a:lnTo>
                  <a:pt x="1371600" y="933450"/>
                </a:lnTo>
                <a:lnTo>
                  <a:pt x="1638300" y="1066800"/>
                </a:lnTo>
                <a:lnTo>
                  <a:pt x="1971675" y="923925"/>
                </a:lnTo>
                <a:lnTo>
                  <a:pt x="2276475" y="1000125"/>
                </a:lnTo>
                <a:lnTo>
                  <a:pt x="2609850" y="923925"/>
                </a:lnTo>
                <a:lnTo>
                  <a:pt x="2952750" y="981075"/>
                </a:lnTo>
                <a:lnTo>
                  <a:pt x="2952750" y="1714500"/>
                </a:lnTo>
                <a:lnTo>
                  <a:pt x="0" y="1714500"/>
                </a:lnTo>
                <a:close/>
              </a:path>
            </a:pathLst>
          </a:custGeom>
          <a:solidFill xmlns:a="http://schemas.openxmlformats.org/drawingml/2006/main">
            <a:srgbClr val="A8B5C2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C2FFE68-2F06-4B46-8E29-298D3D7B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57425"/>
            <a:ext cx="2952750" cy="1714500"/>
          </a:xfrm>
          <a:custGeom xmlns:a="http://schemas.openxmlformats.org/drawingml/2006/main">
            <a:pathLst>
              <a:path w="2952750" h="1714500">
                <a:moveTo>
                  <a:pt x="0" y="933450"/>
                </a:moveTo>
                <a:lnTo>
                  <a:pt x="285750" y="885825"/>
                </a:lnTo>
                <a:lnTo>
                  <a:pt x="523875" y="981075"/>
                </a:lnTo>
                <a:lnTo>
                  <a:pt x="809625" y="838200"/>
                </a:lnTo>
                <a:lnTo>
                  <a:pt x="1076325" y="923925"/>
                </a:lnTo>
                <a:lnTo>
                  <a:pt x="1371600" y="876300"/>
                </a:lnTo>
                <a:lnTo>
                  <a:pt x="1638300" y="1009650"/>
                </a:lnTo>
                <a:lnTo>
                  <a:pt x="1971675" y="866775"/>
                </a:lnTo>
                <a:lnTo>
                  <a:pt x="2276475" y="942975"/>
                </a:lnTo>
                <a:lnTo>
                  <a:pt x="2609850" y="866775"/>
                </a:lnTo>
                <a:lnTo>
                  <a:pt x="2952750" y="923925"/>
                </a:lnTo>
                <a:lnTo>
                  <a:pt x="2952750" y="981075"/>
                </a:lnTo>
                <a:lnTo>
                  <a:pt x="2609850" y="923925"/>
                </a:lnTo>
                <a:lnTo>
                  <a:pt x="2276475" y="1000125"/>
                </a:lnTo>
                <a:lnTo>
                  <a:pt x="1971675" y="923925"/>
                </a:lnTo>
                <a:lnTo>
                  <a:pt x="1638300" y="1066800"/>
                </a:lnTo>
                <a:lnTo>
                  <a:pt x="1371600" y="933450"/>
                </a:lnTo>
                <a:lnTo>
                  <a:pt x="1076325" y="981075"/>
                </a:lnTo>
                <a:lnTo>
                  <a:pt x="809625" y="895350"/>
                </a:lnTo>
                <a:lnTo>
                  <a:pt x="523875" y="1038225"/>
                </a:lnTo>
                <a:lnTo>
                  <a:pt x="285750" y="942975"/>
                </a:lnTo>
                <a:lnTo>
                  <a:pt x="0" y="990600"/>
                </a:lnTo>
                <a:close/>
              </a:path>
            </a:pathLst>
          </a:custGeom>
          <a:solidFill xmlns:a="http://schemas.openxmlformats.org/drawingml/2006/main">
            <a:srgbClr val="7F8F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93F04A7-8D8C-46CF-AE47-11E9F83F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57425"/>
            <a:ext cx="2952750" cy="1714500"/>
          </a:xfrm>
          <a:custGeom xmlns:a="http://schemas.openxmlformats.org/drawingml/2006/main">
            <a:pathLst>
              <a:path w="2952750" h="1714500">
                <a:moveTo>
                  <a:pt x="0" y="828675"/>
                </a:moveTo>
                <a:lnTo>
                  <a:pt x="285750" y="781050"/>
                </a:lnTo>
                <a:lnTo>
                  <a:pt x="523875" y="876300"/>
                </a:lnTo>
                <a:lnTo>
                  <a:pt x="809625" y="733425"/>
                </a:lnTo>
                <a:lnTo>
                  <a:pt x="1076325" y="819150"/>
                </a:lnTo>
                <a:lnTo>
                  <a:pt x="1371600" y="771525"/>
                </a:lnTo>
                <a:lnTo>
                  <a:pt x="1638300" y="904875"/>
                </a:lnTo>
                <a:lnTo>
                  <a:pt x="1971675" y="762000"/>
                </a:lnTo>
                <a:lnTo>
                  <a:pt x="2276475" y="838200"/>
                </a:lnTo>
                <a:lnTo>
                  <a:pt x="2609850" y="762000"/>
                </a:lnTo>
                <a:lnTo>
                  <a:pt x="2952750" y="819150"/>
                </a:lnTo>
                <a:lnTo>
                  <a:pt x="2952750" y="923925"/>
                </a:lnTo>
                <a:lnTo>
                  <a:pt x="2609850" y="866775"/>
                </a:lnTo>
                <a:lnTo>
                  <a:pt x="2276475" y="942975"/>
                </a:lnTo>
                <a:lnTo>
                  <a:pt x="1971675" y="866775"/>
                </a:lnTo>
                <a:lnTo>
                  <a:pt x="1638300" y="1009650"/>
                </a:lnTo>
                <a:lnTo>
                  <a:pt x="1371600" y="876300"/>
                </a:lnTo>
                <a:lnTo>
                  <a:pt x="1076325" y="923925"/>
                </a:lnTo>
                <a:lnTo>
                  <a:pt x="809625" y="838200"/>
                </a:lnTo>
                <a:lnTo>
                  <a:pt x="523875" y="981075"/>
                </a:lnTo>
                <a:lnTo>
                  <a:pt x="285750" y="885825"/>
                </a:lnTo>
                <a:lnTo>
                  <a:pt x="0" y="933450"/>
                </a:lnTo>
                <a:close/>
              </a:path>
            </a:pathLst>
          </a:custGeom>
          <a:solidFill xmlns:a="http://schemas.openxmlformats.org/drawingml/2006/main">
            <a:srgbClr val="7CAE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C4C918C-BE7C-4371-B939-7C4D3185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33775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CoNiCrAlY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E346ABB-E461-41B7-82D1-84609090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95775"/>
            <a:ext cx="3295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Thin oxide + sol-derived layer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74EDC90-3219-49D2-A2D7-066DD972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00375"/>
            <a:ext cx="1428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3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38843D7-40D6-4482-A4A8-564EBC30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162050"/>
            <a:ext cx="3619500" cy="3914775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44A8D44-EFD7-43D3-8EC4-4B9FAE8E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371600"/>
            <a:ext cx="3295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2 · Al₂O₃-rich network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9879EB4-2BF5-440C-B22A-979F1058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57425"/>
            <a:ext cx="2952750" cy="1714500"/>
          </a:xfrm>
          <a:custGeom xmlns:a="http://schemas.openxmlformats.org/drawingml/2006/main">
            <a:pathLst>
              <a:path w="2952750" h="1714500">
                <a:moveTo>
                  <a:pt x="0" y="990600"/>
                </a:moveTo>
                <a:lnTo>
                  <a:pt x="285750" y="942975"/>
                </a:lnTo>
                <a:lnTo>
                  <a:pt x="523875" y="1038225"/>
                </a:lnTo>
                <a:lnTo>
                  <a:pt x="809625" y="895350"/>
                </a:lnTo>
                <a:lnTo>
                  <a:pt x="1076325" y="981075"/>
                </a:lnTo>
                <a:lnTo>
                  <a:pt x="1371600" y="933450"/>
                </a:lnTo>
                <a:lnTo>
                  <a:pt x="1638300" y="1066800"/>
                </a:lnTo>
                <a:lnTo>
                  <a:pt x="1971675" y="923925"/>
                </a:lnTo>
                <a:lnTo>
                  <a:pt x="2276475" y="1000125"/>
                </a:lnTo>
                <a:lnTo>
                  <a:pt x="2609850" y="923925"/>
                </a:lnTo>
                <a:lnTo>
                  <a:pt x="2952750" y="981075"/>
                </a:lnTo>
                <a:lnTo>
                  <a:pt x="2952750" y="1714500"/>
                </a:lnTo>
                <a:lnTo>
                  <a:pt x="0" y="1714500"/>
                </a:lnTo>
                <a:close/>
              </a:path>
            </a:pathLst>
          </a:custGeom>
          <a:solidFill xmlns:a="http://schemas.openxmlformats.org/drawingml/2006/main">
            <a:srgbClr val="A8B5C2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6B39476-3929-45CB-836D-C183A201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57425"/>
            <a:ext cx="2952750" cy="1714500"/>
          </a:xfrm>
          <a:custGeom xmlns:a="http://schemas.openxmlformats.org/drawingml/2006/main">
            <a:pathLst>
              <a:path w="2952750" h="1714500">
                <a:moveTo>
                  <a:pt x="0" y="933450"/>
                </a:moveTo>
                <a:lnTo>
                  <a:pt x="285750" y="885825"/>
                </a:lnTo>
                <a:lnTo>
                  <a:pt x="523875" y="981075"/>
                </a:lnTo>
                <a:lnTo>
                  <a:pt x="809625" y="838200"/>
                </a:lnTo>
                <a:lnTo>
                  <a:pt x="1076325" y="923925"/>
                </a:lnTo>
                <a:lnTo>
                  <a:pt x="1371600" y="876300"/>
                </a:lnTo>
                <a:lnTo>
                  <a:pt x="1638300" y="1009650"/>
                </a:lnTo>
                <a:lnTo>
                  <a:pt x="1971675" y="866775"/>
                </a:lnTo>
                <a:lnTo>
                  <a:pt x="2276475" y="942975"/>
                </a:lnTo>
                <a:lnTo>
                  <a:pt x="2609850" y="866775"/>
                </a:lnTo>
                <a:lnTo>
                  <a:pt x="2952750" y="923925"/>
                </a:lnTo>
                <a:lnTo>
                  <a:pt x="2952750" y="981075"/>
                </a:lnTo>
                <a:lnTo>
                  <a:pt x="2609850" y="923925"/>
                </a:lnTo>
                <a:lnTo>
                  <a:pt x="2276475" y="1000125"/>
                </a:lnTo>
                <a:lnTo>
                  <a:pt x="1971675" y="923925"/>
                </a:lnTo>
                <a:lnTo>
                  <a:pt x="1638300" y="1066800"/>
                </a:lnTo>
                <a:lnTo>
                  <a:pt x="1371600" y="933450"/>
                </a:lnTo>
                <a:lnTo>
                  <a:pt x="1076325" y="981075"/>
                </a:lnTo>
                <a:lnTo>
                  <a:pt x="809625" y="895350"/>
                </a:lnTo>
                <a:lnTo>
                  <a:pt x="523875" y="1038225"/>
                </a:lnTo>
                <a:lnTo>
                  <a:pt x="285750" y="942975"/>
                </a:lnTo>
                <a:lnTo>
                  <a:pt x="0" y="990600"/>
                </a:lnTo>
                <a:close/>
              </a:path>
            </a:pathLst>
          </a:custGeom>
          <a:solidFill xmlns:a="http://schemas.openxmlformats.org/drawingml/2006/main">
            <a:srgbClr val="7F8F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02054E8-AF34-4333-9147-9CF89A86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57425"/>
            <a:ext cx="2952750" cy="1714500"/>
          </a:xfrm>
          <a:custGeom xmlns:a="http://schemas.openxmlformats.org/drawingml/2006/main">
            <a:pathLst>
              <a:path w="2952750" h="1714500">
                <a:moveTo>
                  <a:pt x="0" y="828675"/>
                </a:moveTo>
                <a:lnTo>
                  <a:pt x="285750" y="781050"/>
                </a:lnTo>
                <a:lnTo>
                  <a:pt x="523875" y="876300"/>
                </a:lnTo>
                <a:lnTo>
                  <a:pt x="809625" y="733425"/>
                </a:lnTo>
                <a:lnTo>
                  <a:pt x="1076325" y="819150"/>
                </a:lnTo>
                <a:lnTo>
                  <a:pt x="1371600" y="771525"/>
                </a:lnTo>
                <a:lnTo>
                  <a:pt x="1638300" y="904875"/>
                </a:lnTo>
                <a:lnTo>
                  <a:pt x="1971675" y="762000"/>
                </a:lnTo>
                <a:lnTo>
                  <a:pt x="2276475" y="838200"/>
                </a:lnTo>
                <a:lnTo>
                  <a:pt x="2609850" y="762000"/>
                </a:lnTo>
                <a:lnTo>
                  <a:pt x="2952750" y="819150"/>
                </a:lnTo>
                <a:lnTo>
                  <a:pt x="2952750" y="923925"/>
                </a:lnTo>
                <a:lnTo>
                  <a:pt x="2609850" y="866775"/>
                </a:lnTo>
                <a:lnTo>
                  <a:pt x="2276475" y="942975"/>
                </a:lnTo>
                <a:lnTo>
                  <a:pt x="1971675" y="866775"/>
                </a:lnTo>
                <a:lnTo>
                  <a:pt x="1638300" y="1009650"/>
                </a:lnTo>
                <a:lnTo>
                  <a:pt x="1371600" y="876300"/>
                </a:lnTo>
                <a:lnTo>
                  <a:pt x="1076325" y="923925"/>
                </a:lnTo>
                <a:lnTo>
                  <a:pt x="809625" y="838200"/>
                </a:lnTo>
                <a:lnTo>
                  <a:pt x="523875" y="981075"/>
                </a:lnTo>
                <a:lnTo>
                  <a:pt x="285750" y="885825"/>
                </a:lnTo>
                <a:lnTo>
                  <a:pt x="0" y="933450"/>
                </a:lnTo>
                <a:close/>
              </a:path>
            </a:pathLst>
          </a:custGeom>
          <a:solidFill xmlns:a="http://schemas.openxmlformats.org/drawingml/2006/main">
            <a:srgbClr val="7CAE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D5B11B0-437C-4820-B70D-575ED46A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57425"/>
            <a:ext cx="2952750" cy="1714500"/>
          </a:xfrm>
          <a:custGeom xmlns:a="http://schemas.openxmlformats.org/drawingml/2006/main">
            <a:pathLst>
              <a:path w="2952750" h="1714500">
                <a:moveTo>
                  <a:pt x="0" y="142875"/>
                </a:moveTo>
                <a:lnTo>
                  <a:pt x="2952750" y="142875"/>
                </a:lnTo>
                <a:lnTo>
                  <a:pt x="2952750" y="819150"/>
                </a:lnTo>
                <a:lnTo>
                  <a:pt x="2609850" y="762000"/>
                </a:lnTo>
                <a:lnTo>
                  <a:pt x="2276475" y="838200"/>
                </a:lnTo>
                <a:lnTo>
                  <a:pt x="1971675" y="762000"/>
                </a:lnTo>
                <a:lnTo>
                  <a:pt x="1638300" y="904875"/>
                </a:lnTo>
                <a:lnTo>
                  <a:pt x="1371600" y="771525"/>
                </a:lnTo>
                <a:lnTo>
                  <a:pt x="1076325" y="819150"/>
                </a:lnTo>
                <a:lnTo>
                  <a:pt x="809625" y="733425"/>
                </a:lnTo>
                <a:lnTo>
                  <a:pt x="523875" y="876300"/>
                </a:lnTo>
                <a:lnTo>
                  <a:pt x="285750" y="781050"/>
                </a:lnTo>
                <a:lnTo>
                  <a:pt x="0" y="828675"/>
                </a:lnTo>
                <a:close/>
              </a:path>
            </a:pathLst>
          </a:custGeom>
          <a:solidFill xmlns:a="http://schemas.openxmlformats.org/drawingml/2006/main">
            <a:srgbClr val="DCEBF6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A8575E6-9951-4C71-AC27-A5224A58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3842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5715">
            <a:solidFill>
              <a:srgbClr val="0E335B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D0DEC2E-7BFB-476B-8D6A-F22F3ECC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14600"/>
            <a:ext cx="276225" cy="276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5715">
            <a:solidFill>
              <a:srgbClr val="0E335B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8865813-4C3F-440A-9356-3FC330A1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5715">
            <a:solidFill>
              <a:srgbClr val="0E335B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9DF6467-EA9E-43CE-906E-584F1A35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52700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5715">
            <a:solidFill>
              <a:srgbClr val="0E335B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D614528-137E-4613-99B1-F352FDF1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098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5715">
            <a:solidFill>
              <a:srgbClr val="0E335B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F97F6F7-A4B5-4C1E-9E20-CDCA1A96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876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5715">
            <a:solidFill>
              <a:srgbClr val="0E335B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1ED484A-D1F3-4D13-BA4A-94326E46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57425"/>
            <a:ext cx="2952750" cy="1714500"/>
          </a:xfrm>
          <a:custGeom xmlns:a="http://schemas.openxmlformats.org/drawingml/2006/main">
            <a:pathLst>
              <a:path w="2952750" h="1714500">
                <a:moveTo>
                  <a:pt x="742950" y="142875"/>
                </a:moveTo>
                <a:lnTo>
                  <a:pt x="895350" y="142875"/>
                </a:lnTo>
                <a:lnTo>
                  <a:pt x="885825" y="333375"/>
                </a:lnTo>
                <a:lnTo>
                  <a:pt x="981075" y="485775"/>
                </a:lnTo>
                <a:lnTo>
                  <a:pt x="923925" y="657225"/>
                </a:lnTo>
                <a:lnTo>
                  <a:pt x="819150" y="657225"/>
                </a:lnTo>
                <a:lnTo>
                  <a:pt x="866775" y="485775"/>
                </a:lnTo>
                <a:lnTo>
                  <a:pt x="762000" y="3619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06C628F-217E-47EB-B8BE-2C5B2C1D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57425"/>
            <a:ext cx="2952750" cy="1714500"/>
          </a:xfrm>
          <a:custGeom xmlns:a="http://schemas.openxmlformats.org/drawingml/2006/main">
            <a:pathLst>
              <a:path w="2952750" h="1714500">
                <a:moveTo>
                  <a:pt x="2105025" y="142875"/>
                </a:moveTo>
                <a:lnTo>
                  <a:pt x="2238375" y="142875"/>
                </a:lnTo>
                <a:lnTo>
                  <a:pt x="2209800" y="333375"/>
                </a:lnTo>
                <a:lnTo>
                  <a:pt x="2305050" y="476250"/>
                </a:lnTo>
                <a:lnTo>
                  <a:pt x="2247900" y="647700"/>
                </a:lnTo>
                <a:lnTo>
                  <a:pt x="2152650" y="647700"/>
                </a:lnTo>
                <a:lnTo>
                  <a:pt x="2181225" y="485775"/>
                </a:lnTo>
                <a:lnTo>
                  <a:pt x="2095500" y="3524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3DA8F04-0D17-4E89-9A6C-C1DD8428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86025"/>
            <a:ext cx="1333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0E335B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4FD064E-0138-419C-80FC-BEB247C4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533775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CoNiCrAlY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B8A52FC-8814-4B48-A59E-520D1F9F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295775"/>
            <a:ext cx="3295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Dispersed, preformed YAG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554160C-3377-40AF-820B-F8693404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00375"/>
            <a:ext cx="1428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3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40700E4-3A01-40BD-BD63-CB8360FC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162050"/>
            <a:ext cx="3619500" cy="3914775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B757937-B3E7-44E9-82A0-4ED4E866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371600"/>
            <a:ext cx="3295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3 · Secondary sealing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12E9852-D823-4C37-87D2-6A972B20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57425"/>
            <a:ext cx="2952750" cy="1714500"/>
          </a:xfrm>
          <a:custGeom xmlns:a="http://schemas.openxmlformats.org/drawingml/2006/main">
            <a:pathLst>
              <a:path w="2952750" h="1714500">
                <a:moveTo>
                  <a:pt x="0" y="990600"/>
                </a:moveTo>
                <a:lnTo>
                  <a:pt x="285750" y="942975"/>
                </a:lnTo>
                <a:lnTo>
                  <a:pt x="523875" y="1038225"/>
                </a:lnTo>
                <a:lnTo>
                  <a:pt x="809625" y="895350"/>
                </a:lnTo>
                <a:lnTo>
                  <a:pt x="1076325" y="981075"/>
                </a:lnTo>
                <a:lnTo>
                  <a:pt x="1371600" y="933450"/>
                </a:lnTo>
                <a:lnTo>
                  <a:pt x="1638300" y="1066800"/>
                </a:lnTo>
                <a:lnTo>
                  <a:pt x="1971675" y="923925"/>
                </a:lnTo>
                <a:lnTo>
                  <a:pt x="2276475" y="1000125"/>
                </a:lnTo>
                <a:lnTo>
                  <a:pt x="2609850" y="923925"/>
                </a:lnTo>
                <a:lnTo>
                  <a:pt x="2952750" y="981075"/>
                </a:lnTo>
                <a:lnTo>
                  <a:pt x="2952750" y="1714500"/>
                </a:lnTo>
                <a:lnTo>
                  <a:pt x="0" y="1714500"/>
                </a:lnTo>
                <a:close/>
              </a:path>
            </a:pathLst>
          </a:custGeom>
          <a:solidFill xmlns:a="http://schemas.openxmlformats.org/drawingml/2006/main">
            <a:srgbClr val="A8B5C2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CF144B1-2C76-4E35-AA2F-DE72AA25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57425"/>
            <a:ext cx="2952750" cy="1714500"/>
          </a:xfrm>
          <a:custGeom xmlns:a="http://schemas.openxmlformats.org/drawingml/2006/main">
            <a:pathLst>
              <a:path w="2952750" h="1714500">
                <a:moveTo>
                  <a:pt x="0" y="933450"/>
                </a:moveTo>
                <a:lnTo>
                  <a:pt x="285750" y="885825"/>
                </a:lnTo>
                <a:lnTo>
                  <a:pt x="523875" y="981075"/>
                </a:lnTo>
                <a:lnTo>
                  <a:pt x="809625" y="838200"/>
                </a:lnTo>
                <a:lnTo>
                  <a:pt x="1076325" y="923925"/>
                </a:lnTo>
                <a:lnTo>
                  <a:pt x="1371600" y="876300"/>
                </a:lnTo>
                <a:lnTo>
                  <a:pt x="1638300" y="1009650"/>
                </a:lnTo>
                <a:lnTo>
                  <a:pt x="1971675" y="866775"/>
                </a:lnTo>
                <a:lnTo>
                  <a:pt x="2276475" y="942975"/>
                </a:lnTo>
                <a:lnTo>
                  <a:pt x="2609850" y="866775"/>
                </a:lnTo>
                <a:lnTo>
                  <a:pt x="2952750" y="923925"/>
                </a:lnTo>
                <a:lnTo>
                  <a:pt x="2952750" y="981075"/>
                </a:lnTo>
                <a:lnTo>
                  <a:pt x="2609850" y="923925"/>
                </a:lnTo>
                <a:lnTo>
                  <a:pt x="2276475" y="1000125"/>
                </a:lnTo>
                <a:lnTo>
                  <a:pt x="1971675" y="923925"/>
                </a:lnTo>
                <a:lnTo>
                  <a:pt x="1638300" y="1066800"/>
                </a:lnTo>
                <a:lnTo>
                  <a:pt x="1371600" y="933450"/>
                </a:lnTo>
                <a:lnTo>
                  <a:pt x="1076325" y="981075"/>
                </a:lnTo>
                <a:lnTo>
                  <a:pt x="809625" y="895350"/>
                </a:lnTo>
                <a:lnTo>
                  <a:pt x="523875" y="1038225"/>
                </a:lnTo>
                <a:lnTo>
                  <a:pt x="285750" y="942975"/>
                </a:lnTo>
                <a:lnTo>
                  <a:pt x="0" y="990600"/>
                </a:lnTo>
                <a:close/>
              </a:path>
            </a:pathLst>
          </a:custGeom>
          <a:solidFill xmlns:a="http://schemas.openxmlformats.org/drawingml/2006/main">
            <a:srgbClr val="7F8F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12B3031-1F20-4D7E-8F3B-FFB6F340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57425"/>
            <a:ext cx="2952750" cy="1714500"/>
          </a:xfrm>
          <a:custGeom xmlns:a="http://schemas.openxmlformats.org/drawingml/2006/main">
            <a:pathLst>
              <a:path w="2952750" h="1714500">
                <a:moveTo>
                  <a:pt x="0" y="828675"/>
                </a:moveTo>
                <a:lnTo>
                  <a:pt x="285750" y="781050"/>
                </a:lnTo>
                <a:lnTo>
                  <a:pt x="523875" y="876300"/>
                </a:lnTo>
                <a:lnTo>
                  <a:pt x="809625" y="733425"/>
                </a:lnTo>
                <a:lnTo>
                  <a:pt x="1076325" y="819150"/>
                </a:lnTo>
                <a:lnTo>
                  <a:pt x="1371600" y="771525"/>
                </a:lnTo>
                <a:lnTo>
                  <a:pt x="1638300" y="904875"/>
                </a:lnTo>
                <a:lnTo>
                  <a:pt x="1971675" y="762000"/>
                </a:lnTo>
                <a:lnTo>
                  <a:pt x="2276475" y="838200"/>
                </a:lnTo>
                <a:lnTo>
                  <a:pt x="2609850" y="762000"/>
                </a:lnTo>
                <a:lnTo>
                  <a:pt x="2952750" y="819150"/>
                </a:lnTo>
                <a:lnTo>
                  <a:pt x="2952750" y="923925"/>
                </a:lnTo>
                <a:lnTo>
                  <a:pt x="2609850" y="866775"/>
                </a:lnTo>
                <a:lnTo>
                  <a:pt x="2276475" y="942975"/>
                </a:lnTo>
                <a:lnTo>
                  <a:pt x="1971675" y="866775"/>
                </a:lnTo>
                <a:lnTo>
                  <a:pt x="1638300" y="1009650"/>
                </a:lnTo>
                <a:lnTo>
                  <a:pt x="1371600" y="876300"/>
                </a:lnTo>
                <a:lnTo>
                  <a:pt x="1076325" y="923925"/>
                </a:lnTo>
                <a:lnTo>
                  <a:pt x="809625" y="838200"/>
                </a:lnTo>
                <a:lnTo>
                  <a:pt x="523875" y="981075"/>
                </a:lnTo>
                <a:lnTo>
                  <a:pt x="285750" y="885825"/>
                </a:lnTo>
                <a:lnTo>
                  <a:pt x="0" y="933450"/>
                </a:lnTo>
                <a:close/>
              </a:path>
            </a:pathLst>
          </a:custGeom>
          <a:solidFill xmlns:a="http://schemas.openxmlformats.org/drawingml/2006/main">
            <a:srgbClr val="7CAE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3A26E12-9847-4608-826F-F6D55A67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57425"/>
            <a:ext cx="2952750" cy="1714500"/>
          </a:xfrm>
          <a:custGeom xmlns:a="http://schemas.openxmlformats.org/drawingml/2006/main">
            <a:pathLst>
              <a:path w="2952750" h="1714500">
                <a:moveTo>
                  <a:pt x="0" y="142875"/>
                </a:moveTo>
                <a:lnTo>
                  <a:pt x="2952750" y="142875"/>
                </a:lnTo>
                <a:lnTo>
                  <a:pt x="2952750" y="819150"/>
                </a:lnTo>
                <a:lnTo>
                  <a:pt x="2609850" y="762000"/>
                </a:lnTo>
                <a:lnTo>
                  <a:pt x="2276475" y="838200"/>
                </a:lnTo>
                <a:lnTo>
                  <a:pt x="1971675" y="762000"/>
                </a:lnTo>
                <a:lnTo>
                  <a:pt x="1638300" y="904875"/>
                </a:lnTo>
                <a:lnTo>
                  <a:pt x="1371600" y="771525"/>
                </a:lnTo>
                <a:lnTo>
                  <a:pt x="1076325" y="819150"/>
                </a:lnTo>
                <a:lnTo>
                  <a:pt x="809625" y="733425"/>
                </a:lnTo>
                <a:lnTo>
                  <a:pt x="523875" y="876300"/>
                </a:lnTo>
                <a:lnTo>
                  <a:pt x="285750" y="781050"/>
                </a:lnTo>
                <a:lnTo>
                  <a:pt x="0" y="828675"/>
                </a:lnTo>
                <a:close/>
              </a:path>
            </a:pathLst>
          </a:custGeom>
          <a:solidFill xmlns:a="http://schemas.openxmlformats.org/drawingml/2006/main">
            <a:srgbClr val="DCEBF6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03E856E-A1A2-4857-AFFE-09966F33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63842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5715">
            <a:solidFill>
              <a:srgbClr val="0E335B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16562AB-D531-4780-8C65-B352B2FD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514600"/>
            <a:ext cx="276225" cy="276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5715">
            <a:solidFill>
              <a:srgbClr val="0E335B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DF7BF74-E4F8-4E22-9823-7CFE62C6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7432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5715">
            <a:solidFill>
              <a:srgbClr val="0E335B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E0C3179-846B-4DC7-BBF5-AFA3D4F7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825" y="2552700"/>
            <a:ext cx="295275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5715">
            <a:solidFill>
              <a:srgbClr val="0E335B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4459533-B718-4937-B637-5F37907C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8098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5715">
            <a:solidFill>
              <a:srgbClr val="0E335B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AA11C0E-DCF0-4021-ABB0-CB1511BD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876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5715">
            <a:solidFill>
              <a:srgbClr val="0E335B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F22A9DA-F227-4A79-997D-69634E34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57425"/>
            <a:ext cx="2952750" cy="1714500"/>
          </a:xfrm>
          <a:custGeom xmlns:a="http://schemas.openxmlformats.org/drawingml/2006/main">
            <a:pathLst>
              <a:path w="2952750" h="1714500">
                <a:moveTo>
                  <a:pt x="742950" y="142875"/>
                </a:moveTo>
                <a:lnTo>
                  <a:pt x="895350" y="142875"/>
                </a:lnTo>
                <a:lnTo>
                  <a:pt x="885825" y="333375"/>
                </a:lnTo>
                <a:lnTo>
                  <a:pt x="981075" y="485775"/>
                </a:lnTo>
                <a:lnTo>
                  <a:pt x="923925" y="657225"/>
                </a:lnTo>
                <a:lnTo>
                  <a:pt x="819150" y="657225"/>
                </a:lnTo>
                <a:lnTo>
                  <a:pt x="866775" y="485775"/>
                </a:lnTo>
                <a:lnTo>
                  <a:pt x="762000" y="3619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142B525-3C1A-4FFD-9282-970F7F0B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57425"/>
            <a:ext cx="2952750" cy="1714500"/>
          </a:xfrm>
          <a:custGeom xmlns:a="http://schemas.openxmlformats.org/drawingml/2006/main">
            <a:pathLst>
              <a:path w="2952750" h="1714500">
                <a:moveTo>
                  <a:pt x="2105025" y="142875"/>
                </a:moveTo>
                <a:lnTo>
                  <a:pt x="2238375" y="142875"/>
                </a:lnTo>
                <a:lnTo>
                  <a:pt x="2209800" y="333375"/>
                </a:lnTo>
                <a:lnTo>
                  <a:pt x="2305050" y="476250"/>
                </a:lnTo>
                <a:lnTo>
                  <a:pt x="2247900" y="647700"/>
                </a:lnTo>
                <a:lnTo>
                  <a:pt x="2152650" y="647700"/>
                </a:lnTo>
                <a:lnTo>
                  <a:pt x="2181225" y="485775"/>
                </a:lnTo>
                <a:lnTo>
                  <a:pt x="2095500" y="3524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3E5A063-568E-48B6-A09D-47059C3A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486025"/>
            <a:ext cx="1333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0E335B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05C7A79-6D5C-4D01-A279-536841D1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4098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873AA26-5DE9-4352-95B5-9E4D8C14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5050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80242FB-DDF3-40A0-8FEA-593EA375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193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F61995B-E545-418D-A64F-2C556BB0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7146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96C9F29-174C-4E1A-BBBC-FC158213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24288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8542FDF-6A6B-4A63-8B8B-C02878FB7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2524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095089B-F2B4-44EF-9143-7CC54C8B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26289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5111D80-2057-4385-B6D3-64582770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7336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9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885490F-AF8F-4DCC-9AF1-D4E57F2E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914525"/>
            <a:ext cx="180975" cy="3429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E3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47C8942-37FC-49B5-8586-0DD9324F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914525"/>
            <a:ext cx="180975" cy="3429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E33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A710791-9848-4D8C-8D3B-6838E317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33775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CoNiCrAlY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DD4ECB0-B1FC-42BB-B559-FDB1A787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95775"/>
            <a:ext cx="3295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Nano-Al₂O₃ in open pores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2D30EA7-FA3C-4131-B421-D10E7580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200650"/>
            <a:ext cx="1133475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7652BAF-00AF-4153-A054-41937C53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1809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2"/>
          </a:solidFill>
          <a:ln xmlns:a="http://schemas.openxmlformats.org/drawingml/2006/main" w="4763">
            <a:solidFill>
              <a:srgbClr val="0E335B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FFFCB1D-4F80-40B1-9826-5436D105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34000"/>
            <a:ext cx="266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Metal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3A34CFB-BCB7-48E6-914B-3B261844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429250"/>
            <a:ext cx="1809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AED0"/>
          </a:solidFill>
          <a:ln xmlns:a="http://schemas.openxmlformats.org/drawingml/2006/main" w="4763">
            <a:solidFill>
              <a:srgbClr val="0E335B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F92997B-3B3E-4B00-B4D0-25BC92A1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34000"/>
            <a:ext cx="304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Sol-derived Al₂O₃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E213648-9F41-4654-8846-C8F60533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429250"/>
            <a:ext cx="1809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6"/>
          </a:solidFill>
          <a:ln xmlns:a="http://schemas.openxmlformats.org/drawingml/2006/main" w="4763">
            <a:solidFill>
              <a:srgbClr val="0E335B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9686D4A-6F8D-4521-BA93-D87BC766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334000"/>
            <a:ext cx="266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Al₂O₃ network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F7D95B4-48DC-4751-AA72-096679E1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429250"/>
            <a:ext cx="1809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4763">
            <a:solidFill>
              <a:srgbClr val="0E335B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DCDC718-3818-48CD-B1CB-7E2FC8DE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334000"/>
            <a:ext cx="266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YAG</a:t>
            </a:r>
          </a:p>
        </p:txBody>
      </p:sp>
    </p:spTree>
    <p:extLst>
      <p:ext uri="{BB962C8B-B14F-4D97-AF65-F5344CB8AC3E}">
        <p14:creationId xmlns:p14="http://schemas.microsoft.com/office/powerpoint/2010/main" val="53952525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: 圆角 3">
            <a:extLst xmlns:a="http://schemas.openxmlformats.org/drawingml/2006/main">
              <a:ext uri="{FF2B5EF4-FFF2-40B4-BE49-F238E27FC236}">
                <a16:creationId xmlns:a16="http://schemas.microsoft.com/office/drawing/2014/main" id="{1509AA61-7BBE-43D8-A94D-442410BE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"/>
            <a:ext cx="11536680" cy="627348"/>
          </a:xfrm>
          <a:prstGeom xmlns:a="http://schemas.openxmlformats.org/drawingml/2006/main" prst="roundRect">
            <a:avLst/>
          </a:prstGeom>
          <a:gradFill xmlns:a="http://schemas.openxmlformats.org/drawingml/2006/main" flip="none" rotWithShape="1"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  <a:alpha val="0"/>
                </a:schemeClr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椭圆 4">
            <a:extLst xmlns:a="http://schemas.openxmlformats.org/drawingml/2006/main">
              <a:ext uri="{FF2B5EF4-FFF2-40B4-BE49-F238E27FC236}">
                <a16:creationId xmlns:a16="http://schemas.microsoft.com/office/drawing/2014/main" id="{D7DA9DF3-F992-4B0D-AB9A-3DC3F783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82880"/>
            <a:ext cx="602269" cy="602269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chemeClr val="accent1">
                  <a:lumMod val="90000"/>
                  <a:lumOff val="1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190500" dist="127000" dir="2700000" algn="tl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F7C7AF4F-AE05-4B25-923F-F68C10A9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"/>
            <a:ext cx="10858500" cy="469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>
              <a:lnSpc>
                <a:spcPct val="110000"/>
              </a:lnSpc>
              <a:spcBef>
                <a:spcPct val="0"/>
              </a:spcBef>
              <a:spcAft>
                <a:spcPts val="400"/>
              </a:spcAft>
              <a:buNone/>
              <a:def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Part III · Key question: will the coating stay bonded?</a:t>
            </a:r>
          </a:p>
        </p:txBody>
      </p:sp>
      <p:sp>
        <p:nvSpPr>
          <p:cNvPr id="28" name="矩形: 圆角 27">
            <a:extLst xmlns:a="http://schemas.openxmlformats.org/drawingml/2006/main">
              <a:ext uri="{FF2B5EF4-FFF2-40B4-BE49-F238E27FC236}">
                <a16:creationId xmlns:a16="http://schemas.microsoft.com/office/drawing/2014/main" id="{85E19247-9BB5-4D76-897D-5A9AC3A7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86220"/>
            <a:ext cx="12191365" cy="2844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  <a:effectLst xmlns:a="http://schemas.openxmlformats.org/drawingml/2006/main">
            <a:outerShdw blurRad="254000" sx="102000" sy="102000" algn="ctr" rotWithShape="0">
              <a:schemeClr val="accent1"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/>
          </a:p>
        </p:txBody>
      </p:sp>
      <p:pic>
        <p:nvPicPr>
          <p:cNvPr id="2" name="图片 1">
            <a:extLst xmlns:a="http://schemas.openxmlformats.org/drawingml/2006/main">
              <a:ext uri="{FF2B5EF4-FFF2-40B4-BE49-F238E27FC236}">
                <a16:creationId xmlns:a16="http://schemas.microsoft.com/office/drawing/2014/main" id="{C035ACEA-0AE7-407C-9488-05A4B9B2AB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5b5fb3b87c4087">
            <a:extLst>
              <a:ext uri="{96DAC541-7B7A-43D3-8B79-37D633B846F1}">
                <asvg:svgBlip xmlns:asvg="http://schemas.microsoft.com/office/drawing/2016/SVG/main" r:embed="Ra0df8c59450f4c89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7050" y="270510"/>
            <a:ext cx="431165" cy="431165"/>
          </a:xfrm>
          <a:prstGeom xmlns:a="http://schemas.openxmlformats.org/drawingml/2006/main" prst="rect">
            <a:avLst/>
          </a:prstGeom>
        </p:spPr>
      </p:pic>
      <p:sp>
        <p:nvSpPr>
          <p:cNvPr id="60" name="任意多边形: 形状 59">
            <a:extLst xmlns:a="http://schemas.openxmlformats.org/drawingml/2006/main">
              <a:ext uri="{FF2B5EF4-FFF2-40B4-BE49-F238E27FC236}">
                <a16:creationId xmlns:a16="http://schemas.microsoft.com/office/drawing/2014/main" id="{6FC92AB1-7144-4D3A-824D-10E0036A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89065"/>
            <a:ext cx="12192635" cy="422910"/>
          </a:xfrm>
          <a:custGeom xmlns:a="http://schemas.openxmlformats.org/drawingml/2006/main">
            <a:gdLst>
              <a:gd name="connsiteX0" fmla="*/ 0 w 12192000"/>
              <a:gd name="connsiteY0" fmla="*/ 0 h 1934308"/>
              <a:gd name="connsiteX1" fmla="*/ 12192000 w 12192000"/>
              <a:gd name="connsiteY1" fmla="*/ 0 h 1934308"/>
              <a:gd name="connsiteX2" fmla="*/ 12192000 w 12192000"/>
              <a:gd name="connsiteY2" fmla="*/ 1934308 h 1934308"/>
              <a:gd name="connsiteX3" fmla="*/ 0 w 12192000"/>
              <a:gd name="connsiteY3" fmla="*/ 1934308 h 1934308"/>
            </a:gdLst>
            <a:rect l="l" t="t" r="r" b="b"/>
            <a:pathLst>
              <a:path w="12192000" h="1934308">
                <a:moveTo>
                  <a:pt x="0" y="0"/>
                </a:moveTo>
                <a:lnTo>
                  <a:pt x="12192000" y="0"/>
                </a:lnTo>
                <a:lnTo>
                  <a:pt x="12192000" y="1934308"/>
                </a:lnTo>
                <a:lnTo>
                  <a:pt x="0" y="1934308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90000"/>
                  <a:lumOff val="1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  <a:effectLst xmlns:a="http://schemas.openxmlformats.org/drawingml/2006/main">
            <a:outerShdw blurRad="190500" dist="127000" dir="2700000" algn="tl" rotWithShape="0">
              <a:schemeClr val="accent1">
                <a:lumMod val="60000"/>
                <a:lumOff val="40000"/>
                <a:alpha val="2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28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8" name="图片 7">
            <a:extLst xmlns:a="http://schemas.openxmlformats.org/drawingml/2006/main">
              <a:ext uri="{FF2B5EF4-FFF2-40B4-BE49-F238E27FC236}">
                <a16:creationId xmlns:a16="http://schemas.microsoft.com/office/drawing/2014/main" id="{4DEFB20B-FD21-43A1-A2CB-AD8D07EB97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70c0f953a7481d">
            <a:extLst>
              <a:ext uri="{96DAC541-7B7A-43D3-8B79-37D633B846F1}">
                <asvg:svgBlip xmlns:asvg="http://schemas.microsoft.com/office/drawing/2016/SVG/main" r:embed="R169cced87b844445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2885" y="282575"/>
            <a:ext cx="431165" cy="431165"/>
          </a:xfrm>
          <a:prstGeom xmlns:a="http://schemas.openxmlformats.org/drawingml/2006/main" prst="rect">
            <a:avLst/>
          </a:prstGeom>
        </p:spPr>
      </p:pic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DC59620-E307-487A-98DB-B3A8DEB4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388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rPr>
              <a:t>1100 °C / 1 h bonding and 1250 °C / 100 h CMAS durability are unverified.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1660DE5-92D4-4EB2-A045-5B50D9D6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07695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647481"/>
                </a:solidFill>
                <a:latin typeface="Times New Roman"/>
                <a:ea typeface="Times New Roman"/>
                <a:cs typeface="Times New Roman"/>
              </a:rPr>
              <a:t>09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13838DA-C0A8-4C97-B5EB-97C3ECDE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62050"/>
            <a:ext cx="6419850" cy="3867150"/>
          </a:xfrm>
          <a:prstGeom xmlns:a="http://schemas.openxmlformats.org/drawingml/2006/main" prst="roundRect">
            <a:avLst>
              <a:gd name="adj" fmla="val 88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B7CC84A-C6C0-413A-9E29-08BF287F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162050"/>
            <a:ext cx="4676775" cy="3867150"/>
          </a:xfrm>
          <a:prstGeom xmlns:a="http://schemas.openxmlformats.org/drawingml/2006/main" prst="roundRect">
            <a:avLst>
              <a:gd name="adj" fmla="val 88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50B1283-631F-490B-A89F-62E23D2F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43025"/>
            <a:ext cx="600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Two possible failure paths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2FCA8A8-49D3-4C66-A883-F892F31E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52675"/>
            <a:ext cx="5095875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6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8DCC4B0-1F6A-45C3-BD61-541BA6E0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638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FF28B5F-6D3E-43D8-99F1-C6C1D035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908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033A5D9-13F1-4E02-ADE4-CF4DA172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3432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86823D8-061D-44AC-827C-6709F193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194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BDB4889-3BF2-49C1-8E9D-CC16829F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1718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3ECD9FA-2E49-4F54-AB96-E05F9EE2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47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3F288BF-73A2-4359-8404-BCF18911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0003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9A7ED16-C655-486A-B2F8-CD6D9898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528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A5C1F1F-41F4-4470-B5D6-B1595D49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8289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92BDE6E-4252-4194-9C4A-40071CB0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813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D2E7424-05CE-42BA-8FD6-9F4646B8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6574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79CA60C-FB2F-4827-B195-0A27FCB3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0099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08DC9B8-7B5D-480D-83E8-B307E86B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362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493A167-541D-46D4-83B6-5CB04AED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384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F76B5DB-CA09-4CCF-877D-FEB71EEC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1908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2104CE7-19B1-43A4-B688-AB89C829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6670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4EA63A0-1B7B-4B3D-9969-28807F8B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194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EC4985F-8F58-4347-A5D5-50FB02D5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3718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B9E8EAC-C818-46F3-8A1A-C8861182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8479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1937A6D-56F6-4AA2-B05E-0124E740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004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BE3E812-4D72-41D3-A052-3FADED82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6765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2B09500-CA8D-4CFA-BFDD-C51A3FDE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028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B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F90AE41-A3FC-4595-987C-C669814C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5095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AED0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80BF11F-B298-4B23-8416-771D7532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0"/>
            <a:ext cx="50958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8F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4E0FB74-174B-4B51-875C-01F7120B2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90975"/>
            <a:ext cx="5095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B5C2"/>
          </a:solidFill>
          <a:ln xmlns:a="http://schemas.openxmlformats.org/drawingml/2006/main" w="9525">
            <a:solidFill>
              <a:srgbClr val="0E335B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2D125DB-82A1-4D4D-BEB8-3BC3D8FB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33850"/>
            <a:ext cx="4714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CoNiCrAlY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CBAD9C6-7BDB-467F-928D-F6D11C2B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05125"/>
            <a:ext cx="4953000" cy="381000"/>
          </a:xfrm>
          <a:custGeom xmlns:a="http://schemas.openxmlformats.org/drawingml/2006/main">
            <a:pathLst>
              <a:path w="4953000" h="381000">
                <a:moveTo>
                  <a:pt x="0" y="200025"/>
                </a:moveTo>
                <a:lnTo>
                  <a:pt x="647700" y="114300"/>
                </a:lnTo>
                <a:lnTo>
                  <a:pt x="1047750" y="228600"/>
                </a:lnTo>
                <a:lnTo>
                  <a:pt x="1552575" y="142875"/>
                </a:lnTo>
                <a:lnTo>
                  <a:pt x="1990725" y="257175"/>
                </a:lnTo>
                <a:lnTo>
                  <a:pt x="2638425" y="114300"/>
                </a:lnTo>
                <a:lnTo>
                  <a:pt x="3152775" y="247650"/>
                </a:lnTo>
                <a:lnTo>
                  <a:pt x="3771900" y="133350"/>
                </a:lnTo>
                <a:lnTo>
                  <a:pt x="4352925" y="228600"/>
                </a:lnTo>
                <a:lnTo>
                  <a:pt x="485775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0000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1BAE9F3-1E18-4BC5-909B-69ABC6FA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86200"/>
            <a:ext cx="4953000" cy="142875"/>
          </a:xfrm>
          <a:custGeom xmlns:a="http://schemas.openxmlformats.org/drawingml/2006/main">
            <a:pathLst>
              <a:path w="4953000" h="142875">
                <a:moveTo>
                  <a:pt x="0" y="66675"/>
                </a:moveTo>
                <a:lnTo>
                  <a:pt x="952500" y="66675"/>
                </a:lnTo>
                <a:lnTo>
                  <a:pt x="1524000" y="85725"/>
                </a:lnTo>
                <a:lnTo>
                  <a:pt x="2476500" y="57150"/>
                </a:lnTo>
                <a:lnTo>
                  <a:pt x="3238500" y="95250"/>
                </a:lnTo>
                <a:lnTo>
                  <a:pt x="3905250" y="57150"/>
                </a:lnTo>
                <a:lnTo>
                  <a:pt x="485775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0000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6A60188-0B12-4315-8F06-B060C411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895475"/>
            <a:ext cx="2238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1 · Adhesion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1F2C46F-F893-4CE5-AA5B-51393B88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1895475"/>
            <a:ext cx="2238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2 · Cohesion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63FEBAD-AE8D-45CA-90B3-D167929C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876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AABC626-C24C-4375-B6CF-1B55A0E7E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8607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C65458E-0DBC-4C24-9087-C373835E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771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8A99EAE-3541-4B95-96C5-334C921A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814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BB84E11-AB50-421B-B71F-E0E54AA7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38475"/>
            <a:ext cx="352425" cy="19050"/>
          </a:xfrm>
          <a:custGeom xmlns:a="http://schemas.openxmlformats.org/drawingml/2006/main">
            <a:pathLst>
              <a:path w="352425" h="19050">
                <a:moveTo>
                  <a:pt x="0" y="9525"/>
                </a:moveTo>
                <a:lnTo>
                  <a:pt x="352425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F35375B-187D-4079-9A06-CCD5E965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952875"/>
            <a:ext cx="352425" cy="19050"/>
          </a:xfrm>
          <a:custGeom xmlns:a="http://schemas.openxmlformats.org/drawingml/2006/main">
            <a:pathLst>
              <a:path w="352425" h="19050">
                <a:moveTo>
                  <a:pt x="0" y="9525"/>
                </a:moveTo>
                <a:lnTo>
                  <a:pt x="352425" y="95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00000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C94B604-34BD-449F-8F02-93C15078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362075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1100 °C × 1 h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754460E-7F04-4510-9A9A-A1748342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781175"/>
            <a:ext cx="42576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Bonding is not yet established.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EEBB437-1D15-4BA1-AEF0-49219955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571750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Screen without CMAS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08CDA94-4D05-40C6-AD43-2EAC2198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990850"/>
            <a:ext cx="42576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1250 °C × 1 h + cross-section SEM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E6E4858-E1F3-4BAE-9632-C783624D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857625"/>
            <a:ext cx="4257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Measure the weak link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569D84D-4837-4BD2-BB79-C97A947C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276725"/>
            <a:ext cx="42576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53A4B"/>
                </a:solidFill>
                <a:latin typeface="Times New Roman"/>
                <a:ea typeface="Times New Roman"/>
                <a:cs typeface="Times New Roman"/>
              </a:rPr>
              <a:t>Adhesion + crack location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1B8C8A1-1859-4911-80D4-29D6CD5E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191125"/>
            <a:ext cx="11334750" cy="6572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E335B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1C307B7-9B36-47C3-B0AC-7D70D925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3400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1">
                <a:solidFill>
                  <a:srgbClr val="0E335B"/>
                </a:solidFill>
                <a:latin typeface="Times New Roman"/>
                <a:ea typeface="Times New Roman"/>
                <a:cs typeface="Times New Roman"/>
              </a:rPr>
              <a:t>First verify adhesion and cohesion. Then test long-term CMAS resistance.</a:t>
            </a:r>
          </a:p>
        </p:txBody>
      </p:sp>
    </p:spTree>
    <p:extLst>
      <p:ext uri="{BB962C8B-B14F-4D97-AF65-F5344CB8AC3E}">
        <p14:creationId xmlns:p14="http://schemas.microsoft.com/office/powerpoint/2010/main" val="916272462"/>
      </p:ext>
    </p:extLst>
  </p:cSld>
</p:sld>
</file>

<file path=ppt/theme/theme1.xml><?xml version="1.0" encoding="utf-8"?>
<a:theme xmlns:a="http://schemas.openxmlformats.org/drawingml/2006/main" name="Office 主题">
  <a:themeElements>
    <a:clrScheme name="黄色">
      <a:dk1>
        <a:srgbClr val="000000"/>
      </a:dk1>
      <a:lt1>
        <a:srgbClr val="FFFFFF"/>
      </a:lt1>
      <a:dk2>
        <a:srgbClr val="39302A"/>
      </a:dk2>
      <a:lt2>
        <a:srgbClr val="E5DEDB"/>
      </a:lt2>
      <a:accent1>
        <a:srgbClr val="0E335B"/>
      </a:accent1>
      <a:accent2>
        <a:srgbClr val="F2DE6C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1940a74d-57a2-469d-a31b-79088e81dbeb">
      <a:majorFont>
        <a:latin typeface="Times New Roman "/>
        <a:ea typeface="Times New Roman "/>
        <a:cs typeface=""/>
      </a:majorFont>
      <a:minorFont>
        <a:latin typeface="Times New Roman "/>
        <a:ea typeface="Times New Roman "/>
        <a:cs typeface=""/>
      </a:minorFont>
    </a:fontScheme>
    <a:fmtScheme name="黄色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2026-10-11T16:25:49.8390000Z</dcterms:created>
  <dcterms:modified xsi:type="dcterms:W3CDTF">2026-10-11T16:25:49.8390000Z</dcterms:modified>
</coreProperties>
</file>