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bdb66677e94f65" /><Relationship Type="http://schemas.openxmlformats.org/officeDocument/2006/relationships/extended-properties" Target="/docProps/app.xml" Id="R4082e9a43bfc41da" /><Relationship Type="http://schemas.openxmlformats.org/officeDocument/2006/relationships/officeDocument" Target="/ppt/presentation.xml" Id="Ra10a25eeec074f42" /></Relationships>
</file>

<file path=ppt/presentation.xml><?xml version="1.0" encoding="utf-8"?>
<p:presentation xmlns:p="http://schemas.openxmlformats.org/presentationml/2006/main">
  <p:sldMasterIdLst>
    <p:sldMasterId xmlns:r="http://schemas.openxmlformats.org/officeDocument/2006/relationships" id="2147483648" r:id="R33091610caf54c54"/>
  </p:sldMasterIdLst>
  <p:notesMasterIdLst>
    <p:notesMasterId xmlns:r="http://schemas.openxmlformats.org/officeDocument/2006/relationships" r:id="R3d2a4042d7a547bf"/>
  </p:notesMasterIdLst>
  <p:sldIdLst>
    <p:sldId xmlns:r="http://schemas.openxmlformats.org/officeDocument/2006/relationships" id="256" r:id="Re5f34328db9c47e2"/>
    <p:sldId xmlns:r="http://schemas.openxmlformats.org/officeDocument/2006/relationships" id="257" r:id="R7f69ffe41ba043cb"/>
    <p:sldId xmlns:r="http://schemas.openxmlformats.org/officeDocument/2006/relationships" id="258" r:id="R2d1763446eaa48b4"/>
    <p:sldId xmlns:r="http://schemas.openxmlformats.org/officeDocument/2006/relationships" id="259" r:id="Rfa4583cc83a44c3f"/>
    <p:sldId xmlns:r="http://schemas.openxmlformats.org/officeDocument/2006/relationships" id="260" r:id="R73ada26a2a124816"/>
    <p:sldId xmlns:r="http://schemas.openxmlformats.org/officeDocument/2006/relationships" id="261" r:id="Re619e3e248244909"/>
    <p:sldId xmlns:r="http://schemas.openxmlformats.org/officeDocument/2006/relationships" id="262" r:id="R57d4dc841c35462c"/>
    <p:sldId xmlns:r="http://schemas.openxmlformats.org/officeDocument/2006/relationships" id="263" r:id="R32d6328305224c4c"/>
    <p:sldId xmlns:r="http://schemas.openxmlformats.org/officeDocument/2006/relationships" id="264" r:id="R0067cbf0513b4c61"/>
    <p:sldId xmlns:r="http://schemas.openxmlformats.org/officeDocument/2006/relationships" id="265" r:id="R8d2309ac8cd74cf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706037386fe4806" /><Relationship Type="http://schemas.openxmlformats.org/officeDocument/2006/relationships/slideMaster" Target="/ppt/slideMasters/slideMaster1.xml" Id="R33091610caf54c54" /><Relationship Type="http://schemas.openxmlformats.org/officeDocument/2006/relationships/notesMaster" Target="/ppt/notesMasters/notesMaster1.xml" Id="R3d2a4042d7a547bf" /><Relationship Type="http://schemas.openxmlformats.org/officeDocument/2006/relationships/presProps" Target="/ppt/presProps.xml" Id="R609d3a833fd6483b" /><Relationship Type="http://schemas.openxmlformats.org/officeDocument/2006/relationships/viewProps" Target="/ppt/viewProps.xml" Id="R12383083c8794520" /><Relationship Type="http://schemas.openxmlformats.org/officeDocument/2006/relationships/tableStyles" Target="/ppt/tableStyles.xml" Id="Rc0097441a2d94e2d" /><Relationship Type="http://schemas.openxmlformats.org/officeDocument/2006/relationships/slide" Target="/ppt/slides/slide1.xml" Id="Re5f34328db9c47e2" /><Relationship Type="http://schemas.openxmlformats.org/officeDocument/2006/relationships/slide" Target="/ppt/slides/slide2.xml" Id="R7f69ffe41ba043cb" /><Relationship Type="http://schemas.openxmlformats.org/officeDocument/2006/relationships/slide" Target="/ppt/slides/slide3.xml" Id="R2d1763446eaa48b4" /><Relationship Type="http://schemas.openxmlformats.org/officeDocument/2006/relationships/slide" Target="/ppt/slides/slide4.xml" Id="Rfa4583cc83a44c3f" /><Relationship Type="http://schemas.openxmlformats.org/officeDocument/2006/relationships/slide" Target="/ppt/slides/slide5.xml" Id="R73ada26a2a124816" /><Relationship Type="http://schemas.openxmlformats.org/officeDocument/2006/relationships/slide" Target="/ppt/slides/slide6.xml" Id="Re619e3e248244909" /><Relationship Type="http://schemas.openxmlformats.org/officeDocument/2006/relationships/slide" Target="/ppt/slides/slide7.xml" Id="R57d4dc841c35462c" /><Relationship Type="http://schemas.openxmlformats.org/officeDocument/2006/relationships/slide" Target="/ppt/slides/slide8.xml" Id="R32d6328305224c4c" /><Relationship Type="http://schemas.openxmlformats.org/officeDocument/2006/relationships/slide" Target="/ppt/slides/slide9.xml" Id="R0067cbf0513b4c61" /><Relationship Type="http://schemas.openxmlformats.org/officeDocument/2006/relationships/slide" Target="/ppt/slides/slide10.xml" Id="R8d2309ac8cd74c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6d73b682d24d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ece7ebc66646df" /><Relationship Type="http://schemas.openxmlformats.org/officeDocument/2006/relationships/notesMaster" Target="/ppt/notesMasters/notesMaster1.xml" Id="R7690c466f32247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547e6d87b944c7" /><Relationship Type="http://schemas.openxmlformats.org/officeDocument/2006/relationships/notesMaster" Target="/ppt/notesMasters/notesMaster1.xml" Id="Rf0c2a10ee14440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3c8835290345b1" /><Relationship Type="http://schemas.openxmlformats.org/officeDocument/2006/relationships/notesMaster" Target="/ppt/notesMasters/notesMaster1.xml" Id="R9789f2690d2e45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73b7ac6cab4665" /><Relationship Type="http://schemas.openxmlformats.org/officeDocument/2006/relationships/notesMaster" Target="/ppt/notesMasters/notesMaster1.xml" Id="R9db8893ee12a43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5ca12b7c214eb9" /><Relationship Type="http://schemas.openxmlformats.org/officeDocument/2006/relationships/notesMaster" Target="/ppt/notesMasters/notesMaster1.xml" Id="Rf2745d64577b4f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637904332640bd" /><Relationship Type="http://schemas.openxmlformats.org/officeDocument/2006/relationships/notesMaster" Target="/ppt/notesMasters/notesMaster1.xml" Id="Ra65f23fbb6b345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cc7d434ab64a12" /><Relationship Type="http://schemas.openxmlformats.org/officeDocument/2006/relationships/notesMaster" Target="/ppt/notesMasters/notesMaster1.xml" Id="R57616655662342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2666e0af704d3c" /><Relationship Type="http://schemas.openxmlformats.org/officeDocument/2006/relationships/notesMaster" Target="/ppt/notesMasters/notesMaster1.xml" Id="R0e28123a12ef4a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8a32e4941249db" /><Relationship Type="http://schemas.openxmlformats.org/officeDocument/2006/relationships/notesMaster" Target="/ppt/notesMasters/notesMaster1.xml" Id="R6b897ecea6a34c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e4de3153df4bd6" /><Relationship Type="http://schemas.openxmlformats.org/officeDocument/2006/relationships/notesMaster" Target="/ppt/notesMasters/notesMaster1.xml" Id="R6d81cde1eaab4a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review first explains the two papers, then connects them to our research task. Paper 1 integrates an alumina–YAG interlayer into a YSZ thermal barrier coating on GH864 superalloy. Paper 2 studies the alumina–YAG coating itself on a NiCoCrAlY alloy. The immediate question is whether an externally deposited ceramic layer can provide good adhesion and controllable thickness on our CoNiCrAlY surface. We must distinguish a deposited ceramic layer from the thermally grown oxide formed during service. We will also distinguish evidence from proposals. The two papers are from the same group and are not independent replication.</a:t>
            </a:r>
          </a:p>
          <a:p xmlns:a="http://schemas.openxmlformats.org/drawingml/2006/main">
            <a:r>
              <a:t/>
            </a:r>
          </a:p>
          <a:p xmlns:a="http://schemas.openxmlformats.org/drawingml/2006/main">
            <a:r>
              <a:t>Ren, He &amp; Wang. Cyclic oxidation behavior and thermal barrier effect of YSZ–(Al2O3/YAG) double-layer TBCs prepared by the composite sol–gel method. Surface &amp; Coatings Technology 206 (2011), 1461–1468. DOI: 10.1016/j.surfcoat.2011.09.025.</a:t>
            </a:r>
          </a:p>
          <a:p xmlns:a="http://schemas.openxmlformats.org/drawingml/2006/main">
            <a:r>
              <a:t>Ren, He &amp; Wang. High-temperature cyclic oxidation behavior of Al2O3–YAG composite coating prepared by EPD and microwave sintering. Applied Surface Science 258 (2012), 5739–5745. DOI: 10.1016/j.apsusc.2012.02.081.</a:t>
            </a:r>
          </a:p>
          <a:p xmlns:a="http://schemas.openxmlformats.org/drawingml/2006/main">
            <a:r>
              <a:t/>
            </a:r>
          </a:p>
          <a:p xmlns:a="http://schemas.openxmlformats.org/drawingml/2006/main">
            <a:r>
              <a:t>Figures are limited excerpts from user-supplied papers, used with attribution for internal academic criticism and discussion. No external redistribution rights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The alloy was GH864, not a CoNiCrAlY bond coat. It was ground with 800-grit SiC and ultrasonically cleaned in acetone. The boehmite sol contained 1 wt.% alpha-alumina seeds with a mean particle size of 40 nm. Y nitrate supplied yttrium, with Y/Al molar ratios of 1:9, 21:79 and 37:63 for AY1, AY2 and AY3. EPD was performed at 0.03 A/cm² for 6 minutes. After room-temperature drying for 24 hours, the interlayer was microwave-sintered. A YSZ slurry was then blade-coated. The final double-layer treatment was PFMS at 960 °C for 2 hours after drying at 80 °C for 24 hours. Figure 2 shows the surface and section of the interlayer and the double-layer coating, specifically for AY1. These micrographs support morphological continuity; they do not quantify bond strength.</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Cyclic oxidation behavior and thermal barrier effect of YSZ–(Al2O3/YAG) double-layer TBCs prepared by the composite sol–gel method. Surface &amp; Coatings Technology 206 (2011), 1461–1468. DOI: 10.1016/j.surfcoat.2011.09.025. Figure 2, PDF p. 2, journal p. 1462; experimental procedure continues on PDF p.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The test lasted 200 hours in air at 1000 °C, with 10-hour hot exposures and 20-minute air cooling. The blank sample reached approximately 3.996 mg/cm² weight gain and the YSZ-only sample approximately 2.231 mg/cm². AY3 plus YSZ reached approximately 1.035 mg/cm². The latter is about 54% lower than YSZ alone, calculated as one minus 1.035 divided by 2.231. Figure 5b also shows the lowest spallation loss for AY3 plus YSZ among the tested double-layer coatings. The authors attribute this to alumina sealing, reactive-element effects and composite microstructure. These are proposed mechanisms rather than direct measurements of every transport pathway. Do not compare these absolute mass gains directly with Paper 2 because the substrate and reported test temperature differ.</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Cyclic oxidation behavior and thermal barrier effect of YSZ–(Al2O3/YAG) double-layer TBCs prepared by the composite sol–gel method. Surface &amp; Coatings Technology 206 (2011), 1461–1468. DOI: 10.1016/j.surfcoat.2011.09.025. Figure 5, PDF p. 4, journal p. 1464; discussion pp. 1464–1466.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Figure 1 defines the furnace, surface and backside temperatures. This is a cooled-backside test, not a direct thermal conductivity measurement. We use positive temperature drop ΔT = T1 minus T2, consistent with the results section; the methods section prints the opposite sign. At an N₂ flow of 8 L/min and furnace temperature of 1000 °C, the dual-layer drops are 205 and 223 °C for 150 and 250 micrometres. At 1100 °C they are 146 and 165 °C. All four corresponding dual-layer values exceed those of single YSZ at the same total coating thickness. These 150 and 250 micrometre values refer to the tested ceramic coatings, not a prescribed alumina–YAG interlayer thickness. Table 1 also contains data at 5 L/min; this slide intentionally shows the 8 L/min subset. The cooling boundary condition must be matched before making comparisons.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Cyclic oxidation behavior and thermal barrier effect of YSZ–(Al2O3/YAG) double-layer TBCs prepared by the composite sol–gel method. Surface &amp; Coatings Technology 206 (2011), 1461–1468. DOI: 10.1016/j.surfcoat.2011.09.025. Figure 1, PDF p. 2, journal p. 1462; Table 1, PDF p. 8, journal p. 1468. Source sign inconsistency: §2.4 vs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2 is closer to the current task because its substrate is a NiCoCrAlY alloy, with Ni 39.5, Co 32, Cr 20, Al 8 and Y 0.5 wt.%. This is a bulk alloy coupon, not necessarily representative of an as-sprayed CoNiCrAlY bond coat. The surface was ground to 1000 grit and ultrasonically cleaned in acetone. Positively charged sol particles were deposited on the cathodic alloy with graphite anodes 10 mm away. The seeded sol used 1 wt.% alpha-alumina nanoparticles and Y/Al molar ratios 0.05, 0.10 and 0.20. A PEG concentration of 0.2 wt.% gave the maximum measured zeta potential. Figure 3 compares 4, 6, 8 and 10 minutes: 4 minutes is coarse, 6–8 minutes is smooth and dense, and 10 minutes produces cracks and local spallation. The figure documents a time window, not a universal thickness calibration. The authors selected 8 minutes, with the detailed microstructure specimen at 3.0 mA/cm².</a:t>
            </a:r>
            <a:endParaRPr/>
          </a:p>
          <a:p xmlns:a="http://schemas.openxmlformats.org/drawingml/2006/main">
            <a:r>
              <a:t/>
            </a:r>
            <a:endParaRPr/>
          </a:p>
          <a:p xmlns:a="http://schemas.openxmlformats.org/drawingml/2006/main">
            <a:r>
              <a:t>Ren, He &amp; Wang. High-temperature cyclic oxidation behavior of Al2O3–YAG composite coating prepared by EPD and microwave sintering. Applied Surface Science 258 (2012), 5739–5745. DOI: 10.1016/j.apsusc.2012.02.081. Figure 3, PDF p. 3, journal p. 5741; experimental procedure PDF p. 2, journal p. 5740.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Figure 4a and 4b compare sections after 10 minutes and 1 hour of microwave sintering. Figure 4c and 4d show low- and high-magnification surfaces after 1 hour; the original EDS panels were omitted in this crop for readability. The authors identify nanoscale YAG particles in an alumina matrix. Figure 5 compares unseeded and seeded coatings. The text reports faster alpha-alumina formation with seeds and identifies YAG after the 1-hour PFMS treatment. The text and numbered time sequence in Figure 5 are not fully consistent, so we do not claim a precise shortest alpha-transformation time. Importantly, this paper does not explicitly state the PFMS temperature in its experimental section; it refers to an earlier paper for the equipment and procedure. The 960 °C schedule in Paper 1 must not be treated as a verified temperature for Paper 2. Interface continuity is qualitative adhesion evidence, not a quantitative interfacial strength or toughness value.</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High-temperature cyclic oxidation behavior of Al2O3–YAG composite coating prepared by EPD and microwave sintering. Applied Surface Science 258 (2012), 5739–5745. DOI: 10.1016/j.apsusc.2012.02.081. Figures 4–5, PDF p. 4, journal p. 5742; phase discussion PDF p. 3, journal p. 5741.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Figure 7 is the strongest quantitative result in Paper 2. At 200 hours, blank and alumina-only mass gains are 1.29 and 0.99 mg/cm². The lowest composite curve is AY1, labelled approximately 0.19 mg/cm² in Figure 7a. The prose mistakenly assigns 0.19 to AY3; the plotted series and Table 1 instead support the ranking AY1, AY2, AY3 for oxidation suppression. Table 1 lists initial-stage kp values of 8.46e-8, 1.04e-7 and 1.22e-7 mg² cm⁻⁴ s⁻¹ for AY1, AY2 and AY3. In contrast, AY3 has the lowest spallation weight of 0.11 mg/cm² in Figure 7b, compared with 0.94 for blank and 0.57 for alumina only. Thus minimizing oxygen-related mass gain and minimizing spallation are different optimization objectives. The methods, Figure 7 caption and Table 1 specify 1050 °C, while the abstract, conclusions and Figure 8 caption state 1000 °C. This inconsistency remains unresolved; use the figure-specific condition when presenting Figure 7.</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High-temperature cyclic oxidation behavior of Al2O3–YAG composite coating prepared by EPD and microwave sintering. Applied Surface Science 258 (2012), 5739–5745. DOI: 10.1016/j.apsusc.2012.02.081. Figure 7 and Table 1, PDF p. 5, journal p. 5743; temperature inconsistency spans PDF pp. 1, 2, 5, 6,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Figure 9 is a schematic model proposed by the authors, not direct imaging of oxygen flux or crack propagation. Continuous alpha-alumina is argued to restrict transport, while Y-containing phases influence grain-boundary transport and oxide adherence. Dispersed YAG can inhibit grain growth and deflect cracks, potentially improving damage tolerance. Both papers use the approximate stored elastic energy scaling U = (1−ν) σ² h / E. Under fixed stress, modulus and Poisson ratio, stored energy per unit area increases with layer thickness. This provides a rationale for avoiding excessive deposition, but it is not a calibrated design law for an unknown CoNiCrAlY system. Modulus and stress may also change with composition, porosity and thermal history. Neither paper reports a direct interfacial fracture toughness measurement, so the proposed toughening and adhesion mechanisms need independent verification.</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High-temperature cyclic oxidation behavior of Al2O3–YAG composite coating prepared by EPD and microwave sintering. Applied Surface Science 258 (2012), 5739–5745. DOI: 10.1016/j.apsusc.2012.02.081. Figure 9 and Eq. 5, PDF p. 7, journal p. 5745; discussion p. 5744. Ren, He &amp; Wang. Cyclic oxidation behavior and thermal barrier effect of YSZ–(Al2O3/YAG) double-layer TBCs prepared by the composite sol–gel method. Surface &amp; Coatings Technology 206 (2011), 1461–1468. DOI: 10.1016/j.surfcoat.2011.09.025. Eq. 1, p. 1465.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The main lesson is to externally supply alumina and yttrium precursors, deposit them and heat-treat to form an alumina–YAG ceramic layer. The layer is externally prepared even though its constituent phases form during post-deposition heat treatment. It must be distinguished from substrate-grown TGO. Paper 2 provides the closer precedent on a related MCrAlY alloy. Its polished bulk NiCoCrAlY coupon and our CoNiCrAlY surface may differ in chemistry, roughness, oxide state and coating porosity. We therefore cannot assume the same EPD window, adhesion, or sintering compatibility. Paper 1's 150/250 µm thermal-barrier thickness is not a target interlayer thickness. Paper 2 does not provide a quantitative deposited-thickness-versus-time calibration or a bond-strength number. This slide defines which aspects can be borrowed and which must be measured locally. CMAS was not tested in either paper and is optional for our present problem.</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Cyclic oxidation behavior and thermal barrier effect of YSZ–(Al2O3/YAG) double-layer TBCs prepared by the composite sol–gel method. Surface &amp; Coatings Technology 206 (2011), 1461–1468. DOI: 10.1016/j.surfcoat.2011.09.025.</a:t>
            </a:r>
          </a:p>
          <a:p xmlns:a="http://schemas.openxmlformats.org/drawingml/2006/main">
            <a:r>
              <a:rPr sz="1200" b="0">
                <a:solidFill>
                  <a:schemeClr val="tx1"/>
                </a:solidFill>
                <a:latin typeface="+mn-lt"/>
                <a:ea typeface="+mn-lt"/>
                <a:cs typeface="+mn-lt"/>
              </a:rPr>
              <a:t>Ren, He &amp; Wang. High-temperature cyclic oxidation behavior of Al2O3–YAG composite coating prepared by EPD and microwave sintering. Applied Surface Science 258 (2012), 5739–5745. DOI: 10.1016/j.apsusc.2012.02.081.</a:t>
            </a:r>
            <a:endParaRPr sz="1200" b="0" kern="1200">
              <a:solidFill>
                <a:schemeClr val="tx1"/>
              </a:solidFill>
              <a:latin typeface="+mn-lt"/>
              <a:ea typeface="+mn-lt"/>
              <a:cs typeface="+mn-lt"/>
            </a:endParaRPr>
          </a:p>
          <a:p xmlns:a="http://schemas.openxmlformats.org/drawingml/2006/main">
            <a:r>
              <a:t>Only these two full-text papers were available for verified analysis. Complementary current SCI literature could not be verified because the external research endpoints were blocked; no unverified additional citations were inserted.</a:t>
            </a:r>
            <a:endParaRPr sz="1200" b="0" kern="1200">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The proposed plan begins with controlled CoNiCrAlY surface preparation and a documented native oxide and roughness state. Start with the Paper 2 seeded boehmite chemistry and PEG 0.2 wt.% if chemically compatible. First hold Y/Al and current fixed while screening deposition times of 4, 6 and 8 minutes; 10 minutes may be used as an over-deposition reference only if useful. At each condition, measure deposited mass and cross-sectional thickness at multiple positions. Use at least three coupons per selected condition as a proposed replication level, not a requirement established by the papers. Next vary Y/Al between 0.05, 0.10 and 0.20 at a comparable measured thickness to avoid confounding composition and thickness. Verify heat treatment and phase completion by XRD before adopting a schedule; Paper 2 does not specify its temperature, and conventional furnace treatment cannot be assumed equivalent to PFMS. Controls should include an uncoated sample, alumina-only coating and a heat-treated blank. Assess adhesion by a suitable quantitative method such as instrumented scratch or interfacial fracture testing and confirm the failure location in section. During cyclic oxidation, separately measure mass change and collected spall, TGO thickness and delamination. Choose the thinnest continuous layer that meets the adhesion and cyclic-stability criteria. CMAS is a later optional task.</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Proposal grounded in: Ren, He &amp; Wang. High-temperature cyclic oxidation behavior of Al2O3–YAG composite coating prepared by EPD and microwave sintering. Applied Surface Science 258 (2012), 5739–5745. DOI: 10.1016/j.apsusc.2012.02.081. §2–5, Figs. 3–9; Ren, He &amp; Wang. Cyclic oxidation behavior and thermal barrier effect of YSZ–(Al2O3/YAG) double-layer TBCs prepared by the composite sol–gel method. Surface &amp; Coatings Technology 206 (2011), 1461–1468. DOI: 10.1016/j.surfcoat.2011.09.025. §2–3. Numerical deposition starting points are from Paper 2 and are not transferred as confirmed optima.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a31c8ab06043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f24be354a04b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3379d6dde041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e0ca5fc95642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9f4008c0ac4c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aaa2cb6cc7445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a2b5c7115b148a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932f705ff734d1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d1981ca2aab45c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7328b836cae43f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7a40c6235f4464e"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84E4CB3-190A-4D02-94CA-FC076FC47108}"/>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78C54262-EC3A-4218-B1F9-05A72E17A47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6C9CAD42-AA85-46D5-A87C-FBB752A371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77B4B9D1-5CA8-4495-B7C2-4847B33CE1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23520218-713A-4A0C-BEE5-6C0A6555FE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4E7B5E8-EBEC-4608-9FB5-54C90738E09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C80A9AD0-B220-43C1-8413-BBAC6D2147E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A402EE78-8D8C-4DD8-9811-3BB5ACA174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5021AEE3-04A2-4F67-BF9B-4AE11C2937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E421F3F1-A6BC-4653-8361-D6D4DFD894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BD98C4D-E87F-46C8-A5B2-4520A88CF066}"/>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C42A5A12-D0A6-44C6-86B7-12809CD2D3CD}"/>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B60FC8D5-3DE9-4C05-91D8-5BAAF4AC27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5BD5B9EB-7C22-4C70-AEBC-7B8238737C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09FD15A-9A06-45CC-AA6C-D4002C585D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6077566-2A3C-43F8-A926-5DE77046724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77C535E5-B8B2-4943-9FF5-2C52E33494D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C0ED67AC-47F0-49D2-82C0-A8C0192979C4}"/>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BDEF22EC-E670-410D-88D8-8E8F164D8D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38F09667-0320-4701-8067-BDBB7CF3EC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329BD232-F8B7-45C1-9BBD-32BAED9633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592DB13-82DA-4343-B124-3B6B170DB31F}"/>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8A5255AB-7527-460C-ADF7-73D70F5B7A4F}"/>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C1504619-4A2D-4A62-8E30-8F903335C41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80464818-44A3-405C-9EDB-65787E96F252}"/>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E99D5231-CB23-425B-8E2D-14C03AA699AB}"/>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4CA99DA6-346C-4032-9C41-9FA4333A30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8" name="页脚占位符 7">
            <a:extLst xmlns:a="http://schemas.openxmlformats.org/drawingml/2006/main">
              <a:ext uri="{FF2B5EF4-FFF2-40B4-BE49-F238E27FC236}">
                <a16:creationId xmlns:a16="http://schemas.microsoft.com/office/drawing/2014/main" id="{417ABF24-1DF6-4AA3-A24C-3061FE6CFD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F1D10A2D-34BD-44E0-826E-0CC9C7DE0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82A596D-94F7-4B16-A198-A6AE042652A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FB954883-2C17-4855-88C4-95EC4BD803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4" name="页脚占位符 3">
            <a:extLst xmlns:a="http://schemas.openxmlformats.org/drawingml/2006/main">
              <a:ext uri="{FF2B5EF4-FFF2-40B4-BE49-F238E27FC236}">
                <a16:creationId xmlns:a16="http://schemas.microsoft.com/office/drawing/2014/main" id="{D6ADB56C-A6D6-4246-9661-1C2E6962DE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BBC672BC-B0A0-4EE1-BB2D-1B75F89361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F2A46D36-762A-48A8-81EC-DD05F61B89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3" name="页脚占位符 2">
            <a:extLst xmlns:a="http://schemas.openxmlformats.org/drawingml/2006/main">
              <a:ext uri="{FF2B5EF4-FFF2-40B4-BE49-F238E27FC236}">
                <a16:creationId xmlns:a16="http://schemas.microsoft.com/office/drawing/2014/main" id="{60A5F295-8E0A-4539-A4A3-3AD9CF8207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2BE18CC7-C0A8-415B-8414-D062C9684A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A743A39-1276-4C15-BE5B-588DF2BF297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CBBE99D0-2490-4195-A1C7-622F8751CE09}"/>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文本占位符 3">
            <a:extLst xmlns:a="http://schemas.openxmlformats.org/drawingml/2006/main">
              <a:ext uri="{FF2B5EF4-FFF2-40B4-BE49-F238E27FC236}">
                <a16:creationId xmlns:a16="http://schemas.microsoft.com/office/drawing/2014/main" id="{DB7B7837-1B33-4400-94DD-1B59D09779E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155D8D47-6A0B-46FB-BDC0-2C6567001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24177577-10F0-4FF8-94AB-83A0B85D93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19C7043A-6A6D-43FC-8F46-7216A1F7AD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A04D758-C6F5-4D85-B875-37EE564566D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93AA2C92-649E-46E3-9840-C99B90D6110E}"/>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CFD52DB7-296C-4F16-8EC4-9F85D2DA0F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DA18AE9B-3E71-4DC6-9A0E-C4A24DF494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A3261DC7-51AE-4117-81CD-D421588585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0CFAE183-2B40-4CE7-B25B-21C2ADE551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205F416-98D4-4B86-8EED-2DB9A43333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ABFF4166-48A1-4720-BE08-86C8339D0A2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3F45A0AE-982A-4552-BD9B-4FBFF63F10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B6469FC0-35F3-4E29-AF63-079CAF73F1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C625F753-A080-4541-9E22-19B5B479F4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1.xml><?xml version="1.0" encoding="utf-8"?>
<p:sldLayout xmlns:p="http://schemas.openxmlformats.org/presentationml/2006/main" type="vertTitleAndTx" preserve="1">
  <p:cSld name="垂直排列标题与&#10;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2606090C-C6F8-44F5-AEAF-53B3AE254135}"/>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9003FC3F-4876-467B-8650-4BE4BCEBC067}"/>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4BA3DDE8-AED6-4C46-9B80-CA717635BD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523D4CBA-9750-4B0C-9A1E-8469EC366B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109AE0A-26C3-4622-9574-7B2A04C564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6f25354e7d45f3" /><Relationship Type="http://schemas.openxmlformats.org/officeDocument/2006/relationships/slideLayout" Target="/ppt/slideLayouts/slideLayout1.xml" Id="Re34475e2b3584b98" /><Relationship Type="http://schemas.openxmlformats.org/officeDocument/2006/relationships/slideLayout" Target="/ppt/slideLayouts/slideLayout2.xml" Id="R4751e150747546fd" /><Relationship Type="http://schemas.openxmlformats.org/officeDocument/2006/relationships/slideLayout" Target="/ppt/slideLayouts/slideLayout3.xml" Id="Ra4064f6d76d44cf2" /><Relationship Type="http://schemas.openxmlformats.org/officeDocument/2006/relationships/slideLayout" Target="/ppt/slideLayouts/slideLayout4.xml" Id="R9c23f35f005c4805" /><Relationship Type="http://schemas.openxmlformats.org/officeDocument/2006/relationships/slideLayout" Target="/ppt/slideLayouts/slideLayout5.xml" Id="R8d5fcbfdec7945ac" /><Relationship Type="http://schemas.openxmlformats.org/officeDocument/2006/relationships/slideLayout" Target="/ppt/slideLayouts/slideLayout6.xml" Id="R586e8088e81141c7" /><Relationship Type="http://schemas.openxmlformats.org/officeDocument/2006/relationships/slideLayout" Target="/ppt/slideLayouts/slideLayout7.xml" Id="R1b2f6d92581949da" /><Relationship Type="http://schemas.openxmlformats.org/officeDocument/2006/relationships/slideLayout" Target="/ppt/slideLayouts/slideLayout8.xml" Id="Rdfbeb41627c84250" /><Relationship Type="http://schemas.openxmlformats.org/officeDocument/2006/relationships/slideLayout" Target="/ppt/slideLayouts/slideLayout9.xml" Id="R768b243de0614690" /><Relationship Type="http://schemas.openxmlformats.org/officeDocument/2006/relationships/slideLayout" Target="/ppt/slideLayouts/slideLayout10.xml" Id="R94c92d83db314dec" /><Relationship Type="http://schemas.openxmlformats.org/officeDocument/2006/relationships/slideLayout" Target="/ppt/slideLayouts/slideLayout11.xml" Id="R9ad64ebd103344b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0F8AFFF6-D501-4024-BE53-6CF16FD1DAAA}"/>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D7FE9BE3-1083-45C9-8CBD-5820C71096C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5D920CB9-5C1B-42B9-B5EE-79071A50B90D}"/>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8056EDE7-2F75-41CA-9AFA-C68D1636366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9710A1BC-61AF-4504-9773-5057A411A9F2}"/>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565CE74E-AB26-4998-AD42-012C4C1AD07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4475e2b3584b98"/>
    <p:sldLayoutId xmlns:r="http://schemas.openxmlformats.org/officeDocument/2006/relationships" id="2147483650" r:id="R4751e150747546fd"/>
    <p:sldLayoutId xmlns:r="http://schemas.openxmlformats.org/officeDocument/2006/relationships" id="2147483651" r:id="Ra4064f6d76d44cf2"/>
    <p:sldLayoutId xmlns:r="http://schemas.openxmlformats.org/officeDocument/2006/relationships" id="2147483652" r:id="R9c23f35f005c4805"/>
    <p:sldLayoutId xmlns:r="http://schemas.openxmlformats.org/officeDocument/2006/relationships" id="2147483653" r:id="R8d5fcbfdec7945ac"/>
    <p:sldLayoutId xmlns:r="http://schemas.openxmlformats.org/officeDocument/2006/relationships" id="2147483654" r:id="R586e8088e81141c7"/>
    <p:sldLayoutId xmlns:r="http://schemas.openxmlformats.org/officeDocument/2006/relationships" id="2147483655" r:id="R1b2f6d92581949da"/>
    <p:sldLayoutId xmlns:r="http://schemas.openxmlformats.org/officeDocument/2006/relationships" id="2147483656" r:id="Rdfbeb41627c84250"/>
    <p:sldLayoutId xmlns:r="http://schemas.openxmlformats.org/officeDocument/2006/relationships" id="2147483657" r:id="R768b243de0614690"/>
    <p:sldLayoutId xmlns:r="http://schemas.openxmlformats.org/officeDocument/2006/relationships" id="2147483658" r:id="R94c92d83db314dec"/>
    <p:sldLayoutId xmlns:r="http://schemas.openxmlformats.org/officeDocument/2006/relationships" id="2147483659" r:id="R9ad64ebd103344b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202ffb35b174ec3" /><Relationship Type="http://schemas.openxmlformats.org/officeDocument/2006/relationships/notesSlide" Target="/ppt/notesSlides/notesSlide1.xml" Id="R94f00c496fcc49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44988cbaf6447b4" /><Relationship Type="http://schemas.openxmlformats.org/officeDocument/2006/relationships/image" Target="/ppt/media/image.png" Id="R2ddfc33422fd4ecf" /><Relationship Type="http://schemas.openxmlformats.org/officeDocument/2006/relationships/image" Target="/ppt/media/image.svg" Id="Rb39e6c7cadfa4752" /><Relationship Type="http://schemas.openxmlformats.org/officeDocument/2006/relationships/image" Target="/ppt/media/image.jpeg" Id="R96f6db1a9e0341c4" /><Relationship Type="http://schemas.openxmlformats.org/officeDocument/2006/relationships/notesSlide" Target="/ppt/notesSlides/notesSlide2.xml" Id="R81c039a1bec94f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0232db1c6134a9b" /><Relationship Type="http://schemas.openxmlformats.org/officeDocument/2006/relationships/image" Target="/ppt/media/image.png" Id="R19298852a3ce4eb3" /><Relationship Type="http://schemas.openxmlformats.org/officeDocument/2006/relationships/image" Target="/ppt/media/image.svg" Id="R6be75006e70142c9" /><Relationship Type="http://schemas.openxmlformats.org/officeDocument/2006/relationships/image" Target="/ppt/media/image2.png" Id="R15eef6c5896e4e6d" /><Relationship Type="http://schemas.openxmlformats.org/officeDocument/2006/relationships/image" Target="/ppt/media/image3.png" Id="Rfa2c2036ea7543aa" /><Relationship Type="http://schemas.openxmlformats.org/officeDocument/2006/relationships/notesSlide" Target="/ppt/notesSlides/notesSlide3.xml" Id="Rfba9e7cf4a414a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954d83b279434652" /><Relationship Type="http://schemas.openxmlformats.org/officeDocument/2006/relationships/image" Target="/ppt/media/image.png" Id="R8228b433c0994501" /><Relationship Type="http://schemas.openxmlformats.org/officeDocument/2006/relationships/image" Target="/ppt/media/image.svg" Id="Rf101fd2e8c3546b7" /><Relationship Type="http://schemas.openxmlformats.org/officeDocument/2006/relationships/image" Target="/ppt/media/image2.jpeg" Id="R66baa9a2e7b34738" /><Relationship Type="http://schemas.openxmlformats.org/officeDocument/2006/relationships/notesSlide" Target="/ppt/notesSlides/notesSlide4.xml" Id="Rc089681be76e4e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497bf52124c420d" /><Relationship Type="http://schemas.openxmlformats.org/officeDocument/2006/relationships/image" Target="/ppt/media/image4.png" Id="Re1ae009d8af2412b" /><Relationship Type="http://schemas.openxmlformats.org/officeDocument/2006/relationships/image" Target="/ppt/media/image3.jpeg" Id="Rb681c40e158d4518" /><Relationship Type="http://schemas.openxmlformats.org/officeDocument/2006/relationships/notesSlide" Target="/ppt/notesSlides/notesSlide5.xml" Id="R143b5d8e133d40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516c3f8d83374b34" /><Relationship Type="http://schemas.openxmlformats.org/officeDocument/2006/relationships/image" Target="/ppt/media/image5.png" Id="R14851311064f4fd4" /><Relationship Type="http://schemas.openxmlformats.org/officeDocument/2006/relationships/image" Target="/ppt/media/image2.svg" Id="Rb7969a238e184871" /><Relationship Type="http://schemas.openxmlformats.org/officeDocument/2006/relationships/image" Target="/ppt/media/image6.png" Id="R4a445f18a60f44f0" /><Relationship Type="http://schemas.openxmlformats.org/officeDocument/2006/relationships/image" Target="/ppt/media/image4.jpeg" Id="R90ad394be28c42f5" /><Relationship Type="http://schemas.openxmlformats.org/officeDocument/2006/relationships/notesSlide" Target="/ppt/notesSlides/notesSlide6.xml" Id="R03a2224a6c3e4f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241f4cfcf35471a" /><Relationship Type="http://schemas.openxmlformats.org/officeDocument/2006/relationships/image" Target="/ppt/media/image7.png" Id="R9744c07c69db422c" /><Relationship Type="http://schemas.openxmlformats.org/officeDocument/2006/relationships/image" Target="/ppt/media/image3.svg" Id="Rf2e918c47e2d4497" /><Relationship Type="http://schemas.openxmlformats.org/officeDocument/2006/relationships/image" Target="/ppt/media/image5.jpeg" Id="Rb85d6a4354d44796" /><Relationship Type="http://schemas.openxmlformats.org/officeDocument/2006/relationships/notesSlide" Target="/ppt/notesSlides/notesSlide7.xml" Id="R9ea09df070044a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50f381eda4a487c" /><Relationship Type="http://schemas.openxmlformats.org/officeDocument/2006/relationships/image" Target="/ppt/media/image7.png" Id="R0ae0b073cd7b4ea1" /><Relationship Type="http://schemas.openxmlformats.org/officeDocument/2006/relationships/image" Target="/ppt/media/image3.svg" Id="R6105415d17804964" /><Relationship Type="http://schemas.openxmlformats.org/officeDocument/2006/relationships/image" Target="/ppt/media/image8.png" Id="R1d62a751b3ea4dd9" /><Relationship Type="http://schemas.openxmlformats.org/officeDocument/2006/relationships/notesSlide" Target="/ppt/notesSlides/notesSlide8.xml" Id="Rd22a61a8efae40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f17af5c7be484cf0" /><Relationship Type="http://schemas.openxmlformats.org/officeDocument/2006/relationships/image" Target="/ppt/media/image9.png" Id="R2a8371e3e55747ca" /><Relationship Type="http://schemas.openxmlformats.org/officeDocument/2006/relationships/image" Target="/ppt/media/image4.svg" Id="R7f82fc97a404471f" /><Relationship Type="http://schemas.openxmlformats.org/officeDocument/2006/relationships/image" Target="/ppt/media/image10.png" Id="R07788a9f64b340c2" /><Relationship Type="http://schemas.openxmlformats.org/officeDocument/2006/relationships/image" Target="/ppt/media/image5.svg" Id="Rafb66fc07e9149d2" /><Relationship Type="http://schemas.openxmlformats.org/officeDocument/2006/relationships/notesSlide" Target="/ppt/notesSlides/notesSlide9.xml" Id="R9f73c4d3676649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63fe8a0cc21f4747" /><Relationship Type="http://schemas.openxmlformats.org/officeDocument/2006/relationships/image" Target="/ppt/media/image11.png" Id="R304e05efa91740b7" /><Relationship Type="http://schemas.openxmlformats.org/officeDocument/2006/relationships/image" Target="/ppt/media/image6.svg" Id="R8d60e8eecc3947a3" /><Relationship Type="http://schemas.openxmlformats.org/officeDocument/2006/relationships/notesSlide" Target="/ppt/notesSlides/notesSlide10.xml" Id="R652ecce53499450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形状 15">
            <a:extLst xmlns:a="http://schemas.openxmlformats.org/drawingml/2006/main">
              <a:ext uri="{FF2B5EF4-FFF2-40B4-BE49-F238E27FC236}">
                <a16:creationId xmlns:a16="http://schemas.microsoft.com/office/drawing/2014/main" id="{49B09C52-BE0C-46A5-824D-0339B67A318C}"/>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7" name="任意多边形: 形状 16">
            <a:extLst xmlns:a="http://schemas.openxmlformats.org/drawingml/2006/main">
              <a:ext uri="{FF2B5EF4-FFF2-40B4-BE49-F238E27FC236}">
                <a16:creationId xmlns:a16="http://schemas.microsoft.com/office/drawing/2014/main" id="{6C325ECC-7767-47CD-8429-3EA8B43D3298}"/>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4" name="任意多边形: 形状 13">
            <a:extLst xmlns:a="http://schemas.openxmlformats.org/drawingml/2006/main">
              <a:ext uri="{FF2B5EF4-FFF2-40B4-BE49-F238E27FC236}">
                <a16:creationId xmlns:a16="http://schemas.microsoft.com/office/drawing/2014/main" id="{BFB87915-B169-40CD-9179-E1B08234D41A}"/>
              </a:ext>
            </a:extLst>
          </p:cNvPr>
          <p:cNvSpPr>
            <a:spLocks xmlns:a="http://schemas.openxmlformats.org/drawingml/2006/main" noGrp="1"/>
          </p:cNvSpPr>
          <p:nvPr/>
        </p:nvSpPr>
        <p:spPr>
          <a:xfrm xmlns:a="http://schemas.openxmlformats.org/drawingml/2006/main">
            <a:off x="0" y="21590"/>
            <a:ext cx="12192000" cy="6142893"/>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8" name="任意多边形: 形状 17">
            <a:extLst xmlns:a="http://schemas.openxmlformats.org/drawingml/2006/main">
              <a:ext uri="{FF2B5EF4-FFF2-40B4-BE49-F238E27FC236}">
                <a16:creationId xmlns:a16="http://schemas.microsoft.com/office/drawing/2014/main" id="{50909D50-93D3-4176-BFE9-96CAF32B3841}"/>
              </a:ext>
            </a:extLst>
          </p:cNvPr>
          <p:cNvSpPr>
            <a:spLocks xmlns:a="http://schemas.openxmlformats.org/drawingml/2006/main" noGrp="1"/>
          </p:cNvSpPr>
          <p:nvPr/>
        </p:nvSpPr>
        <p:spPr>
          <a:xfrm xmlns:a="http://schemas.openxmlformats.org/drawingml/2006/main">
            <a:off x="0" y="557937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84653AA3-52E8-4C73-A03D-9C0EFF744D0B}"/>
              </a:ext>
            </a:extLst>
          </p:cNvPr>
          <p:cNvSpPr>
            <a:spLocks xmlns:a="http://schemas.openxmlformats.org/drawingml/2006/main" noGrp="1"/>
          </p:cNvSpPr>
          <p:nvPr/>
        </p:nvSpPr>
        <p:spPr>
          <a:xfrm xmlns:a="http://schemas.openxmlformats.org/drawingml/2006/main">
            <a:off x="571500" y="2400300"/>
            <a:ext cx="11049000" cy="107899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5400" b="1">
                <a:solidFill>
                  <a:srgbClr val="FFFFFF"/>
                </a:solidFill>
                <a:latin typeface="Times New Roman"/>
                <a:ea typeface="Times New Roman"/>
                <a:cs typeface="Times New Roman"/>
              </a:defRPr>
            </a:defPPr>
          </a:lstStyle>
          <a:p xmlns:a="http://schemas.openxmlformats.org/drawingml/2006/main">
            <a:pPr algn="ctr">
              <a:lnSpc>
                <a:spcPct val="120000"/>
              </a:lnSpc>
              <a:buNone/>
              <a:defRPr sz="5400" b="1">
                <a:solidFill>
                  <a:srgbClr val="FFFFFF"/>
                </a:solidFill>
                <a:latin typeface="Times New Roman"/>
                <a:ea typeface="Times New Roman"/>
                <a:cs typeface="Times New Roman"/>
              </a:defRPr>
            </a:pPr>
            <a:r>
              <a:rPr sz="5400" b="1">
                <a:solidFill>
                  <a:srgbClr val="FFFFFF"/>
                </a:solidFill>
                <a:latin typeface="Times New Roman"/>
                <a:ea typeface="Times New Roman"/>
                <a:cs typeface="Times New Roman"/>
              </a:rPr>
              <a:t>Al₂O₃–YAG Coatings</a:t>
            </a:r>
          </a:p>
        </p:txBody>
      </p:sp>
      <p:sp>
        <p:nvSpPr>
          <p:cNvPr id="2" name="文本框 1">
            <a:extLst xmlns:a="http://schemas.openxmlformats.org/drawingml/2006/main">
              <a:ext uri="{FF2B5EF4-FFF2-40B4-BE49-F238E27FC236}">
                <a16:creationId xmlns:a16="http://schemas.microsoft.com/office/drawing/2014/main" id="{9835232A-D046-4542-A89F-6CBB54037838}"/>
              </a:ext>
            </a:extLst>
          </p:cNvPr>
          <p:cNvSpPr>
            <a:spLocks xmlns:a="http://schemas.openxmlformats.org/drawingml/2006/main" noGrp="1"/>
          </p:cNvSpPr>
          <p:nvPr/>
        </p:nvSpPr>
        <p:spPr>
          <a:xfrm xmlns:a="http://schemas.openxmlformats.org/drawingml/2006/main">
            <a:off x="571500" y="619125"/>
            <a:ext cx="11049000" cy="1432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8800" b="1">
                <a:solidFill>
                  <a:srgbClr val="FFFFFF"/>
                </a:solidFill>
                <a:latin typeface="Times New Roman"/>
                <a:ea typeface="Times New Roman"/>
                <a:cs typeface="Times New Roman"/>
              </a:defRPr>
            </a:defPPr>
          </a:lstStyle>
          <a:p xmlns:a="http://schemas.openxmlformats.org/drawingml/2006/main">
            <a:pPr algn="ctr">
              <a:buNone/>
              <a:defRPr sz="8800" b="1">
                <a:solidFill>
                  <a:srgbClr val="FFFFFF"/>
                </a:solidFill>
                <a:latin typeface="Times New Roman"/>
                <a:ea typeface="Times New Roman"/>
                <a:cs typeface="Times New Roman"/>
              </a:defRPr>
            </a:pPr>
            <a:r>
              <a:rPr sz="8800" b="1">
                <a:solidFill>
                  <a:srgbClr val="FFFFFF"/>
                </a:solidFill>
                <a:latin typeface="Times New Roman"/>
                <a:ea typeface="Times New Roman"/>
                <a:cs typeface="Times New Roman"/>
              </a:rPr>
              <a:t>Literature Review</a:t>
            </a:r>
          </a:p>
        </p:txBody>
      </p:sp>
      <p:sp>
        <p:nvSpPr>
          <p:cNvPr id="19" name="">
            <a:extLst xmlns:a="http://schemas.openxmlformats.org/drawingml/2006/main">
              <a:ext uri="{FF2B5EF4-FFF2-40B4-BE49-F238E27FC236}">
                <a16:creationId xmlns:a16="http://schemas.microsoft.com/office/drawing/2014/main" id="{F8631637-1D01-41F3-B3B6-BCDED7A96C1D}"/>
              </a:ext>
            </a:extLst>
          </p:cNvPr>
          <p:cNvSpPr>
            <a:spLocks xmlns:a="http://schemas.openxmlformats.org/drawingml/2006/main" noGrp="1"/>
          </p:cNvSpPr>
          <p:nvPr/>
        </p:nvSpPr>
        <p:spPr>
          <a:xfrm xmlns:a="http://schemas.openxmlformats.org/drawingml/2006/main">
            <a:off x="571500" y="3581400"/>
            <a:ext cx="11049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4400" b="0">
                <a:solidFill>
                  <a:srgbClr val="FFFFFF"/>
                </a:solidFill>
                <a:latin typeface="Times New Roman"/>
                <a:ea typeface="Times New Roman"/>
                <a:cs typeface="Times New Roman"/>
              </a:defRPr>
            </a:defPPr>
          </a:lstStyle>
          <a:p xmlns:a="http://schemas.openxmlformats.org/drawingml/2006/main">
            <a:pPr algn="ctr">
              <a:defRPr sz="4400" b="0">
                <a:solidFill>
                  <a:srgbClr val="FFFFFF"/>
                </a:solidFill>
                <a:latin typeface="Times New Roman"/>
                <a:ea typeface="Times New Roman"/>
                <a:cs typeface="Times New Roman"/>
              </a:defRPr>
            </a:pPr>
            <a:r>
              <a:rPr sz="4400" b="0">
                <a:solidFill>
                  <a:srgbClr val="FFFFFF"/>
                </a:solidFill>
                <a:latin typeface="Times New Roman"/>
                <a:ea typeface="Times New Roman"/>
                <a:cs typeface="Times New Roman"/>
              </a:rPr>
              <a:t>Cyclic Oxidation and</a:t>
            </a:r>
          </a:p>
          <a:p xmlns:a="http://schemas.openxmlformats.org/drawingml/2006/main">
            <a:pPr algn="ctr">
              <a:defRPr sz="4400" b="0">
                <a:solidFill>
                  <a:srgbClr val="FFFFFF"/>
                </a:solidFill>
                <a:latin typeface="Times New Roman"/>
                <a:ea typeface="Times New Roman"/>
                <a:cs typeface="Times New Roman"/>
              </a:defRPr>
            </a:pPr>
            <a:r>
              <a:rPr sz="4400" b="0">
                <a:solidFill>
                  <a:srgbClr val="FFFFFF"/>
                </a:solidFill>
                <a:latin typeface="Times New Roman"/>
                <a:ea typeface="Times New Roman"/>
                <a:cs typeface="Times New Roman"/>
              </a:rPr>
              <a:t>Thermal Barrier Performance</a:t>
            </a:r>
          </a:p>
        </p:txBody>
      </p:sp>
      <p:sp>
        <p:nvSpPr>
          <p:cNvPr id="20" name="">
            <a:extLst xmlns:a="http://schemas.openxmlformats.org/drawingml/2006/main">
              <a:ext uri="{FF2B5EF4-FFF2-40B4-BE49-F238E27FC236}">
                <a16:creationId xmlns:a16="http://schemas.microsoft.com/office/drawing/2014/main" id="{C360214A-99E1-43F3-8ECD-7E163BF87DA2}"/>
              </a:ext>
            </a:extLst>
          </p:cNvPr>
          <p:cNvSpPr>
            <a:spLocks xmlns:a="http://schemas.openxmlformats.org/drawingml/2006/main" noGrp="1"/>
          </p:cNvSpPr>
          <p:nvPr/>
        </p:nvSpPr>
        <p:spPr>
          <a:xfrm xmlns:a="http://schemas.openxmlformats.org/drawingml/2006/main">
            <a:off x="2381250" y="5295900"/>
            <a:ext cx="7429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800" b="0">
                <a:solidFill>
                  <a:srgbClr val="FFFFFF"/>
                </a:solidFill>
                <a:latin typeface="Times New Roman"/>
                <a:ea typeface="Times New Roman"/>
                <a:cs typeface="Times New Roman"/>
              </a:defRPr>
            </a:defPPr>
          </a:lstStyle>
          <a:p xmlns:a="http://schemas.openxmlformats.org/drawingml/2006/main">
            <a:pPr algn="ctr">
              <a:defRPr sz="2800" b="0">
                <a:solidFill>
                  <a:srgbClr val="FFFFFF"/>
                </a:solidFill>
                <a:latin typeface="Times New Roman"/>
                <a:ea typeface="Times New Roman"/>
                <a:cs typeface="Times New Roman"/>
              </a:defRPr>
            </a:pPr>
            <a:r>
              <a:rPr sz="2800" b="0">
                <a:solidFill>
                  <a:srgbClr val="FFFFFF"/>
                </a:solidFill>
                <a:latin typeface="Times New Roman"/>
                <a:ea typeface="Times New Roman"/>
                <a:cs typeface="Times New Roman"/>
              </a:rPr>
              <a:t>Group Meeting · 12 October 2026</a:t>
            </a:r>
          </a:p>
        </p:txBody>
      </p:sp>
    </p:spTree>
    <p:extLst>
      <p:ext uri="{BB962C8B-B14F-4D97-AF65-F5344CB8AC3E}">
        <p14:creationId xmlns:p14="http://schemas.microsoft.com/office/powerpoint/2010/main" val="97582529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8C3FBA67-40A1-40A5-871B-EC870A8F474F}"/>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EE052D33-B3F3-4904-B792-C03C0CD7930C}"/>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8E23085E-7757-4198-855A-6E00576C54EF}"/>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Paper 1: preparation and coating structure</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51E87C72-D5DF-416D-9FF3-FF0FCF74667D}"/>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79151201-4579-4088-8007-29EF8D4CFB0D}"/>
              </a:ext>
            </a:extLst>
          </p:cNvPr>
          <p:cNvPicPr>
            <a:picLocks xmlns:a="http://schemas.openxmlformats.org/drawingml/2006/main" noChangeAspect="1"/>
          </p:cNvPicPr>
          <p:nvPr/>
        </p:nvPicPr>
        <p:blipFill>
          <a:blip xmlns:r="http://schemas.openxmlformats.org/officeDocument/2006/relationships" xmlns:a="http://schemas.openxmlformats.org/drawingml/2006/main" r:embed="R2ddfc33422fd4ecf">
            <a:extLst>
              <a:ext uri="{96DAC541-7B7A-43D3-8B79-37D633B846F1}">
                <asvg:svgBlip xmlns:asvg="http://schemas.microsoft.com/office/drawing/2016/SVG/main" r:embed="Rb39e6c7cadfa4752"/>
              </a:ext>
            </a:extLst>
          </a:blip>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77C0845E-23F9-416D-AA80-DA3981008B04}"/>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36A91DCE-4AA7-4279-B907-B0F18A3CF1B5}"/>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Source: Ren et al., Surf. Coat. Technol., 2011, Fig. 2.</a:t>
            </a:r>
          </a:p>
        </p:txBody>
      </p:sp>
      <p:sp>
        <p:nvSpPr>
          <p:cNvPr id="62" name="">
            <a:extLst xmlns:a="http://schemas.openxmlformats.org/drawingml/2006/main">
              <a:ext uri="{FF2B5EF4-FFF2-40B4-BE49-F238E27FC236}">
                <a16:creationId xmlns:a16="http://schemas.microsoft.com/office/drawing/2014/main" id="{09B0EAF2-0530-4426-93FA-1DF2F778E10A}"/>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02</a:t>
            </a:r>
          </a:p>
        </p:txBody>
      </p:sp>
      <p:pic>
        <p:nvPicPr>
          <p:cNvPr id="63" name="">
            <a:extLst xmlns:a="http://schemas.openxmlformats.org/drawingml/2006/main">
              <a:ext uri="{FF2B5EF4-FFF2-40B4-BE49-F238E27FC236}">
                <a16:creationId xmlns:a16="http://schemas.microsoft.com/office/drawing/2014/main" id="{CE2FE527-68BA-44F1-B51D-1B81F6E6DA57}"/>
              </a:ext>
            </a:extLst>
          </p:cNvPr>
          <p:cNvPicPr>
            <a:picLocks xmlns:a="http://schemas.openxmlformats.org/drawingml/2006/main" noChangeAspect="1"/>
          </p:cNvPicPr>
          <p:nvPr/>
        </p:nvPicPr>
        <p:blipFill>
          <a:blip xmlns:r="http://schemas.openxmlformats.org/officeDocument/2006/relationships" xmlns:a="http://schemas.openxmlformats.org/drawingml/2006/main" r:embed="R96f6db1a9e0341c4"/>
          <a:stretch xmlns:a="http://schemas.openxmlformats.org/drawingml/2006/main"/>
        </p:blipFill>
        <p:spPr>
          <a:xfrm xmlns:a="http://schemas.openxmlformats.org/drawingml/2006/main">
            <a:off x="728293" y="1114425"/>
            <a:ext cx="5782415" cy="4343400"/>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05FDB6B2-FFBC-4137-A4EC-8277FDBE5D5F}"/>
              </a:ext>
            </a:extLst>
          </p:cNvPr>
          <p:cNvSpPr>
            <a:spLocks xmlns:a="http://schemas.openxmlformats.org/drawingml/2006/main" noGrp="1"/>
          </p:cNvSpPr>
          <p:nvPr/>
        </p:nvSpPr>
        <p:spPr>
          <a:xfrm xmlns:a="http://schemas.openxmlformats.org/drawingml/2006/main">
            <a:off x="6896100" y="1095375"/>
            <a:ext cx="4781550" cy="4438650"/>
          </a:xfrm>
          <a:prstGeom xmlns:a="http://schemas.openxmlformats.org/drawingml/2006/main" prst="roundRect">
            <a:avLst>
              <a:gd name="adj" fmla="val 7725"/>
            </a:avLst>
          </a:prstGeom>
          <a:solidFill xmlns:a="http://schemas.openxmlformats.org/drawingml/2006/main">
            <a:srgbClr val="FFFFFF"/>
          </a:solidFill>
          <a:ln xmlns:a="http://schemas.openxmlformats.org/drawingml/2006/main" w="28575">
            <a:solidFill>
              <a:srgbClr val="0E335B"/>
            </a:solidFill>
            <a:prstDash val="solid"/>
          </a:ln>
        </p:spPr>
      </p:sp>
      <p:sp>
        <p:nvSpPr>
          <p:cNvPr id="65" name="">
            <a:extLst xmlns:a="http://schemas.openxmlformats.org/drawingml/2006/main">
              <a:ext uri="{FF2B5EF4-FFF2-40B4-BE49-F238E27FC236}">
                <a16:creationId xmlns:a16="http://schemas.microsoft.com/office/drawing/2014/main" id="{817291F7-44E5-417C-8B1C-17C0D98A8E54}"/>
              </a:ext>
            </a:extLst>
          </p:cNvPr>
          <p:cNvSpPr>
            <a:spLocks xmlns:a="http://schemas.openxmlformats.org/drawingml/2006/main" noGrp="1"/>
          </p:cNvSpPr>
          <p:nvPr/>
        </p:nvSpPr>
        <p:spPr>
          <a:xfrm xmlns:a="http://schemas.openxmlformats.org/drawingml/2006/main">
            <a:off x="7086600" y="11430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1 · Seeded composite sol</a:t>
            </a:r>
          </a:p>
        </p:txBody>
      </p:sp>
      <p:sp>
        <p:nvSpPr>
          <p:cNvPr id="66" name="">
            <a:extLst xmlns:a="http://schemas.openxmlformats.org/drawingml/2006/main">
              <a:ext uri="{FF2B5EF4-FFF2-40B4-BE49-F238E27FC236}">
                <a16:creationId xmlns:a16="http://schemas.microsoft.com/office/drawing/2014/main" id="{480C2AA9-2C35-4E83-9C08-6EE7BCBD4F52}"/>
              </a:ext>
            </a:extLst>
          </p:cNvPr>
          <p:cNvSpPr>
            <a:spLocks xmlns:a="http://schemas.openxmlformats.org/drawingml/2006/main" noGrp="1"/>
          </p:cNvSpPr>
          <p:nvPr/>
        </p:nvSpPr>
        <p:spPr>
          <a:xfrm xmlns:a="http://schemas.openxmlformats.org/drawingml/2006/main">
            <a:off x="7086600" y="1562100"/>
            <a:ext cx="4457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Boehmite + 1 wt.% α-Al₂O₃ seeds</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Y nitrate supplies the YAG precursor.</a:t>
            </a:r>
          </a:p>
        </p:txBody>
      </p:sp>
      <p:sp>
        <p:nvSpPr>
          <p:cNvPr id="67" name="">
            <a:extLst xmlns:a="http://schemas.openxmlformats.org/drawingml/2006/main">
              <a:ext uri="{FF2B5EF4-FFF2-40B4-BE49-F238E27FC236}">
                <a16:creationId xmlns:a16="http://schemas.microsoft.com/office/drawing/2014/main" id="{43D178B7-68FE-4D21-8B96-E38641831361}"/>
              </a:ext>
            </a:extLst>
          </p:cNvPr>
          <p:cNvSpPr>
            <a:spLocks xmlns:a="http://schemas.openxmlformats.org/drawingml/2006/main" noGrp="1"/>
          </p:cNvSpPr>
          <p:nvPr/>
        </p:nvSpPr>
        <p:spPr>
          <a:xfrm xmlns:a="http://schemas.openxmlformats.org/drawingml/2006/main">
            <a:off x="7086600" y="25146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2 · Interlayer deposition</a:t>
            </a:r>
          </a:p>
        </p:txBody>
      </p:sp>
      <p:sp>
        <p:nvSpPr>
          <p:cNvPr id="68" name="">
            <a:extLst xmlns:a="http://schemas.openxmlformats.org/drawingml/2006/main">
              <a:ext uri="{FF2B5EF4-FFF2-40B4-BE49-F238E27FC236}">
                <a16:creationId xmlns:a16="http://schemas.microsoft.com/office/drawing/2014/main" id="{D14D4797-AAC6-44F1-B3B2-18D8FB28EB24}"/>
              </a:ext>
            </a:extLst>
          </p:cNvPr>
          <p:cNvSpPr>
            <a:spLocks xmlns:a="http://schemas.openxmlformats.org/drawingml/2006/main" noGrp="1"/>
          </p:cNvSpPr>
          <p:nvPr/>
        </p:nvSpPr>
        <p:spPr>
          <a:xfrm xmlns:a="http://schemas.openxmlformats.org/drawingml/2006/main">
            <a:off x="7086600" y="2933700"/>
            <a:ext cx="4457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EPD: 30 mA/cm², 6 min</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Room-temperature drying: 24 h</a:t>
            </a:r>
          </a:p>
        </p:txBody>
      </p:sp>
      <p:sp>
        <p:nvSpPr>
          <p:cNvPr id="69" name="">
            <a:extLst xmlns:a="http://schemas.openxmlformats.org/drawingml/2006/main">
              <a:ext uri="{FF2B5EF4-FFF2-40B4-BE49-F238E27FC236}">
                <a16:creationId xmlns:a16="http://schemas.microsoft.com/office/drawing/2014/main" id="{0FD8081D-3045-4661-934D-EAF76E7E83AE}"/>
              </a:ext>
            </a:extLst>
          </p:cNvPr>
          <p:cNvSpPr>
            <a:spLocks xmlns:a="http://schemas.openxmlformats.org/drawingml/2006/main" noGrp="1"/>
          </p:cNvSpPr>
          <p:nvPr/>
        </p:nvSpPr>
        <p:spPr>
          <a:xfrm xmlns:a="http://schemas.openxmlformats.org/drawingml/2006/main">
            <a:off x="7086600" y="38862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3 · YSZ and final PFMS</a:t>
            </a:r>
          </a:p>
        </p:txBody>
      </p:sp>
      <p:sp>
        <p:nvSpPr>
          <p:cNvPr id="70" name="">
            <a:extLst xmlns:a="http://schemas.openxmlformats.org/drawingml/2006/main">
              <a:ext uri="{FF2B5EF4-FFF2-40B4-BE49-F238E27FC236}">
                <a16:creationId xmlns:a16="http://schemas.microsoft.com/office/drawing/2014/main" id="{923FA1A3-75E7-400E-AB8D-C226DEAAE6FD}"/>
              </a:ext>
            </a:extLst>
          </p:cNvPr>
          <p:cNvSpPr>
            <a:spLocks xmlns:a="http://schemas.openxmlformats.org/drawingml/2006/main" noGrp="1"/>
          </p:cNvSpPr>
          <p:nvPr/>
        </p:nvSpPr>
        <p:spPr>
          <a:xfrm xmlns:a="http://schemas.openxmlformats.org/drawingml/2006/main">
            <a:off x="7086600" y="4305300"/>
            <a:ext cx="4457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Blade-coated YSZ top layer</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Final treatment: 960 °C, 2 h</a:t>
            </a:r>
          </a:p>
        </p:txBody>
      </p:sp>
    </p:spTree>
    <p:extLst>
      <p:ext uri="{BB962C8B-B14F-4D97-AF65-F5344CB8AC3E}">
        <p14:creationId xmlns:p14="http://schemas.microsoft.com/office/powerpoint/2010/main" val="88512279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461CE4B4-42D3-4E84-9BE8-2FCCF7A58F30}"/>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F65D644F-6E9C-4CDC-8E44-B19B4AB932F0}"/>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3620D24E-965F-4E67-8323-8E922229CA4D}"/>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Paper 1: cyclic oxidation at 1000 °C</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2C9B7B4D-4816-4071-9C90-1C294BFF8ABA}"/>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3ECB7D50-12ED-4DD5-8486-9B5A3CA13B45}"/>
              </a:ext>
            </a:extLst>
          </p:cNvPr>
          <p:cNvPicPr>
            <a:picLocks xmlns:a="http://schemas.openxmlformats.org/drawingml/2006/main" noChangeAspect="1"/>
          </p:cNvPicPr>
          <p:nvPr/>
        </p:nvPicPr>
        <p:blipFill>
          <a:blip xmlns:r="http://schemas.openxmlformats.org/officeDocument/2006/relationships" xmlns:a="http://schemas.openxmlformats.org/drawingml/2006/main" r:embed="R19298852a3ce4eb3">
            <a:extLst>
              <a:ext uri="{96DAC541-7B7A-43D3-8B79-37D633B846F1}">
                <asvg:svgBlip xmlns:asvg="http://schemas.microsoft.com/office/drawing/2016/SVG/main" r:embed="R6be75006e70142c9"/>
              </a:ext>
            </a:extLst>
          </a:blip>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55C1A6E1-A06F-4F18-A5A2-84A5EBD608F0}"/>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8492DF3E-4B9A-4163-8AE6-7A9732618884}"/>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Source: Ren et al., Surf. Coat. Technol., 2011, Fig. 5.</a:t>
            </a:r>
          </a:p>
        </p:txBody>
      </p:sp>
      <p:sp>
        <p:nvSpPr>
          <p:cNvPr id="62" name="">
            <a:extLst xmlns:a="http://schemas.openxmlformats.org/drawingml/2006/main">
              <a:ext uri="{FF2B5EF4-FFF2-40B4-BE49-F238E27FC236}">
                <a16:creationId xmlns:a16="http://schemas.microsoft.com/office/drawing/2014/main" id="{CC58A300-8880-4D57-BBAB-4CAA3035D3C7}"/>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03</a:t>
            </a:r>
          </a:p>
        </p:txBody>
      </p:sp>
      <p:pic>
        <p:nvPicPr>
          <p:cNvPr id="63" name="">
            <a:extLst xmlns:a="http://schemas.openxmlformats.org/drawingml/2006/main">
              <a:ext uri="{FF2B5EF4-FFF2-40B4-BE49-F238E27FC236}">
                <a16:creationId xmlns:a16="http://schemas.microsoft.com/office/drawing/2014/main" id="{4B324481-F47F-4777-9765-3C8FDDE1D98D}"/>
              </a:ext>
            </a:extLst>
          </p:cNvPr>
          <p:cNvPicPr>
            <a:picLocks xmlns:a="http://schemas.openxmlformats.org/drawingml/2006/main" noChangeAspect="1"/>
          </p:cNvPicPr>
          <p:nvPr/>
        </p:nvPicPr>
        <p:blipFill>
          <a:blip xmlns:r="http://schemas.openxmlformats.org/officeDocument/2006/relationships" xmlns:a="http://schemas.openxmlformats.org/drawingml/2006/main" r:embed="R15eef6c5896e4e6d"/>
          <a:stretch xmlns:a="http://schemas.openxmlformats.org/drawingml/2006/main"/>
        </p:blipFill>
        <p:spPr>
          <a:xfrm xmlns:a="http://schemas.openxmlformats.org/drawingml/2006/main">
            <a:off x="727587" y="1171575"/>
            <a:ext cx="4793226" cy="3714750"/>
          </a:xfrm>
          <a:prstGeom xmlns:a="http://schemas.openxmlformats.org/drawingml/2006/main" prst="rect">
            <a:avLst/>
          </a:prstGeom>
        </p:spPr>
      </p:pic>
      <p:pic>
        <p:nvPicPr>
          <p:cNvPr id="64" name="">
            <a:extLst xmlns:a="http://schemas.openxmlformats.org/drawingml/2006/main">
              <a:ext uri="{FF2B5EF4-FFF2-40B4-BE49-F238E27FC236}">
                <a16:creationId xmlns:a16="http://schemas.microsoft.com/office/drawing/2014/main" id="{2F0567FD-5724-4E34-9677-0417BD8C3617}"/>
              </a:ext>
            </a:extLst>
          </p:cNvPr>
          <p:cNvPicPr>
            <a:picLocks xmlns:a="http://schemas.openxmlformats.org/drawingml/2006/main" noChangeAspect="1"/>
          </p:cNvPicPr>
          <p:nvPr/>
        </p:nvPicPr>
        <p:blipFill>
          <a:blip xmlns:r="http://schemas.openxmlformats.org/officeDocument/2006/relationships" xmlns:a="http://schemas.openxmlformats.org/drawingml/2006/main" r:embed="Rfa2c2036ea7543aa"/>
          <a:stretch xmlns:a="http://schemas.openxmlformats.org/drawingml/2006/main"/>
        </p:blipFill>
        <p:spPr>
          <a:xfrm xmlns:a="http://schemas.openxmlformats.org/drawingml/2006/main">
            <a:off x="6295071" y="1171575"/>
            <a:ext cx="4764409" cy="3714750"/>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AC12EB3C-2F3C-40A0-ABCB-F354EE30CFC2}"/>
              </a:ext>
            </a:extLst>
          </p:cNvPr>
          <p:cNvSpPr>
            <a:spLocks xmlns:a="http://schemas.openxmlformats.org/drawingml/2006/main" noGrp="1"/>
          </p:cNvSpPr>
          <p:nvPr/>
        </p:nvSpPr>
        <p:spPr>
          <a:xfrm xmlns:a="http://schemas.openxmlformats.org/drawingml/2006/main">
            <a:off x="409575" y="5124450"/>
            <a:ext cx="11296650" cy="714375"/>
          </a:xfrm>
          <a:prstGeom xmlns:a="http://schemas.openxmlformats.org/drawingml/2006/main" prst="roundRect">
            <a:avLst>
              <a:gd name="adj" fmla="val 48000"/>
            </a:avLst>
          </a:prstGeom>
          <a:solidFill xmlns:a="http://schemas.openxmlformats.org/drawingml/2006/main">
            <a:srgbClr val="FFFFFF"/>
          </a:solidFill>
          <a:ln xmlns:a="http://schemas.openxmlformats.org/drawingml/2006/main" w="28575">
            <a:solidFill>
              <a:srgbClr val="0E335B"/>
            </a:solidFill>
            <a:prstDash val="solid"/>
          </a:ln>
        </p:spPr>
      </p:sp>
      <p:sp>
        <p:nvSpPr>
          <p:cNvPr id="66" name="">
            <a:extLst xmlns:a="http://schemas.openxmlformats.org/drawingml/2006/main">
              <a:ext uri="{FF2B5EF4-FFF2-40B4-BE49-F238E27FC236}">
                <a16:creationId xmlns:a16="http://schemas.microsoft.com/office/drawing/2014/main" id="{C187895C-5D9A-4DBC-8946-8258F2B4EF2F}"/>
              </a:ext>
            </a:extLst>
          </p:cNvPr>
          <p:cNvSpPr>
            <a:spLocks xmlns:a="http://schemas.openxmlformats.org/drawingml/2006/main" noGrp="1"/>
          </p:cNvSpPr>
          <p:nvPr/>
        </p:nvSpPr>
        <p:spPr>
          <a:xfrm xmlns:a="http://schemas.openxmlformats.org/drawingml/2006/main">
            <a:off x="590550" y="530542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200 h mass gain: blank 4.00; YSZ 2.23; AY3 + YSZ 1.04 mg/cm²</a:t>
            </a:r>
          </a:p>
        </p:txBody>
      </p:sp>
    </p:spTree>
    <p:extLst>
      <p:ext uri="{BB962C8B-B14F-4D97-AF65-F5344CB8AC3E}">
        <p14:creationId xmlns:p14="http://schemas.microsoft.com/office/powerpoint/2010/main" val="2137676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C4C23E32-776E-4CAE-A056-C526D2302AB3}"/>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28" name="矩形: 圆角 27">
            <a:extLst xmlns:a="http://schemas.openxmlformats.org/drawingml/2006/main">
              <a:ext uri="{FF2B5EF4-FFF2-40B4-BE49-F238E27FC236}">
                <a16:creationId xmlns:a16="http://schemas.microsoft.com/office/drawing/2014/main" id="{FE71F364-528A-4351-9CE3-984D5811928B}"/>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5" name="椭圆 4">
            <a:extLst xmlns:a="http://schemas.openxmlformats.org/drawingml/2006/main">
              <a:ext uri="{FF2B5EF4-FFF2-40B4-BE49-F238E27FC236}">
                <a16:creationId xmlns:a16="http://schemas.microsoft.com/office/drawing/2014/main" id="{C4D6D9AE-9033-40C5-BF19-9739AA500108}"/>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0" name="任意多边形: 形状 59">
            <a:extLst xmlns:a="http://schemas.openxmlformats.org/drawingml/2006/main">
              <a:ext uri="{FF2B5EF4-FFF2-40B4-BE49-F238E27FC236}">
                <a16:creationId xmlns:a16="http://schemas.microsoft.com/office/drawing/2014/main" id="{A82BDE6A-86D8-44FB-A9CD-0C1144C0B5D2}"/>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pic>
        <p:nvPicPr>
          <p:cNvPr id="2" name="图片 1">
            <a:extLst xmlns:a="http://schemas.openxmlformats.org/drawingml/2006/main">
              <a:ext uri="{FF2B5EF4-FFF2-40B4-BE49-F238E27FC236}">
                <a16:creationId xmlns:a16="http://schemas.microsoft.com/office/drawing/2014/main" id="{62C859E6-9BD6-4925-A0A6-39F8B12327D2}"/>
              </a:ext>
            </a:extLst>
          </p:cNvPr>
          <p:cNvPicPr>
            <a:picLocks xmlns:a="http://schemas.openxmlformats.org/drawingml/2006/main" noChangeAspect="1"/>
          </p:cNvPicPr>
          <p:nvPr/>
        </p:nvPicPr>
        <p:blipFill>
          <a:blip xmlns:r="http://schemas.openxmlformats.org/officeDocument/2006/relationships" xmlns:a="http://schemas.openxmlformats.org/drawingml/2006/main" r:embed="R8228b433c0994501">
            <a:extLst>
              <a:ext uri="{96DAC541-7B7A-43D3-8B79-37D633B846F1}">
                <asvg:svgBlip xmlns:asvg="http://schemas.microsoft.com/office/drawing/2016/SVG/main" r:embed="Rf101fd2e8c3546b7"/>
              </a:ext>
            </a:extLst>
          </a:blip>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4F7B7562-4962-4222-BF30-43571D13D884}"/>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Paper 1: thermal barrier performance</a:t>
            </a:r>
            <a:endParaRPr sz="2800" b="1">
              <a:solidFill>
                <a:schemeClr val="accent1"/>
              </a:solidFill>
            </a:endParaRPr>
          </a:p>
        </p:txBody>
      </p:sp>
      <p:sp>
        <p:nvSpPr>
          <p:cNvPr id="61" name="">
            <a:extLst xmlns:a="http://schemas.openxmlformats.org/drawingml/2006/main">
              <a:ext uri="{FF2B5EF4-FFF2-40B4-BE49-F238E27FC236}">
                <a16:creationId xmlns:a16="http://schemas.microsoft.com/office/drawing/2014/main" id="{5C0F9AE2-F4B3-45EA-B1BF-BD25B4C4DA1C}"/>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Source: Ren et al., Surf. Coat. Technol., 2011, Fig. 1 / Table 1.</a:t>
            </a:r>
          </a:p>
        </p:txBody>
      </p:sp>
      <p:sp>
        <p:nvSpPr>
          <p:cNvPr id="62" name="">
            <a:extLst xmlns:a="http://schemas.openxmlformats.org/drawingml/2006/main">
              <a:ext uri="{FF2B5EF4-FFF2-40B4-BE49-F238E27FC236}">
                <a16:creationId xmlns:a16="http://schemas.microsoft.com/office/drawing/2014/main" id="{CCC95F2A-C610-43B1-B2BE-1A44415AE690}"/>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04</a:t>
            </a:r>
          </a:p>
        </p:txBody>
      </p:sp>
      <p:pic>
        <p:nvPicPr>
          <p:cNvPr id="63" name="">
            <a:extLst xmlns:a="http://schemas.openxmlformats.org/drawingml/2006/main">
              <a:ext uri="{FF2B5EF4-FFF2-40B4-BE49-F238E27FC236}">
                <a16:creationId xmlns:a16="http://schemas.microsoft.com/office/drawing/2014/main" id="{E29192DE-D932-4991-ABA0-92FCC2391D5A}"/>
              </a:ext>
            </a:extLst>
          </p:cNvPr>
          <p:cNvPicPr>
            <a:picLocks xmlns:a="http://schemas.openxmlformats.org/drawingml/2006/main" noChangeAspect="1"/>
          </p:cNvPicPr>
          <p:nvPr/>
        </p:nvPicPr>
        <p:blipFill>
          <a:blip xmlns:r="http://schemas.openxmlformats.org/officeDocument/2006/relationships" xmlns:a="http://schemas.openxmlformats.org/drawingml/2006/main" r:embed="R66baa9a2e7b34738"/>
          <a:stretch xmlns:a="http://schemas.openxmlformats.org/drawingml/2006/main"/>
        </p:blipFill>
        <p:spPr>
          <a:xfrm xmlns:a="http://schemas.openxmlformats.org/drawingml/2006/main">
            <a:off x="514350" y="1168439"/>
            <a:ext cx="4457700" cy="2225596"/>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019A6C63-F233-4F52-BC0F-917095FCA48C}"/>
              </a:ext>
            </a:extLst>
          </p:cNvPr>
          <p:cNvSpPr>
            <a:spLocks xmlns:a="http://schemas.openxmlformats.org/drawingml/2006/main" noGrp="1"/>
          </p:cNvSpPr>
          <p:nvPr/>
        </p:nvSpPr>
        <p:spPr>
          <a:xfrm xmlns:a="http://schemas.openxmlformats.org/drawingml/2006/main">
            <a:off x="5219700" y="1095375"/>
            <a:ext cx="6467475" cy="242887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28575">
            <a:solidFill>
              <a:srgbClr val="0E335B"/>
            </a:solidFill>
            <a:prstDash val="solid"/>
          </a:ln>
        </p:spPr>
      </p:sp>
      <p:sp>
        <p:nvSpPr>
          <p:cNvPr id="65" name="">
            <a:extLst xmlns:a="http://schemas.openxmlformats.org/drawingml/2006/main">
              <a:ext uri="{FF2B5EF4-FFF2-40B4-BE49-F238E27FC236}">
                <a16:creationId xmlns:a16="http://schemas.microsoft.com/office/drawing/2014/main" id="{25CE1B42-7BD5-475B-860D-4A8EC210DA24}"/>
              </a:ext>
            </a:extLst>
          </p:cNvPr>
          <p:cNvSpPr>
            <a:spLocks xmlns:a="http://schemas.openxmlformats.org/drawingml/2006/main" noGrp="1"/>
          </p:cNvSpPr>
          <p:nvPr/>
        </p:nvSpPr>
        <p:spPr>
          <a:xfrm xmlns:a="http://schemas.openxmlformats.org/drawingml/2006/main">
            <a:off x="5400675" y="1247775"/>
            <a:ext cx="5972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Measured quantity</a:t>
            </a:r>
          </a:p>
        </p:txBody>
      </p:sp>
      <p:sp>
        <p:nvSpPr>
          <p:cNvPr id="66" name="">
            <a:extLst xmlns:a="http://schemas.openxmlformats.org/drawingml/2006/main">
              <a:ext uri="{FF2B5EF4-FFF2-40B4-BE49-F238E27FC236}">
                <a16:creationId xmlns:a16="http://schemas.microsoft.com/office/drawing/2014/main" id="{164D3AA7-4EE0-45D2-A3E8-8EDF168ACCFA}"/>
              </a:ext>
            </a:extLst>
          </p:cNvPr>
          <p:cNvSpPr>
            <a:spLocks xmlns:a="http://schemas.openxmlformats.org/drawingml/2006/main" noGrp="1"/>
          </p:cNvSpPr>
          <p:nvPr/>
        </p:nvSpPr>
        <p:spPr>
          <a:xfrm xmlns:a="http://schemas.openxmlformats.org/drawingml/2006/main">
            <a:off x="5400675" y="1666875"/>
            <a:ext cx="59721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ΔT = coating surface − substrate backside</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T₁ − T₂, with N₂ backside cooling</a:t>
            </a:r>
          </a:p>
        </p:txBody>
      </p:sp>
      <p:sp>
        <p:nvSpPr>
          <p:cNvPr id="67" name="">
            <a:extLst xmlns:a="http://schemas.openxmlformats.org/drawingml/2006/main">
              <a:ext uri="{FF2B5EF4-FFF2-40B4-BE49-F238E27FC236}">
                <a16:creationId xmlns:a16="http://schemas.microsoft.com/office/drawing/2014/main" id="{A2C882E1-D96F-4A05-8070-D97E616108E5}"/>
              </a:ext>
            </a:extLst>
          </p:cNvPr>
          <p:cNvSpPr>
            <a:spLocks xmlns:a="http://schemas.openxmlformats.org/drawingml/2006/main" noGrp="1"/>
          </p:cNvSpPr>
          <p:nvPr/>
        </p:nvSpPr>
        <p:spPr>
          <a:xfrm xmlns:a="http://schemas.openxmlformats.org/drawingml/2006/main">
            <a:off x="5400675" y="2600325"/>
            <a:ext cx="5905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The double layer gives a larger ΔT than</a:t>
            </a:r>
          </a:p>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YSZ alone at the same tested thickness.</a:t>
            </a:r>
          </a:p>
        </p:txBody>
      </p:sp>
      <p:graphicFrame>
        <p:nvGraphicFramePr>
          <p:cNvPr id="68" name="">
            <a:extLst xmlns:a="http://schemas.openxmlformats.org/drawingml/2006/main">
              <a:ext uri="{FF2B5EF4-FFF2-40B4-BE49-F238E27FC236}">
                <a16:creationId xmlns:a16="http://schemas.microsoft.com/office/drawing/2014/main" id="{5A77F7D8-0182-42B6-A84B-275D22514293}"/>
              </a:ext>
            </a:extLst>
          </p:cNvPr>
          <p:cNvGraphicFramePr/>
          <p:nvPr/>
        </p:nvGraphicFramePr>
        <p:xfrm>
          <a:off xmlns:a="http://schemas.openxmlformats.org/drawingml/2006/main" x="514350" y="3657600"/>
          <a:ext xmlns:a="http://schemas.openxmlformats.org/drawingml/2006/main" cx="11163300" cy="1504950"/>
        </p:xfrm>
        <a:graphic xmlns:a="http://schemas.openxmlformats.org/drawingml/2006/main">
          <a:graphicData uri="http://schemas.openxmlformats.org/drawingml/2006/table">
            <a:tbl>
              <a:tblPr/>
              <a:tblGrid>
                <a:gridCol w="1638300"/>
                <a:gridCol w="2381250"/>
                <a:gridCol w="2381250"/>
                <a:gridCol w="2381250"/>
                <a:gridCol w="2381250"/>
              </a:tblGrid>
              <a:tr h="501650">
                <a:tc>
                  <a:txBody>
                    <a:bodyPr/>
                    <a:lstStyle/>
                    <a:p>
                      <a:r>
                        <a:rPr sz="2200" b="1">
                          <a:solidFill>
                            <a:srgbClr val="FFFFFF"/>
                          </a:solidFill>
                          <a:latin typeface="Times New Roman"/>
                          <a:ea typeface="Times New Roman"/>
                          <a:cs typeface="Times New Roman"/>
                        </a:rPr>
                        <a:t>Furnace</a:t>
                      </a:r>
                    </a:p>
                  </a:txBody>
                  <a:tcPr marL="91440" marR="91440" marT="45720" marB="45720">
                    <a:solidFill>
                      <a:srgbClr val="163047"/>
                    </a:solidFill>
                  </a:tcPr>
                </a:tc>
                <a:tc>
                  <a:txBody>
                    <a:bodyPr/>
                    <a:lstStyle/>
                    <a:p>
                      <a:r>
                        <a:rPr sz="2200" b="1">
                          <a:solidFill>
                            <a:srgbClr val="FFFFFF"/>
                          </a:solidFill>
                          <a:latin typeface="Times New Roman"/>
                          <a:ea typeface="Times New Roman"/>
                          <a:cs typeface="Times New Roman"/>
                        </a:rPr>
                        <a:t>YSZ 150 μm</a:t>
                      </a:r>
                    </a:p>
                  </a:txBody>
                  <a:tcPr marL="91440" marR="91440" marT="45720" marB="45720">
                    <a:solidFill>
                      <a:srgbClr val="163047"/>
                    </a:solidFill>
                  </a:tcPr>
                </a:tc>
                <a:tc>
                  <a:txBody>
                    <a:bodyPr/>
                    <a:lstStyle/>
                    <a:p>
                      <a:r>
                        <a:rPr sz="2200" b="1">
                          <a:solidFill>
                            <a:srgbClr val="FFFFFF"/>
                          </a:solidFill>
                          <a:latin typeface="Times New Roman"/>
                          <a:ea typeface="Times New Roman"/>
                          <a:cs typeface="Times New Roman"/>
                        </a:rPr>
                        <a:t>Dual 150 μm</a:t>
                      </a:r>
                    </a:p>
                  </a:txBody>
                  <a:tcPr marL="91440" marR="91440" marT="45720" marB="45720">
                    <a:solidFill>
                      <a:srgbClr val="163047"/>
                    </a:solidFill>
                  </a:tcPr>
                </a:tc>
                <a:tc>
                  <a:txBody>
                    <a:bodyPr/>
                    <a:lstStyle/>
                    <a:p>
                      <a:r>
                        <a:rPr sz="2200" b="1">
                          <a:solidFill>
                            <a:srgbClr val="FFFFFF"/>
                          </a:solidFill>
                          <a:latin typeface="Times New Roman"/>
                          <a:ea typeface="Times New Roman"/>
                          <a:cs typeface="Times New Roman"/>
                        </a:rPr>
                        <a:t>YSZ 250 μm</a:t>
                      </a:r>
                    </a:p>
                  </a:txBody>
                  <a:tcPr marL="91440" marR="91440" marT="45720" marB="45720">
                    <a:solidFill>
                      <a:srgbClr val="163047"/>
                    </a:solidFill>
                  </a:tcPr>
                </a:tc>
                <a:tc>
                  <a:txBody>
                    <a:bodyPr/>
                    <a:lstStyle/>
                    <a:p>
                      <a:r>
                        <a:rPr sz="2200" b="1">
                          <a:solidFill>
                            <a:srgbClr val="FFFFFF"/>
                          </a:solidFill>
                          <a:latin typeface="Times New Roman"/>
                          <a:ea typeface="Times New Roman"/>
                          <a:cs typeface="Times New Roman"/>
                        </a:rPr>
                        <a:t>Dual 250 μm</a:t>
                      </a:r>
                    </a:p>
                  </a:txBody>
                  <a:tcPr marL="91440" marR="91440" marT="45720" marB="45720">
                    <a:solidFill>
                      <a:srgbClr val="163047"/>
                    </a:solidFill>
                  </a:tcPr>
                </a:tc>
              </a:tr>
              <a:tr h="501650">
                <a:tc>
                  <a:txBody>
                    <a:bodyPr/>
                    <a:lstStyle/>
                    <a:p>
                      <a:r>
                        <a:rPr sz="2200" b="0">
                          <a:solidFill>
                            <a:srgbClr val="253A4B"/>
                          </a:solidFill>
                          <a:latin typeface="Times New Roman"/>
                          <a:ea typeface="Times New Roman"/>
                          <a:cs typeface="Times New Roman"/>
                        </a:rPr>
                        <a:t>1000 °C</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156 °C</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205 °C</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174 °C</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223 °C</a:t>
                      </a:r>
                    </a:p>
                  </a:txBody>
                  <a:tcPr marL="91440" marR="91440" marT="45720" marB="45720">
                    <a:solidFill>
                      <a:srgbClr val="EDF4F5"/>
                    </a:solidFill>
                  </a:tcPr>
                </a:tc>
              </a:tr>
              <a:tr h="501650">
                <a:tc>
                  <a:txBody>
                    <a:bodyPr/>
                    <a:lstStyle/>
                    <a:p>
                      <a:r>
                        <a:rPr sz="2200" b="0">
                          <a:solidFill>
                            <a:srgbClr val="253A4B"/>
                          </a:solidFill>
                          <a:latin typeface="Times New Roman"/>
                          <a:ea typeface="Times New Roman"/>
                          <a:cs typeface="Times New Roman"/>
                        </a:rPr>
                        <a:t>1100 °C</a:t>
                      </a:r>
                    </a:p>
                  </a:txBody>
                  <a:tcPr marL="91440" marR="91440" marT="45720" marB="45720">
                    <a:solidFill>
                      <a:srgbClr val="FFFFFF"/>
                    </a:solidFill>
                  </a:tcPr>
                </a:tc>
                <a:tc>
                  <a:txBody>
                    <a:bodyPr/>
                    <a:lstStyle/>
                    <a:p>
                      <a:r>
                        <a:rPr sz="2200" b="0">
                          <a:solidFill>
                            <a:srgbClr val="253A4B"/>
                          </a:solidFill>
                          <a:latin typeface="Times New Roman"/>
                          <a:ea typeface="Times New Roman"/>
                          <a:cs typeface="Times New Roman"/>
                        </a:rPr>
                        <a:t>103 °C</a:t>
                      </a:r>
                    </a:p>
                  </a:txBody>
                  <a:tcPr marL="91440" marR="91440" marT="45720" marB="45720">
                    <a:solidFill>
                      <a:srgbClr val="FFFFFF"/>
                    </a:solidFill>
                  </a:tcPr>
                </a:tc>
                <a:tc>
                  <a:txBody>
                    <a:bodyPr/>
                    <a:lstStyle/>
                    <a:p>
                      <a:r>
                        <a:rPr sz="2200" b="0">
                          <a:solidFill>
                            <a:srgbClr val="253A4B"/>
                          </a:solidFill>
                          <a:latin typeface="Times New Roman"/>
                          <a:ea typeface="Times New Roman"/>
                          <a:cs typeface="Times New Roman"/>
                        </a:rPr>
                        <a:t>146 °C</a:t>
                      </a:r>
                    </a:p>
                  </a:txBody>
                  <a:tcPr marL="91440" marR="91440" marT="45720" marB="45720">
                    <a:solidFill>
                      <a:srgbClr val="FFFFFF"/>
                    </a:solidFill>
                  </a:tcPr>
                </a:tc>
                <a:tc>
                  <a:txBody>
                    <a:bodyPr/>
                    <a:lstStyle/>
                    <a:p>
                      <a:r>
                        <a:rPr sz="2200" b="0">
                          <a:solidFill>
                            <a:srgbClr val="253A4B"/>
                          </a:solidFill>
                          <a:latin typeface="Times New Roman"/>
                          <a:ea typeface="Times New Roman"/>
                          <a:cs typeface="Times New Roman"/>
                        </a:rPr>
                        <a:t>127 °C</a:t>
                      </a:r>
                    </a:p>
                  </a:txBody>
                  <a:tcPr marL="91440" marR="91440" marT="45720" marB="45720">
                    <a:solidFill>
                      <a:srgbClr val="FFFFFF"/>
                    </a:solidFill>
                  </a:tcPr>
                </a:tc>
                <a:tc>
                  <a:txBody>
                    <a:bodyPr/>
                    <a:lstStyle/>
                    <a:p>
                      <a:r>
                        <a:rPr sz="2200" b="0">
                          <a:solidFill>
                            <a:srgbClr val="253A4B"/>
                          </a:solidFill>
                          <a:latin typeface="Times New Roman"/>
                          <a:ea typeface="Times New Roman"/>
                          <a:cs typeface="Times New Roman"/>
                        </a:rPr>
                        <a:t>165 °C</a:t>
                      </a:r>
                    </a:p>
                  </a:txBody>
                  <a:tcPr marL="91440" marR="91440" marT="45720" marB="45720">
                    <a:solidFill>
                      <a:srgbClr val="FFFFFF"/>
                    </a:solidFill>
                  </a:tcPr>
                </a:tc>
              </a:tr>
            </a:tbl>
          </a:graphicData>
        </a:graphic>
      </p:graphicFrame>
      <p:sp>
        <p:nvSpPr>
          <p:cNvPr id="69" name="">
            <a:extLst xmlns:a="http://schemas.openxmlformats.org/drawingml/2006/main">
              <a:ext uri="{FF2B5EF4-FFF2-40B4-BE49-F238E27FC236}">
                <a16:creationId xmlns:a16="http://schemas.microsoft.com/office/drawing/2014/main" id="{44F853B4-D128-41CE-BCC1-C0F4B5A03E90}"/>
              </a:ext>
            </a:extLst>
          </p:cNvPr>
          <p:cNvSpPr>
            <a:spLocks xmlns:a="http://schemas.openxmlformats.org/drawingml/2006/main" noGrp="1"/>
          </p:cNvSpPr>
          <p:nvPr/>
        </p:nvSpPr>
        <p:spPr>
          <a:xfrm xmlns:a="http://schemas.openxmlformats.org/drawingml/2006/main">
            <a:off x="409575" y="5238750"/>
            <a:ext cx="11296650" cy="676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0E335B"/>
            </a:solidFill>
            <a:prstDash val="solid"/>
          </a:ln>
        </p:spPr>
      </p:sp>
      <p:sp>
        <p:nvSpPr>
          <p:cNvPr id="70" name="">
            <a:extLst xmlns:a="http://schemas.openxmlformats.org/drawingml/2006/main">
              <a:ext uri="{FF2B5EF4-FFF2-40B4-BE49-F238E27FC236}">
                <a16:creationId xmlns:a16="http://schemas.microsoft.com/office/drawing/2014/main" id="{EFDFCA9B-F065-44D5-ACEC-13831C2D28CD}"/>
              </a:ext>
            </a:extLst>
          </p:cNvPr>
          <p:cNvSpPr>
            <a:spLocks xmlns:a="http://schemas.openxmlformats.org/drawingml/2006/main" noGrp="1"/>
          </p:cNvSpPr>
          <p:nvPr/>
        </p:nvSpPr>
        <p:spPr>
          <a:xfrm xmlns:a="http://schemas.openxmlformats.org/drawingml/2006/main">
            <a:off x="600075" y="54006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C00000"/>
                </a:solidFill>
                <a:latin typeface="Times New Roman"/>
                <a:ea typeface="Times New Roman"/>
                <a:cs typeface="Times New Roman"/>
              </a:defRPr>
            </a:defPPr>
          </a:lstStyle>
          <a:p xmlns:a="http://schemas.openxmlformats.org/drawingml/2006/main">
            <a:pPr>
              <a:defRPr sz="2200" b="0">
                <a:solidFill>
                  <a:srgbClr val="C00000"/>
                </a:solidFill>
                <a:latin typeface="Times New Roman"/>
                <a:ea typeface="Times New Roman"/>
                <a:cs typeface="Times New Roman"/>
              </a:defRPr>
            </a:pPr>
            <a:r>
              <a:rPr sz="2200" b="0">
                <a:solidFill>
                  <a:srgbClr val="C00000"/>
                </a:solidFill>
                <a:latin typeface="Times New Roman"/>
                <a:ea typeface="Times New Roman"/>
                <a:cs typeface="Times New Roman"/>
              </a:rPr>
              <a:t>Total coating thickness ≠ target Al₂O₃–YAG interlayer thickness.</a:t>
            </a:r>
          </a:p>
        </p:txBody>
      </p:sp>
    </p:spTree>
    <p:extLst>
      <p:ext uri="{BB962C8B-B14F-4D97-AF65-F5344CB8AC3E}">
        <p14:creationId xmlns:p14="http://schemas.microsoft.com/office/powerpoint/2010/main" val="2178474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3438BA2C-026E-4B9A-B3A1-309F6BA7F52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4C4BAE6D-12C1-4817-8DC5-4D1CC2B55966}"/>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42D3451D-6EFE-4790-A8E7-99AEFDF93E66}"/>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Paper 2: deposition window on NiCoCrAlY</a:t>
            </a:r>
          </a:p>
        </p:txBody>
      </p:sp>
      <p:pic>
        <p:nvPicPr>
          <p:cNvPr id="2" name="图片 1">
            <a:extLst xmlns:a="http://schemas.openxmlformats.org/drawingml/2006/main">
              <a:ext uri="{FF2B5EF4-FFF2-40B4-BE49-F238E27FC236}">
                <a16:creationId xmlns:a16="http://schemas.microsoft.com/office/drawing/2014/main" id="{BA7FF99D-A218-4360-8A50-4D160603A7BB}"/>
              </a:ext>
            </a:extLst>
          </p:cNvPr>
          <p:cNvPicPr>
            <a:picLocks xmlns:a="http://schemas.openxmlformats.org/drawingml/2006/main" noChangeAspect="1"/>
          </p:cNvPicPr>
          <p:nvPr/>
        </p:nvPicPr>
        <p:blipFill>
          <a:blip xmlns:r="http://schemas.openxmlformats.org/officeDocument/2006/relationships" xmlns:a="http://schemas.openxmlformats.org/drawingml/2006/main" r:embed="Re1ae009d8af2412b"/>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12" name="矩形: 圆角 27">
            <a:extLst xmlns:a="http://schemas.openxmlformats.org/drawingml/2006/main">
              <a:ext uri="{FF2B5EF4-FFF2-40B4-BE49-F238E27FC236}">
                <a16:creationId xmlns:a16="http://schemas.microsoft.com/office/drawing/2014/main" id="{F120439C-0D76-4B58-AA85-F9FD3F7B69DD}"/>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1B1CB776-F902-4993-BE49-BF857D50DA4F}"/>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25A81CC3-5E25-4190-A583-6E3F6BE5F5ED}"/>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Source: Ren et al., Appl. Surf. Sci., 2012, Fig. 3 (4–10 min).</a:t>
            </a:r>
          </a:p>
        </p:txBody>
      </p:sp>
      <p:sp>
        <p:nvSpPr>
          <p:cNvPr id="62" name="">
            <a:extLst xmlns:a="http://schemas.openxmlformats.org/drawingml/2006/main">
              <a:ext uri="{FF2B5EF4-FFF2-40B4-BE49-F238E27FC236}">
                <a16:creationId xmlns:a16="http://schemas.microsoft.com/office/drawing/2014/main" id="{7F46512C-79FD-4768-8EE5-8F1CA4B6E434}"/>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05</a:t>
            </a:r>
          </a:p>
        </p:txBody>
      </p:sp>
      <p:pic>
        <p:nvPicPr>
          <p:cNvPr id="63" name="">
            <a:extLst xmlns:a="http://schemas.openxmlformats.org/drawingml/2006/main">
              <a:ext uri="{FF2B5EF4-FFF2-40B4-BE49-F238E27FC236}">
                <a16:creationId xmlns:a16="http://schemas.microsoft.com/office/drawing/2014/main" id="{2BBD05EC-8158-4BC8-A346-3ADF145AECCF}"/>
              </a:ext>
            </a:extLst>
          </p:cNvPr>
          <p:cNvPicPr>
            <a:picLocks xmlns:a="http://schemas.openxmlformats.org/drawingml/2006/main" noChangeAspect="1"/>
          </p:cNvPicPr>
          <p:nvPr/>
        </p:nvPicPr>
        <p:blipFill>
          <a:blip xmlns:r="http://schemas.openxmlformats.org/officeDocument/2006/relationships" xmlns:a="http://schemas.openxmlformats.org/drawingml/2006/main" r:embed="Rb681c40e158d4518"/>
          <a:stretch xmlns:a="http://schemas.openxmlformats.org/drawingml/2006/main"/>
        </p:blipFill>
        <p:spPr>
          <a:xfrm xmlns:a="http://schemas.openxmlformats.org/drawingml/2006/main">
            <a:off x="688067" y="1133475"/>
            <a:ext cx="5862866" cy="4410075"/>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6CB36B6A-B305-4933-83AE-09792B8867C6}"/>
              </a:ext>
            </a:extLst>
          </p:cNvPr>
          <p:cNvSpPr>
            <a:spLocks xmlns:a="http://schemas.openxmlformats.org/drawingml/2006/main" noGrp="1"/>
          </p:cNvSpPr>
          <p:nvPr/>
        </p:nvSpPr>
        <p:spPr>
          <a:xfrm xmlns:a="http://schemas.openxmlformats.org/drawingml/2006/main">
            <a:off x="6896100" y="1095375"/>
            <a:ext cx="4781550" cy="4438650"/>
          </a:xfrm>
          <a:prstGeom xmlns:a="http://schemas.openxmlformats.org/drawingml/2006/main" prst="roundRect">
            <a:avLst>
              <a:gd name="adj" fmla="val 7725"/>
            </a:avLst>
          </a:prstGeom>
          <a:solidFill xmlns:a="http://schemas.openxmlformats.org/drawingml/2006/main">
            <a:srgbClr val="FFFFFF"/>
          </a:solidFill>
          <a:ln xmlns:a="http://schemas.openxmlformats.org/drawingml/2006/main" w="28575">
            <a:solidFill>
              <a:srgbClr val="0E335B"/>
            </a:solidFill>
            <a:prstDash val="solid"/>
          </a:ln>
        </p:spPr>
      </p:sp>
      <p:sp>
        <p:nvSpPr>
          <p:cNvPr id="65" name="">
            <a:extLst xmlns:a="http://schemas.openxmlformats.org/drawingml/2006/main">
              <a:ext uri="{FF2B5EF4-FFF2-40B4-BE49-F238E27FC236}">
                <a16:creationId xmlns:a16="http://schemas.microsoft.com/office/drawing/2014/main" id="{025D17B4-38CB-4271-A41F-D5355C035EBC}"/>
              </a:ext>
            </a:extLst>
          </p:cNvPr>
          <p:cNvSpPr>
            <a:spLocks xmlns:a="http://schemas.openxmlformats.org/drawingml/2006/main" noGrp="1"/>
          </p:cNvSpPr>
          <p:nvPr/>
        </p:nvSpPr>
        <p:spPr>
          <a:xfrm xmlns:a="http://schemas.openxmlformats.org/drawingml/2006/main">
            <a:off x="7086600" y="11430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Surface preparation</a:t>
            </a:r>
          </a:p>
        </p:txBody>
      </p:sp>
      <p:sp>
        <p:nvSpPr>
          <p:cNvPr id="66" name="">
            <a:extLst xmlns:a="http://schemas.openxmlformats.org/drawingml/2006/main">
              <a:ext uri="{FF2B5EF4-FFF2-40B4-BE49-F238E27FC236}">
                <a16:creationId xmlns:a16="http://schemas.microsoft.com/office/drawing/2014/main" id="{F348EB33-DC94-468A-8064-F0C248302F16}"/>
              </a:ext>
            </a:extLst>
          </p:cNvPr>
          <p:cNvSpPr>
            <a:spLocks xmlns:a="http://schemas.openxmlformats.org/drawingml/2006/main" noGrp="1"/>
          </p:cNvSpPr>
          <p:nvPr/>
        </p:nvSpPr>
        <p:spPr>
          <a:xfrm xmlns:a="http://schemas.openxmlformats.org/drawingml/2006/main">
            <a:off x="7086600" y="1562100"/>
            <a:ext cx="4457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1000-grit SiC + acetone cleaning</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Graphite anodes; 10 mm gap</a:t>
            </a:r>
          </a:p>
        </p:txBody>
      </p:sp>
      <p:sp>
        <p:nvSpPr>
          <p:cNvPr id="67" name="">
            <a:extLst xmlns:a="http://schemas.openxmlformats.org/drawingml/2006/main">
              <a:ext uri="{FF2B5EF4-FFF2-40B4-BE49-F238E27FC236}">
                <a16:creationId xmlns:a16="http://schemas.microsoft.com/office/drawing/2014/main" id="{CDE7D04B-F3D0-4629-884D-719DCD270D51}"/>
              </a:ext>
            </a:extLst>
          </p:cNvPr>
          <p:cNvSpPr>
            <a:spLocks xmlns:a="http://schemas.openxmlformats.org/drawingml/2006/main" noGrp="1"/>
          </p:cNvSpPr>
          <p:nvPr/>
        </p:nvSpPr>
        <p:spPr>
          <a:xfrm xmlns:a="http://schemas.openxmlformats.org/drawingml/2006/main">
            <a:off x="7086600" y="25146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Suspension and deposition</a:t>
            </a:r>
          </a:p>
        </p:txBody>
      </p:sp>
      <p:sp>
        <p:nvSpPr>
          <p:cNvPr id="68" name="">
            <a:extLst xmlns:a="http://schemas.openxmlformats.org/drawingml/2006/main">
              <a:ext uri="{FF2B5EF4-FFF2-40B4-BE49-F238E27FC236}">
                <a16:creationId xmlns:a16="http://schemas.microsoft.com/office/drawing/2014/main" id="{AF2CE706-12DC-415F-BDB6-BB6533E0379C}"/>
              </a:ext>
            </a:extLst>
          </p:cNvPr>
          <p:cNvSpPr>
            <a:spLocks xmlns:a="http://schemas.openxmlformats.org/drawingml/2006/main" noGrp="1"/>
          </p:cNvSpPr>
          <p:nvPr/>
        </p:nvSpPr>
        <p:spPr>
          <a:xfrm xmlns:a="http://schemas.openxmlformats.org/drawingml/2006/main">
            <a:off x="7086600" y="2933700"/>
            <a:ext cx="4457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PEG: 0.2 wt.%</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EPD: 3.0 mA/cm², 8 min</a:t>
            </a:r>
          </a:p>
        </p:txBody>
      </p:sp>
      <p:sp>
        <p:nvSpPr>
          <p:cNvPr id="69" name="">
            <a:extLst xmlns:a="http://schemas.openxmlformats.org/drawingml/2006/main">
              <a:ext uri="{FF2B5EF4-FFF2-40B4-BE49-F238E27FC236}">
                <a16:creationId xmlns:a16="http://schemas.microsoft.com/office/drawing/2014/main" id="{6C3AEE91-CA86-495E-B01C-BA5F996093C1}"/>
              </a:ext>
            </a:extLst>
          </p:cNvPr>
          <p:cNvSpPr>
            <a:spLocks xmlns:a="http://schemas.openxmlformats.org/drawingml/2006/main" noGrp="1"/>
          </p:cNvSpPr>
          <p:nvPr/>
        </p:nvSpPr>
        <p:spPr>
          <a:xfrm xmlns:a="http://schemas.openxmlformats.org/drawingml/2006/main">
            <a:off x="7086600" y="38862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Time is a practical control lever</a:t>
            </a:r>
          </a:p>
        </p:txBody>
      </p:sp>
      <p:sp>
        <p:nvSpPr>
          <p:cNvPr id="70" name="">
            <a:extLst xmlns:a="http://schemas.openxmlformats.org/drawingml/2006/main">
              <a:ext uri="{FF2B5EF4-FFF2-40B4-BE49-F238E27FC236}">
                <a16:creationId xmlns:a16="http://schemas.microsoft.com/office/drawing/2014/main" id="{F97B5279-BE0F-46B3-9405-BD61C2FE0282}"/>
              </a:ext>
            </a:extLst>
          </p:cNvPr>
          <p:cNvSpPr>
            <a:spLocks xmlns:a="http://schemas.openxmlformats.org/drawingml/2006/main" noGrp="1"/>
          </p:cNvSpPr>
          <p:nvPr/>
        </p:nvSpPr>
        <p:spPr>
          <a:xfrm xmlns:a="http://schemas.openxmlformats.org/drawingml/2006/main">
            <a:off x="7086600" y="4305300"/>
            <a:ext cx="4457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6–8 min: smooth, dense surface</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10 min: cracking and local spallation</a:t>
            </a:r>
          </a:p>
        </p:txBody>
      </p:sp>
    </p:spTree>
    <p:extLst>
      <p:ext uri="{BB962C8B-B14F-4D97-AF65-F5344CB8AC3E}">
        <p14:creationId xmlns:p14="http://schemas.microsoft.com/office/powerpoint/2010/main" val="12412802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48AB32B2-A9BE-4EEA-8A9E-96FF5D6FCEE4}"/>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24B01AB8-646A-4A00-A07F-615DD4818E52}"/>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15E6161C-FF32-4DCA-863F-25184FF520EE}"/>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Paper 2: phase formation and interface</a:t>
            </a:r>
          </a:p>
        </p:txBody>
      </p:sp>
      <p:sp>
        <p:nvSpPr>
          <p:cNvPr id="28" name="矩形: 圆角 27">
            <a:extLst xmlns:a="http://schemas.openxmlformats.org/drawingml/2006/main">
              <a:ext uri="{FF2B5EF4-FFF2-40B4-BE49-F238E27FC236}">
                <a16:creationId xmlns:a16="http://schemas.microsoft.com/office/drawing/2014/main" id="{A0F5CBDA-6F25-4924-8A0B-EA8974798C2F}"/>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EC501129-9ADC-403B-B6BB-3AB64E28CDA5}"/>
              </a:ext>
            </a:extLst>
          </p:cNvPr>
          <p:cNvPicPr>
            <a:picLocks xmlns:a="http://schemas.openxmlformats.org/drawingml/2006/main" noChangeAspect="1"/>
          </p:cNvPicPr>
          <p:nvPr/>
        </p:nvPicPr>
        <p:blipFill>
          <a:blip xmlns:r="http://schemas.openxmlformats.org/officeDocument/2006/relationships" xmlns:a="http://schemas.openxmlformats.org/drawingml/2006/main" r:embed="R14851311064f4fd4">
            <a:extLst>
              <a:ext uri="{96DAC541-7B7A-43D3-8B79-37D633B846F1}">
                <asvg:svgBlip xmlns:asvg="http://schemas.microsoft.com/office/drawing/2016/SVG/main" r:embed="Rb7969a238e184871"/>
              </a:ext>
            </a:extLst>
          </a:blip>
          <a:srcRect xmlns:a="http://schemas.openxmlformats.org/drawingml/2006/main" l="0" t="0" r="0" b="0"/>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AD6928E0-4545-4AD6-A7B0-413963D1C04A}"/>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EB1DE4DC-5973-4006-983D-43495CA8ABF5}"/>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Source: Ren et al., Appl. Surf. Sci., 2012, Figs. 4–5.</a:t>
            </a:r>
          </a:p>
        </p:txBody>
      </p:sp>
      <p:sp>
        <p:nvSpPr>
          <p:cNvPr id="62" name="">
            <a:extLst xmlns:a="http://schemas.openxmlformats.org/drawingml/2006/main">
              <a:ext uri="{FF2B5EF4-FFF2-40B4-BE49-F238E27FC236}">
                <a16:creationId xmlns:a16="http://schemas.microsoft.com/office/drawing/2014/main" id="{89A26025-AE01-4AE1-B843-366068EA0929}"/>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06</a:t>
            </a:r>
          </a:p>
        </p:txBody>
      </p:sp>
      <p:pic>
        <p:nvPicPr>
          <p:cNvPr id="63" name="">
            <a:extLst xmlns:a="http://schemas.openxmlformats.org/drawingml/2006/main">
              <a:ext uri="{FF2B5EF4-FFF2-40B4-BE49-F238E27FC236}">
                <a16:creationId xmlns:a16="http://schemas.microsoft.com/office/drawing/2014/main" id="{9BAC1C80-A11D-4323-B350-AEE2337D2A10}"/>
              </a:ext>
            </a:extLst>
          </p:cNvPr>
          <p:cNvPicPr>
            <a:picLocks xmlns:a="http://schemas.openxmlformats.org/drawingml/2006/main" noChangeAspect="1"/>
          </p:cNvPicPr>
          <p:nvPr/>
        </p:nvPicPr>
        <p:blipFill>
          <a:blip xmlns:r="http://schemas.openxmlformats.org/officeDocument/2006/relationships" xmlns:a="http://schemas.openxmlformats.org/drawingml/2006/main" r:embed="R4a445f18a60f44f0"/>
          <a:stretch xmlns:a="http://schemas.openxmlformats.org/drawingml/2006/main"/>
        </p:blipFill>
        <p:spPr>
          <a:xfrm xmlns:a="http://schemas.openxmlformats.org/drawingml/2006/main">
            <a:off x="715843" y="1162050"/>
            <a:ext cx="5807314" cy="4352925"/>
          </a:xfrm>
          <a:prstGeom xmlns:a="http://schemas.openxmlformats.org/drawingml/2006/main" prst="rect">
            <a:avLst/>
          </a:prstGeom>
        </p:spPr>
      </p:pic>
      <p:pic>
        <p:nvPicPr>
          <p:cNvPr id="64" name="">
            <a:extLst xmlns:a="http://schemas.openxmlformats.org/drawingml/2006/main">
              <a:ext uri="{FF2B5EF4-FFF2-40B4-BE49-F238E27FC236}">
                <a16:creationId xmlns:a16="http://schemas.microsoft.com/office/drawing/2014/main" id="{6519F030-E4FA-424F-ADC3-747CC5179CF8}"/>
              </a:ext>
            </a:extLst>
          </p:cNvPr>
          <p:cNvPicPr>
            <a:picLocks xmlns:a="http://schemas.openxmlformats.org/drawingml/2006/main" noChangeAspect="1"/>
          </p:cNvPicPr>
          <p:nvPr/>
        </p:nvPicPr>
        <p:blipFill>
          <a:blip xmlns:r="http://schemas.openxmlformats.org/officeDocument/2006/relationships" xmlns:a="http://schemas.openxmlformats.org/drawingml/2006/main" r:embed="R90ad394be28c42f5"/>
          <a:stretch xmlns:a="http://schemas.openxmlformats.org/drawingml/2006/main"/>
        </p:blipFill>
        <p:spPr>
          <a:xfrm xmlns:a="http://schemas.openxmlformats.org/drawingml/2006/main">
            <a:off x="7086600" y="1165718"/>
            <a:ext cx="4457700" cy="1754789"/>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C132FA82-4D65-4CD5-9021-AA0916E54C0D}"/>
              </a:ext>
            </a:extLst>
          </p:cNvPr>
          <p:cNvSpPr>
            <a:spLocks xmlns:a="http://schemas.openxmlformats.org/drawingml/2006/main" noGrp="1"/>
          </p:cNvSpPr>
          <p:nvPr/>
        </p:nvSpPr>
        <p:spPr>
          <a:xfrm xmlns:a="http://schemas.openxmlformats.org/drawingml/2006/main">
            <a:off x="6896100" y="3009900"/>
            <a:ext cx="4781550" cy="2724150"/>
          </a:xfrm>
          <a:prstGeom xmlns:a="http://schemas.openxmlformats.org/drawingml/2006/main" prst="roundRect">
            <a:avLst>
              <a:gd name="adj" fmla="val 12587"/>
            </a:avLst>
          </a:prstGeom>
          <a:solidFill xmlns:a="http://schemas.openxmlformats.org/drawingml/2006/main">
            <a:srgbClr val="FFFFFF"/>
          </a:solidFill>
          <a:ln xmlns:a="http://schemas.openxmlformats.org/drawingml/2006/main" w="28575">
            <a:solidFill>
              <a:srgbClr val="0E335B"/>
            </a:solidFill>
            <a:prstDash val="solid"/>
          </a:ln>
        </p:spPr>
      </p:sp>
      <p:sp>
        <p:nvSpPr>
          <p:cNvPr id="66" name="">
            <a:extLst xmlns:a="http://schemas.openxmlformats.org/drawingml/2006/main">
              <a:ext uri="{FF2B5EF4-FFF2-40B4-BE49-F238E27FC236}">
                <a16:creationId xmlns:a16="http://schemas.microsoft.com/office/drawing/2014/main" id="{3811114D-240F-4926-B665-3F5051F3F5A9}"/>
              </a:ext>
            </a:extLst>
          </p:cNvPr>
          <p:cNvSpPr>
            <a:spLocks xmlns:a="http://schemas.openxmlformats.org/drawingml/2006/main" noGrp="1"/>
          </p:cNvSpPr>
          <p:nvPr/>
        </p:nvSpPr>
        <p:spPr>
          <a:xfrm xmlns:a="http://schemas.openxmlformats.org/drawingml/2006/main">
            <a:off x="7086600" y="318135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Phase evidence</a:t>
            </a:r>
          </a:p>
        </p:txBody>
      </p:sp>
      <p:sp>
        <p:nvSpPr>
          <p:cNvPr id="67" name="">
            <a:extLst xmlns:a="http://schemas.openxmlformats.org/drawingml/2006/main">
              <a:ext uri="{FF2B5EF4-FFF2-40B4-BE49-F238E27FC236}">
                <a16:creationId xmlns:a16="http://schemas.microsoft.com/office/drawing/2014/main" id="{E51C8427-D919-4C45-A2DE-3A05FD9623E5}"/>
              </a:ext>
            </a:extLst>
          </p:cNvPr>
          <p:cNvSpPr>
            <a:spLocks xmlns:a="http://schemas.openxmlformats.org/drawingml/2006/main" noGrp="1"/>
          </p:cNvSpPr>
          <p:nvPr/>
        </p:nvSpPr>
        <p:spPr>
          <a:xfrm xmlns:a="http://schemas.openxmlformats.org/drawingml/2006/main">
            <a:off x="7086600" y="3600450"/>
            <a:ext cx="4457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α-Al₂O₃ seeds accelerate crystallization.</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YAG is identified after 1 h PFMS.</a:t>
            </a:r>
          </a:p>
        </p:txBody>
      </p:sp>
      <p:sp>
        <p:nvSpPr>
          <p:cNvPr id="68" name="">
            <a:extLst xmlns:a="http://schemas.openxmlformats.org/drawingml/2006/main">
              <a:ext uri="{FF2B5EF4-FFF2-40B4-BE49-F238E27FC236}">
                <a16:creationId xmlns:a16="http://schemas.microsoft.com/office/drawing/2014/main" id="{4B80AC7D-FBF9-4268-B02B-B95177006177}"/>
              </a:ext>
            </a:extLst>
          </p:cNvPr>
          <p:cNvSpPr>
            <a:spLocks xmlns:a="http://schemas.openxmlformats.org/drawingml/2006/main" noGrp="1"/>
          </p:cNvSpPr>
          <p:nvPr/>
        </p:nvSpPr>
        <p:spPr>
          <a:xfrm xmlns:a="http://schemas.openxmlformats.org/drawingml/2006/main">
            <a:off x="7086600" y="4810125"/>
            <a:ext cx="4457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C00000"/>
                </a:solidFill>
                <a:latin typeface="Times New Roman"/>
                <a:ea typeface="Times New Roman"/>
                <a:cs typeface="Times New Roman"/>
              </a:defRPr>
            </a:defPPr>
          </a:lstStyle>
          <a:p xmlns:a="http://schemas.openxmlformats.org/drawingml/2006/main">
            <a:pPr>
              <a:defRPr sz="2200" b="0">
                <a:solidFill>
                  <a:srgbClr val="C00000"/>
                </a:solidFill>
                <a:latin typeface="Times New Roman"/>
                <a:ea typeface="Times New Roman"/>
                <a:cs typeface="Times New Roman"/>
              </a:defRPr>
            </a:pPr>
            <a:r>
              <a:rPr sz="2200" b="0">
                <a:solidFill>
                  <a:srgbClr val="C00000"/>
                </a:solidFill>
                <a:latin typeface="Times New Roman"/>
                <a:ea typeface="Times New Roman"/>
                <a:cs typeface="Times New Roman"/>
              </a:rPr>
              <a:t>SEM suggests adherence;</a:t>
            </a:r>
          </a:p>
          <a:p xmlns:a="http://schemas.openxmlformats.org/drawingml/2006/main">
            <a:pPr>
              <a:defRPr sz="2200" b="0">
                <a:solidFill>
                  <a:srgbClr val="C00000"/>
                </a:solidFill>
                <a:latin typeface="Times New Roman"/>
                <a:ea typeface="Times New Roman"/>
                <a:cs typeface="Times New Roman"/>
              </a:defRPr>
            </a:pPr>
            <a:r>
              <a:rPr sz="2200" b="0">
                <a:solidFill>
                  <a:srgbClr val="C00000"/>
                </a:solidFill>
                <a:latin typeface="Times New Roman"/>
                <a:ea typeface="Times New Roman"/>
                <a:cs typeface="Times New Roman"/>
              </a:rPr>
              <a:t>no bond strength is reported.</a:t>
            </a:r>
          </a:p>
        </p:txBody>
      </p:sp>
    </p:spTree>
    <p:extLst>
      <p:ext uri="{BB962C8B-B14F-4D97-AF65-F5344CB8AC3E}">
        <p14:creationId xmlns:p14="http://schemas.microsoft.com/office/powerpoint/2010/main" val="193608140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DE4A86D8-4A65-4609-BEB8-626644B78824}"/>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216CF68E-BF27-40F8-9CC5-CDD2D6B128AE}"/>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B135FDA5-D90C-477B-BA18-7B8399FCEA9E}"/>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Paper 2: oxidation–spallation trade-off</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C8952E86-BB39-4558-A2CA-7FE8E1F20DB5}"/>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EF9D3DA6-5E21-44B8-BCFE-DDB1FE676F13}"/>
              </a:ext>
            </a:extLst>
          </p:cNvPr>
          <p:cNvPicPr>
            <a:picLocks xmlns:a="http://schemas.openxmlformats.org/drawingml/2006/main" noChangeAspect="1"/>
          </p:cNvPicPr>
          <p:nvPr/>
        </p:nvPicPr>
        <p:blipFill>
          <a:blip xmlns:r="http://schemas.openxmlformats.org/officeDocument/2006/relationships" xmlns:a="http://schemas.openxmlformats.org/drawingml/2006/main" r:embed="R9744c07c69db422c">
            <a:extLst>
              <a:ext uri="{96DAC541-7B7A-43D3-8B79-37D633B846F1}">
                <asvg:svgBlip xmlns:asvg="http://schemas.microsoft.com/office/drawing/2016/SVG/main" r:embed="Rf2e918c47e2d4497"/>
              </a:ext>
            </a:extLst>
          </a:blip>
          <a:srcRect xmlns:a="http://schemas.openxmlformats.org/drawingml/2006/main" l="0" t="0" r="0" b="0"/>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A02274C3-7E6C-4CFD-AC23-3338B988253A}"/>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BD9D8AB6-6C37-43A7-8757-7189D195389F}"/>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Source: Ren et al., Appl. Surf. Sci., 2012, Fig. 7 (1050 °C).</a:t>
            </a:r>
          </a:p>
        </p:txBody>
      </p:sp>
      <p:sp>
        <p:nvSpPr>
          <p:cNvPr id="62" name="">
            <a:extLst xmlns:a="http://schemas.openxmlformats.org/drawingml/2006/main">
              <a:ext uri="{FF2B5EF4-FFF2-40B4-BE49-F238E27FC236}">
                <a16:creationId xmlns:a16="http://schemas.microsoft.com/office/drawing/2014/main" id="{D403C39A-6F57-4A13-8B11-4E7FC8DF2CD7}"/>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07</a:t>
            </a:r>
          </a:p>
        </p:txBody>
      </p:sp>
      <p:pic>
        <p:nvPicPr>
          <p:cNvPr id="63" name="">
            <a:extLst xmlns:a="http://schemas.openxmlformats.org/drawingml/2006/main">
              <a:ext uri="{FF2B5EF4-FFF2-40B4-BE49-F238E27FC236}">
                <a16:creationId xmlns:a16="http://schemas.microsoft.com/office/drawing/2014/main" id="{93D947E0-9965-4245-8123-9DBBAEA5AC93}"/>
              </a:ext>
            </a:extLst>
          </p:cNvPr>
          <p:cNvPicPr>
            <a:picLocks xmlns:a="http://schemas.openxmlformats.org/drawingml/2006/main" noChangeAspect="1"/>
          </p:cNvPicPr>
          <p:nvPr/>
        </p:nvPicPr>
        <p:blipFill>
          <a:blip xmlns:r="http://schemas.openxmlformats.org/officeDocument/2006/relationships" xmlns:a="http://schemas.openxmlformats.org/drawingml/2006/main" r:embed="Rb85d6a4354d44796"/>
          <a:stretch xmlns:a="http://schemas.openxmlformats.org/drawingml/2006/main"/>
        </p:blipFill>
        <p:spPr>
          <a:xfrm xmlns:a="http://schemas.openxmlformats.org/drawingml/2006/main">
            <a:off x="1050564" y="1123950"/>
            <a:ext cx="10090873" cy="4010025"/>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4E908CBB-0572-42EB-B2D3-DC1CB8AC3EA4}"/>
              </a:ext>
            </a:extLst>
          </p:cNvPr>
          <p:cNvSpPr>
            <a:spLocks xmlns:a="http://schemas.openxmlformats.org/drawingml/2006/main" noGrp="1"/>
          </p:cNvSpPr>
          <p:nvPr/>
        </p:nvSpPr>
        <p:spPr>
          <a:xfrm xmlns:a="http://schemas.openxmlformats.org/drawingml/2006/main">
            <a:off x="409575" y="5143500"/>
            <a:ext cx="5524500" cy="685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0E335B"/>
            </a:solidFill>
            <a:prstDash val="solid"/>
          </a:ln>
        </p:spPr>
      </p:sp>
      <p:sp>
        <p:nvSpPr>
          <p:cNvPr id="65" name="">
            <a:extLst xmlns:a="http://schemas.openxmlformats.org/drawingml/2006/main">
              <a:ext uri="{FF2B5EF4-FFF2-40B4-BE49-F238E27FC236}">
                <a16:creationId xmlns:a16="http://schemas.microsoft.com/office/drawing/2014/main" id="{380302F9-C1F8-4B9C-8BB2-3FA4C3F8CF2D}"/>
              </a:ext>
            </a:extLst>
          </p:cNvPr>
          <p:cNvSpPr>
            <a:spLocks xmlns:a="http://schemas.openxmlformats.org/drawingml/2006/main" noGrp="1"/>
          </p:cNvSpPr>
          <p:nvPr/>
        </p:nvSpPr>
        <p:spPr>
          <a:xfrm xmlns:a="http://schemas.openxmlformats.org/drawingml/2006/main">
            <a:off x="581025" y="530542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AY1: mass gain ≈ 0.19 mg/cm²</a:t>
            </a:r>
          </a:p>
        </p:txBody>
      </p:sp>
      <p:sp>
        <p:nvSpPr>
          <p:cNvPr id="66" name="">
            <a:extLst xmlns:a="http://schemas.openxmlformats.org/drawingml/2006/main">
              <a:ext uri="{FF2B5EF4-FFF2-40B4-BE49-F238E27FC236}">
                <a16:creationId xmlns:a16="http://schemas.microsoft.com/office/drawing/2014/main" id="{D996A370-D98E-4BB5-84E3-21E560BB2D8A}"/>
              </a:ext>
            </a:extLst>
          </p:cNvPr>
          <p:cNvSpPr>
            <a:spLocks xmlns:a="http://schemas.openxmlformats.org/drawingml/2006/main" noGrp="1"/>
          </p:cNvSpPr>
          <p:nvPr/>
        </p:nvSpPr>
        <p:spPr>
          <a:xfrm xmlns:a="http://schemas.openxmlformats.org/drawingml/2006/main">
            <a:off x="6096000" y="5143500"/>
            <a:ext cx="5610225" cy="685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8575">
            <a:solidFill>
              <a:srgbClr val="0E335B"/>
            </a:solidFill>
            <a:prstDash val="solid"/>
          </a:ln>
        </p:spPr>
      </p:sp>
      <p:sp>
        <p:nvSpPr>
          <p:cNvPr id="67" name="">
            <a:extLst xmlns:a="http://schemas.openxmlformats.org/drawingml/2006/main">
              <a:ext uri="{FF2B5EF4-FFF2-40B4-BE49-F238E27FC236}">
                <a16:creationId xmlns:a16="http://schemas.microsoft.com/office/drawing/2014/main" id="{EBB4DBE8-FF9F-4321-994D-13480D398F80}"/>
              </a:ext>
            </a:extLst>
          </p:cNvPr>
          <p:cNvSpPr>
            <a:spLocks xmlns:a="http://schemas.openxmlformats.org/drawingml/2006/main" noGrp="1"/>
          </p:cNvSpPr>
          <p:nvPr/>
        </p:nvSpPr>
        <p:spPr>
          <a:xfrm xmlns:a="http://schemas.openxmlformats.org/drawingml/2006/main">
            <a:off x="6267450" y="530542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C00000"/>
                </a:solidFill>
                <a:latin typeface="Times New Roman"/>
                <a:ea typeface="Times New Roman"/>
                <a:cs typeface="Times New Roman"/>
              </a:defRPr>
            </a:defPPr>
          </a:lstStyle>
          <a:p xmlns:a="http://schemas.openxmlformats.org/drawingml/2006/main">
            <a:pPr>
              <a:defRPr sz="2200" b="1">
                <a:solidFill>
                  <a:srgbClr val="C00000"/>
                </a:solidFill>
                <a:latin typeface="Times New Roman"/>
                <a:ea typeface="Times New Roman"/>
                <a:cs typeface="Times New Roman"/>
              </a:defRPr>
            </a:pPr>
            <a:r>
              <a:rPr sz="2200" b="1">
                <a:solidFill>
                  <a:srgbClr val="C00000"/>
                </a:solidFill>
                <a:latin typeface="Times New Roman"/>
                <a:ea typeface="Times New Roman"/>
                <a:cs typeface="Times New Roman"/>
              </a:rPr>
              <a:t>AY3: spallation = 0.11 mg/cm²</a:t>
            </a:r>
          </a:p>
        </p:txBody>
      </p:sp>
    </p:spTree>
    <p:extLst>
      <p:ext uri="{BB962C8B-B14F-4D97-AF65-F5344CB8AC3E}">
        <p14:creationId xmlns:p14="http://schemas.microsoft.com/office/powerpoint/2010/main" val="145136994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F436B927-1C77-4CA6-AA53-86804AB2AEE2}"/>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D1F9FB9A-387A-420D-BE9D-2FD43EF324E9}"/>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6A3847DD-8AFB-4324-AB0E-360FC4242B39}"/>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Paper 2: proposed protection mechanisms</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7EDC2761-1279-4CCA-86E6-BC33C217410F}"/>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CC0E4710-6221-4C8B-B727-ACD21713ED4F}"/>
              </a:ext>
            </a:extLst>
          </p:cNvPr>
          <p:cNvPicPr>
            <a:picLocks xmlns:a="http://schemas.openxmlformats.org/drawingml/2006/main" noChangeAspect="1"/>
          </p:cNvPicPr>
          <p:nvPr/>
        </p:nvPicPr>
        <p:blipFill>
          <a:blip xmlns:r="http://schemas.openxmlformats.org/officeDocument/2006/relationships" xmlns:a="http://schemas.openxmlformats.org/drawingml/2006/main" r:embed="R0ae0b073cd7b4ea1">
            <a:extLst>
              <a:ext uri="{96DAC541-7B7A-43D3-8B79-37D633B846F1}">
                <asvg:svgBlip xmlns:asvg="http://schemas.microsoft.com/office/drawing/2016/SVG/main" r:embed="R6105415d17804964"/>
              </a:ext>
            </a:extLst>
          </a:blip>
          <a:srcRect xmlns:a="http://schemas.openxmlformats.org/drawingml/2006/main" l="0" t="0" r="0" b="0"/>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D0A1FDE0-E015-4A6F-83F0-43B190DFA753}"/>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803D4C9B-FB98-4E50-ADE1-AA8B7E8C1483}"/>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Source: Ren et al., Appl. Surf. Sci., 2012, Fig. 9.</a:t>
            </a:r>
          </a:p>
        </p:txBody>
      </p:sp>
      <p:sp>
        <p:nvSpPr>
          <p:cNvPr id="62" name="">
            <a:extLst xmlns:a="http://schemas.openxmlformats.org/drawingml/2006/main">
              <a:ext uri="{FF2B5EF4-FFF2-40B4-BE49-F238E27FC236}">
                <a16:creationId xmlns:a16="http://schemas.microsoft.com/office/drawing/2014/main" id="{6679A903-570B-43F8-9332-840EDBA7BA32}"/>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08</a:t>
            </a:r>
          </a:p>
        </p:txBody>
      </p:sp>
      <p:pic>
        <p:nvPicPr>
          <p:cNvPr id="63" name="">
            <a:extLst xmlns:a="http://schemas.openxmlformats.org/drawingml/2006/main">
              <a:ext uri="{FF2B5EF4-FFF2-40B4-BE49-F238E27FC236}">
                <a16:creationId xmlns:a16="http://schemas.microsoft.com/office/drawing/2014/main" id="{65ACD404-CA4D-4B10-AEFD-E622DE5E6193}"/>
              </a:ext>
            </a:extLst>
          </p:cNvPr>
          <p:cNvPicPr>
            <a:picLocks xmlns:a="http://schemas.openxmlformats.org/drawingml/2006/main" noChangeAspect="1"/>
          </p:cNvPicPr>
          <p:nvPr/>
        </p:nvPicPr>
        <p:blipFill>
          <a:blip xmlns:r="http://schemas.openxmlformats.org/officeDocument/2006/relationships" xmlns:a="http://schemas.openxmlformats.org/drawingml/2006/main" r:embed="R1d62a751b3ea4dd9"/>
          <a:stretch xmlns:a="http://schemas.openxmlformats.org/drawingml/2006/main"/>
        </p:blipFill>
        <p:spPr>
          <a:xfrm xmlns:a="http://schemas.openxmlformats.org/drawingml/2006/main">
            <a:off x="514350" y="1314450"/>
            <a:ext cx="6191250" cy="3467100"/>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EC89956A-C08A-45F7-ADB5-46E9716489C5}"/>
              </a:ext>
            </a:extLst>
          </p:cNvPr>
          <p:cNvSpPr>
            <a:spLocks xmlns:a="http://schemas.openxmlformats.org/drawingml/2006/main" noGrp="1"/>
          </p:cNvSpPr>
          <p:nvPr/>
        </p:nvSpPr>
        <p:spPr>
          <a:xfrm xmlns:a="http://schemas.openxmlformats.org/drawingml/2006/main">
            <a:off x="6905625" y="1095375"/>
            <a:ext cx="4781550" cy="4743450"/>
          </a:xfrm>
          <a:prstGeom xmlns:a="http://schemas.openxmlformats.org/drawingml/2006/main" prst="roundRect">
            <a:avLst>
              <a:gd name="adj" fmla="val 7229"/>
            </a:avLst>
          </a:prstGeom>
          <a:solidFill xmlns:a="http://schemas.openxmlformats.org/drawingml/2006/main">
            <a:srgbClr val="FFFFFF"/>
          </a:solidFill>
          <a:ln xmlns:a="http://schemas.openxmlformats.org/drawingml/2006/main" w="28575">
            <a:solidFill>
              <a:srgbClr val="0E335B"/>
            </a:solidFill>
            <a:prstDash val="solid"/>
          </a:ln>
        </p:spPr>
      </p:sp>
      <p:sp>
        <p:nvSpPr>
          <p:cNvPr id="65" name="">
            <a:extLst xmlns:a="http://schemas.openxmlformats.org/drawingml/2006/main">
              <a:ext uri="{FF2B5EF4-FFF2-40B4-BE49-F238E27FC236}">
                <a16:creationId xmlns:a16="http://schemas.microsoft.com/office/drawing/2014/main" id="{96A3599D-8052-4391-82BF-0AC0A7195A80}"/>
              </a:ext>
            </a:extLst>
          </p:cNvPr>
          <p:cNvSpPr>
            <a:spLocks xmlns:a="http://schemas.openxmlformats.org/drawingml/2006/main" noGrp="1"/>
          </p:cNvSpPr>
          <p:nvPr/>
        </p:nvSpPr>
        <p:spPr>
          <a:xfrm xmlns:a="http://schemas.openxmlformats.org/drawingml/2006/main">
            <a:off x="7096125" y="1209675"/>
            <a:ext cx="4467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Continuous α-Al₂O₃</a:t>
            </a:r>
          </a:p>
        </p:txBody>
      </p:sp>
      <p:sp>
        <p:nvSpPr>
          <p:cNvPr id="66" name="">
            <a:extLst xmlns:a="http://schemas.openxmlformats.org/drawingml/2006/main">
              <a:ext uri="{FF2B5EF4-FFF2-40B4-BE49-F238E27FC236}">
                <a16:creationId xmlns:a16="http://schemas.microsoft.com/office/drawing/2014/main" id="{E7053717-E115-4697-BBB6-A9258F757E7E}"/>
              </a:ext>
            </a:extLst>
          </p:cNvPr>
          <p:cNvSpPr>
            <a:spLocks xmlns:a="http://schemas.openxmlformats.org/drawingml/2006/main" noGrp="1"/>
          </p:cNvSpPr>
          <p:nvPr/>
        </p:nvSpPr>
        <p:spPr>
          <a:xfrm xmlns:a="http://schemas.openxmlformats.org/drawingml/2006/main">
            <a:off x="7096125" y="1628775"/>
            <a:ext cx="44672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A continuous layer slows transport.</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Oxidation is reduced, not eliminated.</a:t>
            </a:r>
          </a:p>
        </p:txBody>
      </p:sp>
      <p:sp>
        <p:nvSpPr>
          <p:cNvPr id="67" name="">
            <a:extLst xmlns:a="http://schemas.openxmlformats.org/drawingml/2006/main">
              <a:ext uri="{FF2B5EF4-FFF2-40B4-BE49-F238E27FC236}">
                <a16:creationId xmlns:a16="http://schemas.microsoft.com/office/drawing/2014/main" id="{348B50C9-C430-427E-8D99-78C3A9E0B3A7}"/>
              </a:ext>
            </a:extLst>
          </p:cNvPr>
          <p:cNvSpPr>
            <a:spLocks xmlns:a="http://schemas.openxmlformats.org/drawingml/2006/main" noGrp="1"/>
          </p:cNvSpPr>
          <p:nvPr/>
        </p:nvSpPr>
        <p:spPr>
          <a:xfrm xmlns:a="http://schemas.openxmlformats.org/drawingml/2006/main">
            <a:off x="7096125" y="2590800"/>
            <a:ext cx="4467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Dispersed YAG</a:t>
            </a:r>
          </a:p>
        </p:txBody>
      </p:sp>
      <p:sp>
        <p:nvSpPr>
          <p:cNvPr id="68" name="">
            <a:extLst xmlns:a="http://schemas.openxmlformats.org/drawingml/2006/main">
              <a:ext uri="{FF2B5EF4-FFF2-40B4-BE49-F238E27FC236}">
                <a16:creationId xmlns:a16="http://schemas.microsoft.com/office/drawing/2014/main" id="{DBD9219C-7164-4113-977E-31DE2CFB34BF}"/>
              </a:ext>
            </a:extLst>
          </p:cNvPr>
          <p:cNvSpPr>
            <a:spLocks xmlns:a="http://schemas.openxmlformats.org/drawingml/2006/main" noGrp="1"/>
          </p:cNvSpPr>
          <p:nvPr/>
        </p:nvSpPr>
        <p:spPr>
          <a:xfrm xmlns:a="http://schemas.openxmlformats.org/drawingml/2006/main">
            <a:off x="7096125" y="3009900"/>
            <a:ext cx="44672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Grain-growth inhibition and crack</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deflection are proposed benefits.</a:t>
            </a:r>
          </a:p>
        </p:txBody>
      </p:sp>
      <p:sp>
        <p:nvSpPr>
          <p:cNvPr id="69" name="">
            <a:extLst xmlns:a="http://schemas.openxmlformats.org/drawingml/2006/main">
              <a:ext uri="{FF2B5EF4-FFF2-40B4-BE49-F238E27FC236}">
                <a16:creationId xmlns:a16="http://schemas.microsoft.com/office/drawing/2014/main" id="{CEFAB2C1-CC80-4B62-B218-843421D557BD}"/>
              </a:ext>
            </a:extLst>
          </p:cNvPr>
          <p:cNvSpPr>
            <a:spLocks xmlns:a="http://schemas.openxmlformats.org/drawingml/2006/main" noGrp="1"/>
          </p:cNvSpPr>
          <p:nvPr/>
        </p:nvSpPr>
        <p:spPr>
          <a:xfrm xmlns:a="http://schemas.openxmlformats.org/drawingml/2006/main">
            <a:off x="7096125" y="4076700"/>
            <a:ext cx="4467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C00000"/>
                </a:solidFill>
                <a:latin typeface="Times New Roman"/>
                <a:ea typeface="Times New Roman"/>
                <a:cs typeface="Times New Roman"/>
              </a:defRPr>
            </a:defPPr>
          </a:lstStyle>
          <a:p xmlns:a="http://schemas.openxmlformats.org/drawingml/2006/main">
            <a:pPr>
              <a:defRPr sz="2200" b="1">
                <a:solidFill>
                  <a:srgbClr val="C00000"/>
                </a:solidFill>
                <a:latin typeface="Times New Roman"/>
                <a:ea typeface="Times New Roman"/>
                <a:cs typeface="Times New Roman"/>
              </a:defRPr>
            </a:pPr>
            <a:r>
              <a:rPr sz="2200" b="1">
                <a:solidFill>
                  <a:srgbClr val="C00000"/>
                </a:solidFill>
                <a:latin typeface="Times New Roman"/>
                <a:ea typeface="Times New Roman"/>
                <a:cs typeface="Times New Roman"/>
              </a:rPr>
              <a:t>Stored energy scales with thickness</a:t>
            </a:r>
          </a:p>
        </p:txBody>
      </p:sp>
      <p:sp>
        <p:nvSpPr>
          <p:cNvPr id="70" name="">
            <a:extLst xmlns:a="http://schemas.openxmlformats.org/drawingml/2006/main">
              <a:ext uri="{FF2B5EF4-FFF2-40B4-BE49-F238E27FC236}">
                <a16:creationId xmlns:a16="http://schemas.microsoft.com/office/drawing/2014/main" id="{6DE6651C-71AF-4778-8004-741C3F310A0D}"/>
              </a:ext>
            </a:extLst>
          </p:cNvPr>
          <p:cNvSpPr>
            <a:spLocks xmlns:a="http://schemas.openxmlformats.org/drawingml/2006/main" noGrp="1"/>
          </p:cNvSpPr>
          <p:nvPr/>
        </p:nvSpPr>
        <p:spPr>
          <a:xfrm xmlns:a="http://schemas.openxmlformats.org/drawingml/2006/main">
            <a:off x="7096125" y="4476750"/>
            <a:ext cx="44672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U ≈ (1 − ν) σ²h/E</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At fixed σ, stored energy increases</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with coating thickness h.</a:t>
            </a:r>
          </a:p>
        </p:txBody>
      </p:sp>
    </p:spTree>
    <p:extLst>
      <p:ext uri="{BB962C8B-B14F-4D97-AF65-F5344CB8AC3E}">
        <p14:creationId xmlns:p14="http://schemas.microsoft.com/office/powerpoint/2010/main" val="133495829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E5BFF032-0AB7-4164-9DB7-78BDE6F1669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BAAA8317-C60E-438A-B816-A213D3950230}"/>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3475AE85-8D28-4E20-BE8C-F242220B4EFB}"/>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Implications for the supervisor’s task</a:t>
            </a:r>
          </a:p>
        </p:txBody>
      </p:sp>
      <p:sp>
        <p:nvSpPr>
          <p:cNvPr id="28" name="矩形: 圆角 27">
            <a:extLst xmlns:a="http://schemas.openxmlformats.org/drawingml/2006/main">
              <a:ext uri="{FF2B5EF4-FFF2-40B4-BE49-F238E27FC236}">
                <a16:creationId xmlns:a16="http://schemas.microsoft.com/office/drawing/2014/main" id="{71FCAA4B-6DA7-4620-844C-921402AEB5F8}"/>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F3445D4A-5AAD-45D4-A273-F5590A4EAADA}"/>
              </a:ext>
            </a:extLst>
          </p:cNvPr>
          <p:cNvPicPr>
            <a:picLocks xmlns:a="http://schemas.openxmlformats.org/drawingml/2006/main" noChangeAspect="1"/>
          </p:cNvPicPr>
          <p:nvPr/>
        </p:nvPicPr>
        <p:blipFill>
          <a:blip xmlns:r="http://schemas.openxmlformats.org/officeDocument/2006/relationships" xmlns:a="http://schemas.openxmlformats.org/drawingml/2006/main" r:embed="R2a8371e3e55747ca">
            <a:extLst>
              <a:ext uri="{96DAC541-7B7A-43D3-8B79-37D633B846F1}">
                <asvg:svgBlip xmlns:asvg="http://schemas.microsoft.com/office/drawing/2016/SVG/main" r:embed="R7f82fc97a404471f"/>
              </a:ext>
            </a:extLst>
          </a:blip>
          <a:srcRect xmlns:a="http://schemas.openxmlformats.org/drawingml/2006/main" l="0" t="0" r="0" b="0"/>
          <a:stretch xmlns:a="http://schemas.openxmlformats.org/drawingml/2006/main">
            <a:fillRect l="0" t="0" r="0" b="0"/>
          </a:stretch>
        </p:blipFill>
        <p:spPr>
          <a:xfrm xmlns:a="http://schemas.openxmlformats.org/drawingml/2006/main">
            <a:off x="527050" y="270510"/>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5E773B1A-BFD8-426E-9836-EDC890DD46B4}"/>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pic>
        <p:nvPicPr>
          <p:cNvPr id="8" name="图片 7">
            <a:extLst xmlns:a="http://schemas.openxmlformats.org/drawingml/2006/main">
              <a:ext uri="{FF2B5EF4-FFF2-40B4-BE49-F238E27FC236}">
                <a16:creationId xmlns:a16="http://schemas.microsoft.com/office/drawing/2014/main" id="{B598098F-E517-4CA1-B214-F86E8E1DF398}"/>
              </a:ext>
            </a:extLst>
          </p:cNvPr>
          <p:cNvPicPr>
            <a:picLocks xmlns:a="http://schemas.openxmlformats.org/drawingml/2006/main" noChangeAspect="1"/>
          </p:cNvPicPr>
          <p:nvPr/>
        </p:nvPicPr>
        <p:blipFill>
          <a:blip xmlns:r="http://schemas.openxmlformats.org/officeDocument/2006/relationships" xmlns:a="http://schemas.openxmlformats.org/drawingml/2006/main" r:embed="R07788a9f64b340c2">
            <a:extLst>
              <a:ext uri="{96DAC541-7B7A-43D3-8B79-37D633B846F1}">
                <asvg:svgBlip xmlns:asvg="http://schemas.microsoft.com/office/drawing/2016/SVG/main" r:embed="Rafb66fc07e9149d2"/>
              </a:ext>
            </a:extLst>
          </a:blip>
          <a:srcRect xmlns:a="http://schemas.openxmlformats.org/drawingml/2006/main" l="0" t="0" r="0" b="0"/>
          <a:stretch xmlns:a="http://schemas.openxmlformats.org/drawingml/2006/main">
            <a:fillRect l="0" t="0" r="0" b="0"/>
          </a:stretch>
        </p:blipFill>
        <p:spPr>
          <a:xfrm xmlns:a="http://schemas.openxmlformats.org/drawingml/2006/main">
            <a:off x="222885" y="282575"/>
            <a:ext cx="431165" cy="431165"/>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DCBDC9C0-B715-4C42-8713-A830034BEC12}"/>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Sources: Ren et al., 2011 and 2012. Research implications.</a:t>
            </a:r>
          </a:p>
        </p:txBody>
      </p:sp>
      <p:sp>
        <p:nvSpPr>
          <p:cNvPr id="62" name="">
            <a:extLst xmlns:a="http://schemas.openxmlformats.org/drawingml/2006/main">
              <a:ext uri="{FF2B5EF4-FFF2-40B4-BE49-F238E27FC236}">
                <a16:creationId xmlns:a16="http://schemas.microsoft.com/office/drawing/2014/main" id="{C339B2B0-64AD-4498-AFA4-BEFC3331049B}"/>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09</a:t>
            </a:r>
          </a:p>
        </p:txBody>
      </p:sp>
      <p:graphicFrame>
        <p:nvGraphicFramePr>
          <p:cNvPr id="63" name="">
            <a:extLst xmlns:a="http://schemas.openxmlformats.org/drawingml/2006/main">
              <a:ext uri="{FF2B5EF4-FFF2-40B4-BE49-F238E27FC236}">
                <a16:creationId xmlns:a16="http://schemas.microsoft.com/office/drawing/2014/main" id="{C01E4A4D-668D-4200-AACF-9B3C59E1CEF2}"/>
              </a:ext>
            </a:extLst>
          </p:cNvPr>
          <p:cNvGraphicFramePr/>
          <p:nvPr/>
        </p:nvGraphicFramePr>
        <p:xfrm>
          <a:off xmlns:a="http://schemas.openxmlformats.org/drawingml/2006/main" x="514350" y="1228725"/>
          <a:ext xmlns:a="http://schemas.openxmlformats.org/drawingml/2006/main" cx="11163300" cy="3429000"/>
        </p:xfrm>
        <a:graphic xmlns:a="http://schemas.openxmlformats.org/drawingml/2006/main">
          <a:graphicData uri="http://schemas.openxmlformats.org/drawingml/2006/table">
            <a:tbl>
              <a:tblPr/>
              <a:tblGrid>
                <a:gridCol w="1943100"/>
                <a:gridCol w="4324350"/>
                <a:gridCol w="4895850"/>
              </a:tblGrid>
              <a:tr h="571500">
                <a:tc>
                  <a:txBody>
                    <a:bodyPr/>
                    <a:lstStyle/>
                    <a:p>
                      <a:r>
                        <a:rPr sz="2200" b="1">
                          <a:solidFill>
                            <a:srgbClr val="FFFFFF"/>
                          </a:solidFill>
                          <a:latin typeface="Times New Roman"/>
                          <a:ea typeface="Times New Roman"/>
                          <a:cs typeface="Times New Roman"/>
                        </a:rPr>
                        <a:t>Question</a:t>
                      </a:r>
                    </a:p>
                  </a:txBody>
                  <a:tcPr marL="91440" marR="91440" marT="45720" marB="45720">
                    <a:solidFill>
                      <a:srgbClr val="163047"/>
                    </a:solidFill>
                  </a:tcPr>
                </a:tc>
                <a:tc>
                  <a:txBody>
                    <a:bodyPr/>
                    <a:lstStyle/>
                    <a:p>
                      <a:r>
                        <a:rPr sz="2200" b="1">
                          <a:solidFill>
                            <a:srgbClr val="FFFFFF"/>
                          </a:solidFill>
                          <a:latin typeface="Times New Roman"/>
                          <a:ea typeface="Times New Roman"/>
                          <a:cs typeface="Times New Roman"/>
                        </a:rPr>
                        <a:t>Evidence from papers</a:t>
                      </a:r>
                    </a:p>
                  </a:txBody>
                  <a:tcPr marL="91440" marR="91440" marT="45720" marB="45720">
                    <a:solidFill>
                      <a:srgbClr val="163047"/>
                    </a:solidFill>
                  </a:tcPr>
                </a:tc>
                <a:tc>
                  <a:txBody>
                    <a:bodyPr/>
                    <a:lstStyle/>
                    <a:p>
                      <a:r>
                        <a:rPr sz="2200" b="1">
                          <a:solidFill>
                            <a:srgbClr val="FFFFFF"/>
                          </a:solidFill>
                          <a:latin typeface="Times New Roman"/>
                          <a:ea typeface="Times New Roman"/>
                          <a:cs typeface="Times New Roman"/>
                        </a:rPr>
                        <a:t>Our next task</a:t>
                      </a:r>
                    </a:p>
                  </a:txBody>
                  <a:tcPr marL="91440" marR="91440" marT="45720" marB="45720">
                    <a:solidFill>
                      <a:srgbClr val="163047"/>
                    </a:solidFill>
                  </a:tcPr>
                </a:tc>
              </a:tr>
              <a:tr h="571500">
                <a:tc>
                  <a:txBody>
                    <a:bodyPr/>
                    <a:lstStyle/>
                    <a:p>
                      <a:r>
                        <a:rPr sz="2200" b="0">
                          <a:solidFill>
                            <a:srgbClr val="253A4B"/>
                          </a:solidFill>
                          <a:latin typeface="Times New Roman"/>
                          <a:ea typeface="Times New Roman"/>
                          <a:cs typeface="Times New Roman"/>
                        </a:rPr>
                        <a:t>External layer</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Y/Al deposition + PFMS</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Check CoNiCrAlY compatibility</a:t>
                      </a:r>
                    </a:p>
                  </a:txBody>
                  <a:tcPr marL="91440" marR="91440" marT="45720" marB="45720">
                    <a:solidFill>
                      <a:srgbClr val="EDF4F5"/>
                    </a:solidFill>
                  </a:tcPr>
                </a:tc>
              </a:tr>
              <a:tr h="571500">
                <a:tc>
                  <a:txBody>
                    <a:bodyPr/>
                    <a:lstStyle/>
                    <a:p>
                      <a:r>
                        <a:rPr sz="2200" b="0">
                          <a:solidFill>
                            <a:srgbClr val="253A4B"/>
                          </a:solidFill>
                          <a:latin typeface="Times New Roman"/>
                          <a:ea typeface="Times New Roman"/>
                          <a:cs typeface="Times New Roman"/>
                        </a:rPr>
                        <a:t>Adhesion</a:t>
                      </a:r>
                    </a:p>
                  </a:txBody>
                  <a:tcPr marL="91440" marR="91440" marT="45720" marB="45720">
                    <a:solidFill>
                      <a:srgbClr val="FFFFFF"/>
                    </a:solidFill>
                  </a:tcPr>
                </a:tc>
                <a:tc>
                  <a:txBody>
                    <a:bodyPr/>
                    <a:lstStyle/>
                    <a:p>
                      <a:r>
                        <a:rPr sz="2200" b="0">
                          <a:solidFill>
                            <a:srgbClr val="253A4B"/>
                          </a:solidFill>
                          <a:latin typeface="Times New Roman"/>
                          <a:ea typeface="Times New Roman"/>
                          <a:cs typeface="Times New Roman"/>
                        </a:rPr>
                        <a:t>Intact sections; less spall</a:t>
                      </a:r>
                    </a:p>
                  </a:txBody>
                  <a:tcPr marL="91440" marR="91440" marT="45720" marB="45720">
                    <a:solidFill>
                      <a:srgbClr val="FFFFFF"/>
                    </a:solidFill>
                  </a:tcPr>
                </a:tc>
                <a:tc>
                  <a:txBody>
                    <a:bodyPr/>
                    <a:lstStyle/>
                    <a:p>
                      <a:r>
                        <a:rPr sz="2200" b="0">
                          <a:solidFill>
                            <a:srgbClr val="253A4B"/>
                          </a:solidFill>
                          <a:latin typeface="Times New Roman"/>
                          <a:ea typeface="Times New Roman"/>
                          <a:cs typeface="Times New Roman"/>
                        </a:rPr>
                        <a:t>Measure adhesion and failure</a:t>
                      </a:r>
                    </a:p>
                  </a:txBody>
                  <a:tcPr marL="91440" marR="91440" marT="45720" marB="45720">
                    <a:solidFill>
                      <a:srgbClr val="FFFFFF"/>
                    </a:solidFill>
                  </a:tcPr>
                </a:tc>
              </a:tr>
              <a:tr h="571500">
                <a:tc>
                  <a:txBody>
                    <a:bodyPr/>
                    <a:lstStyle/>
                    <a:p>
                      <a:r>
                        <a:rPr sz="2200" b="0">
                          <a:solidFill>
                            <a:srgbClr val="253A4B"/>
                          </a:solidFill>
                          <a:latin typeface="Times New Roman"/>
                          <a:ea typeface="Times New Roman"/>
                          <a:cs typeface="Times New Roman"/>
                        </a:rPr>
                        <a:t>Thickness</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EPD time affects morphology</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Measure thickness vs. time</a:t>
                      </a:r>
                    </a:p>
                  </a:txBody>
                  <a:tcPr marL="91440" marR="91440" marT="45720" marB="45720">
                    <a:solidFill>
                      <a:srgbClr val="EDF4F5"/>
                    </a:solidFill>
                  </a:tcPr>
                </a:tc>
              </a:tr>
              <a:tr h="571500">
                <a:tc>
                  <a:txBody>
                    <a:bodyPr/>
                    <a:lstStyle/>
                    <a:p>
                      <a:r>
                        <a:rPr sz="2200" b="0">
                          <a:solidFill>
                            <a:srgbClr val="253A4B"/>
                          </a:solidFill>
                          <a:latin typeface="Times New Roman"/>
                          <a:ea typeface="Times New Roman"/>
                          <a:cs typeface="Times New Roman"/>
                        </a:rPr>
                        <a:t>Heat step</a:t>
                      </a:r>
                    </a:p>
                  </a:txBody>
                  <a:tcPr marL="91440" marR="91440" marT="45720" marB="45720">
                    <a:solidFill>
                      <a:srgbClr val="FFFFFF"/>
                    </a:solidFill>
                  </a:tcPr>
                </a:tc>
                <a:tc>
                  <a:txBody>
                    <a:bodyPr/>
                    <a:lstStyle/>
                    <a:p>
                      <a:r>
                        <a:rPr sz="2200" b="0">
                          <a:solidFill>
                            <a:srgbClr val="253A4B"/>
                          </a:solidFill>
                          <a:latin typeface="Times New Roman"/>
                          <a:ea typeface="Times New Roman"/>
                          <a:cs typeface="Times New Roman"/>
                        </a:rPr>
                        <a:t>PFMS forms Al₂O₃/YAG</a:t>
                      </a:r>
                    </a:p>
                  </a:txBody>
                  <a:tcPr marL="91440" marR="91440" marT="45720" marB="45720">
                    <a:solidFill>
                      <a:srgbClr val="FFFFFF"/>
                    </a:solidFill>
                  </a:tcPr>
                </a:tc>
                <a:tc>
                  <a:txBody>
                    <a:bodyPr/>
                    <a:lstStyle/>
                    <a:p>
                      <a:r>
                        <a:rPr sz="2200" b="0">
                          <a:solidFill>
                            <a:srgbClr val="253A4B"/>
                          </a:solidFill>
                          <a:latin typeface="Times New Roman"/>
                          <a:ea typeface="Times New Roman"/>
                          <a:cs typeface="Times New Roman"/>
                        </a:rPr>
                        <a:t>Check phases and alloy damage</a:t>
                      </a:r>
                    </a:p>
                  </a:txBody>
                  <a:tcPr marL="91440" marR="91440" marT="45720" marB="45720">
                    <a:solidFill>
                      <a:srgbClr val="FFFFFF"/>
                    </a:solidFill>
                  </a:tcPr>
                </a:tc>
              </a:tr>
              <a:tr h="571500">
                <a:tc>
                  <a:txBody>
                    <a:bodyPr/>
                    <a:lstStyle/>
                    <a:p>
                      <a:r>
                        <a:rPr sz="2200" b="0">
                          <a:solidFill>
                            <a:srgbClr val="253A4B"/>
                          </a:solidFill>
                          <a:latin typeface="Times New Roman"/>
                          <a:ea typeface="Times New Roman"/>
                          <a:cs typeface="Times New Roman"/>
                        </a:rPr>
                        <a:t>Composition</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Oxidation vs. spallation</a:t>
                      </a:r>
                    </a:p>
                  </a:txBody>
                  <a:tcPr marL="91440" marR="91440" marT="45720" marB="45720">
                    <a:solidFill>
                      <a:srgbClr val="EDF4F5"/>
                    </a:solidFill>
                  </a:tcPr>
                </a:tc>
                <a:tc>
                  <a:txBody>
                    <a:bodyPr/>
                    <a:lstStyle/>
                    <a:p>
                      <a:r>
                        <a:rPr sz="2200" b="0">
                          <a:solidFill>
                            <a:srgbClr val="253A4B"/>
                          </a:solidFill>
                          <a:latin typeface="Times New Roman"/>
                          <a:ea typeface="Times New Roman"/>
                          <a:cs typeface="Times New Roman"/>
                        </a:rPr>
                        <a:t>Optimize Y/Al and thickness</a:t>
                      </a:r>
                    </a:p>
                  </a:txBody>
                  <a:tcPr marL="91440" marR="91440" marT="45720" marB="45720">
                    <a:solidFill>
                      <a:srgbClr val="EDF4F5"/>
                    </a:solidFill>
                  </a:tcPr>
                </a:tc>
              </a:tr>
            </a:tbl>
          </a:graphicData>
        </a:graphic>
      </p:graphicFrame>
      <p:sp>
        <p:nvSpPr>
          <p:cNvPr id="64" name="">
            <a:extLst xmlns:a="http://schemas.openxmlformats.org/drawingml/2006/main">
              <a:ext uri="{FF2B5EF4-FFF2-40B4-BE49-F238E27FC236}">
                <a16:creationId xmlns:a16="http://schemas.microsoft.com/office/drawing/2014/main" id="{077DF48A-DCD2-4215-BC6D-73BF9DA9531B}"/>
              </a:ext>
            </a:extLst>
          </p:cNvPr>
          <p:cNvSpPr>
            <a:spLocks xmlns:a="http://schemas.openxmlformats.org/drawingml/2006/main" noGrp="1"/>
          </p:cNvSpPr>
          <p:nvPr/>
        </p:nvSpPr>
        <p:spPr>
          <a:xfrm xmlns:a="http://schemas.openxmlformats.org/drawingml/2006/main">
            <a:off x="409575" y="4762500"/>
            <a:ext cx="11296650" cy="838200"/>
          </a:xfrm>
          <a:prstGeom xmlns:a="http://schemas.openxmlformats.org/drawingml/2006/main" prst="roundRect">
            <a:avLst>
              <a:gd name="adj" fmla="val 40909"/>
            </a:avLst>
          </a:prstGeom>
          <a:solidFill xmlns:a="http://schemas.openxmlformats.org/drawingml/2006/main">
            <a:srgbClr val="FFFFFF"/>
          </a:solidFill>
          <a:ln xmlns:a="http://schemas.openxmlformats.org/drawingml/2006/main" w="28575">
            <a:solidFill>
              <a:srgbClr val="0E335B"/>
            </a:solidFill>
            <a:prstDash val="solid"/>
          </a:ln>
        </p:spPr>
      </p:sp>
      <p:sp>
        <p:nvSpPr>
          <p:cNvPr id="65" name="">
            <a:extLst xmlns:a="http://schemas.openxmlformats.org/drawingml/2006/main">
              <a:ext uri="{FF2B5EF4-FFF2-40B4-BE49-F238E27FC236}">
                <a16:creationId xmlns:a16="http://schemas.microsoft.com/office/drawing/2014/main" id="{74552C76-35C3-4236-938D-9366BFDF7679}"/>
              </a:ext>
            </a:extLst>
          </p:cNvPr>
          <p:cNvSpPr>
            <a:spLocks xmlns:a="http://schemas.openxmlformats.org/drawingml/2006/main" noGrp="1"/>
          </p:cNvSpPr>
          <p:nvPr/>
        </p:nvSpPr>
        <p:spPr>
          <a:xfrm xmlns:a="http://schemas.openxmlformats.org/drawingml/2006/main">
            <a:off x="600075" y="4867275"/>
            <a:ext cx="109156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Priority: a thin, continuous layer</a:t>
            </a:r>
          </a:p>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with measured thickness and verified adhesion.</a:t>
            </a:r>
          </a:p>
        </p:txBody>
      </p:sp>
      <p:sp>
        <p:nvSpPr>
          <p:cNvPr id="66" name="">
            <a:extLst xmlns:a="http://schemas.openxmlformats.org/drawingml/2006/main">
              <a:ext uri="{FF2B5EF4-FFF2-40B4-BE49-F238E27FC236}">
                <a16:creationId xmlns:a16="http://schemas.microsoft.com/office/drawing/2014/main" id="{ECE8A830-F4C4-44E8-80DE-B1EF8CDA780F}"/>
              </a:ext>
            </a:extLst>
          </p:cNvPr>
          <p:cNvSpPr>
            <a:spLocks xmlns:a="http://schemas.openxmlformats.org/drawingml/2006/main" noGrp="1"/>
          </p:cNvSpPr>
          <p:nvPr/>
        </p:nvSpPr>
        <p:spPr>
          <a:xfrm xmlns:a="http://schemas.openxmlformats.org/drawingml/2006/main">
            <a:off x="514350" y="5648325"/>
            <a:ext cx="11163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647481"/>
                </a:solidFill>
                <a:latin typeface="Times New Roman"/>
                <a:ea typeface="Times New Roman"/>
                <a:cs typeface="Times New Roman"/>
              </a:defRPr>
            </a:defPPr>
          </a:lstStyle>
          <a:p xmlns:a="http://schemas.openxmlformats.org/drawingml/2006/main">
            <a:pPr>
              <a:defRPr sz="2200" b="0">
                <a:solidFill>
                  <a:srgbClr val="647481"/>
                </a:solidFill>
                <a:latin typeface="Times New Roman"/>
                <a:ea typeface="Times New Roman"/>
                <a:cs typeface="Times New Roman"/>
              </a:defRPr>
            </a:pPr>
            <a:r>
              <a:rPr sz="2200" b="0">
                <a:solidFill>
                  <a:srgbClr val="647481"/>
                </a:solidFill>
                <a:latin typeface="Times New Roman"/>
                <a:ea typeface="Times New Roman"/>
                <a:cs typeface="Times New Roman"/>
              </a:rPr>
              <a:t>CMAS can follow after adhesion and thickness control.</a:t>
            </a:r>
          </a:p>
        </p:txBody>
      </p:sp>
    </p:spTree>
    <p:extLst>
      <p:ext uri="{BB962C8B-B14F-4D97-AF65-F5344CB8AC3E}">
        <p14:creationId xmlns:p14="http://schemas.microsoft.com/office/powerpoint/2010/main" val="90382933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D30355AC-7DE1-48CA-AC0A-022913D32B4E}"/>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6BC8D974-3EDD-4BC2-BB8A-8EDAB109E973}"/>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354CB19A-38F4-4722-90F5-B2A98513EA89}"/>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Next steps: thickness calibration and adhesion</a:t>
            </a:r>
          </a:p>
        </p:txBody>
      </p:sp>
      <p:sp>
        <p:nvSpPr>
          <p:cNvPr id="28" name="矩形: 圆角 27">
            <a:extLst xmlns:a="http://schemas.openxmlformats.org/drawingml/2006/main">
              <a:ext uri="{FF2B5EF4-FFF2-40B4-BE49-F238E27FC236}">
                <a16:creationId xmlns:a16="http://schemas.microsoft.com/office/drawing/2014/main" id="{51B00C6C-E4E5-4EAC-9462-A11CE6AB8903}"/>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9B1181E9-E173-48E6-9CB6-ACAE2F8BAA85}"/>
              </a:ext>
            </a:extLst>
          </p:cNvPr>
          <p:cNvPicPr>
            <a:picLocks xmlns:a="http://schemas.openxmlformats.org/drawingml/2006/main" noChangeAspect="1"/>
          </p:cNvPicPr>
          <p:nvPr/>
        </p:nvPicPr>
        <p:blipFill>
          <a:blip xmlns:r="http://schemas.openxmlformats.org/officeDocument/2006/relationships" xmlns:a="http://schemas.openxmlformats.org/drawingml/2006/main" r:embed="R304e05efa91740b7">
            <a:extLst>
              <a:ext uri="{96DAC541-7B7A-43D3-8B79-37D633B846F1}">
                <asvg:svgBlip xmlns:asvg="http://schemas.microsoft.com/office/drawing/2016/SVG/main" r:embed="R8d60e8eecc3947a3"/>
              </a:ext>
            </a:extLst>
          </a:blip>
          <a:srcRect xmlns:a="http://schemas.openxmlformats.org/drawingml/2006/main" l="0" t="0" r="0" b="0"/>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DF12E4FD-2375-4A5C-8110-56E1D4B7AA69}"/>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D4EACEDA-E886-4A48-A985-A3DB58DEF638}"/>
              </a:ext>
            </a:extLst>
          </p:cNvPr>
          <p:cNvSpPr>
            <a:spLocks xmlns:a="http://schemas.openxmlformats.org/drawingml/2006/main" noGrp="1"/>
          </p:cNvSpPr>
          <p:nvPr/>
        </p:nvSpPr>
        <p:spPr>
          <a:xfrm xmlns:a="http://schemas.openxmlformats.org/drawingml/2006/main">
            <a:off x="51435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Proposed experiment based on the two reviewed papers.</a:t>
            </a:r>
          </a:p>
        </p:txBody>
      </p:sp>
      <p:sp>
        <p:nvSpPr>
          <p:cNvPr id="62" name="">
            <a:extLst xmlns:a="http://schemas.openxmlformats.org/drawingml/2006/main">
              <a:ext uri="{FF2B5EF4-FFF2-40B4-BE49-F238E27FC236}">
                <a16:creationId xmlns:a16="http://schemas.microsoft.com/office/drawing/2014/main" id="{91D3E6C7-3E42-4612-948C-ACE7EC3C1E14}"/>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10</a:t>
            </a:r>
          </a:p>
        </p:txBody>
      </p:sp>
      <p:sp>
        <p:nvSpPr>
          <p:cNvPr id="63" name="">
            <a:extLst xmlns:a="http://schemas.openxmlformats.org/drawingml/2006/main">
              <a:ext uri="{FF2B5EF4-FFF2-40B4-BE49-F238E27FC236}">
                <a16:creationId xmlns:a16="http://schemas.microsoft.com/office/drawing/2014/main" id="{FF1F5BF4-BD89-46EF-B199-92019777CC25}"/>
              </a:ext>
            </a:extLst>
          </p:cNvPr>
          <p:cNvSpPr>
            <a:spLocks xmlns:a="http://schemas.openxmlformats.org/drawingml/2006/main" noGrp="1"/>
          </p:cNvSpPr>
          <p:nvPr/>
        </p:nvSpPr>
        <p:spPr>
          <a:xfrm xmlns:a="http://schemas.openxmlformats.org/drawingml/2006/main">
            <a:off x="419100" y="1171575"/>
            <a:ext cx="3590925" cy="3829050"/>
          </a:xfrm>
          <a:prstGeom xmlns:a="http://schemas.openxmlformats.org/drawingml/2006/main" prst="roundRect">
            <a:avLst>
              <a:gd name="adj" fmla="val 9549"/>
            </a:avLst>
          </a:prstGeom>
          <a:solidFill xmlns:a="http://schemas.openxmlformats.org/drawingml/2006/main">
            <a:srgbClr val="FFFFFF"/>
          </a:solidFill>
          <a:ln xmlns:a="http://schemas.openxmlformats.org/drawingml/2006/main" w="28575">
            <a:solidFill>
              <a:srgbClr val="0E335B"/>
            </a:solidFill>
            <a:prstDash val="solid"/>
          </a:ln>
        </p:spPr>
      </p:sp>
      <p:sp>
        <p:nvSpPr>
          <p:cNvPr id="64" name="">
            <a:extLst xmlns:a="http://schemas.openxmlformats.org/drawingml/2006/main">
              <a:ext uri="{FF2B5EF4-FFF2-40B4-BE49-F238E27FC236}">
                <a16:creationId xmlns:a16="http://schemas.microsoft.com/office/drawing/2014/main" id="{13A201CB-352F-4F70-85C9-9405054EE622}"/>
              </a:ext>
            </a:extLst>
          </p:cNvPr>
          <p:cNvSpPr>
            <a:spLocks xmlns:a="http://schemas.openxmlformats.org/drawingml/2006/main" noGrp="1"/>
          </p:cNvSpPr>
          <p:nvPr/>
        </p:nvSpPr>
        <p:spPr>
          <a:xfrm xmlns:a="http://schemas.openxmlformats.org/drawingml/2006/main">
            <a:off x="571500" y="1333500"/>
            <a:ext cx="32670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1 · Deposition calibration</a:t>
            </a:r>
          </a:p>
        </p:txBody>
      </p:sp>
      <p:sp>
        <p:nvSpPr>
          <p:cNvPr id="65" name="">
            <a:extLst xmlns:a="http://schemas.openxmlformats.org/drawingml/2006/main">
              <a:ext uri="{FF2B5EF4-FFF2-40B4-BE49-F238E27FC236}">
                <a16:creationId xmlns:a16="http://schemas.microsoft.com/office/drawing/2014/main" id="{291BCA39-5794-444D-AA46-A6FCD094E0E4}"/>
              </a:ext>
            </a:extLst>
          </p:cNvPr>
          <p:cNvSpPr>
            <a:spLocks xmlns:a="http://schemas.openxmlformats.org/drawingml/2006/main" noGrp="1"/>
          </p:cNvSpPr>
          <p:nvPr/>
        </p:nvSpPr>
        <p:spPr>
          <a:xfrm xmlns:a="http://schemas.openxmlformats.org/drawingml/2006/main">
            <a:off x="4238625" y="1171575"/>
            <a:ext cx="3590925" cy="3829050"/>
          </a:xfrm>
          <a:prstGeom xmlns:a="http://schemas.openxmlformats.org/drawingml/2006/main" prst="roundRect">
            <a:avLst>
              <a:gd name="adj" fmla="val 9549"/>
            </a:avLst>
          </a:prstGeom>
          <a:solidFill xmlns:a="http://schemas.openxmlformats.org/drawingml/2006/main">
            <a:srgbClr val="FFFFFF"/>
          </a:solidFill>
          <a:ln xmlns:a="http://schemas.openxmlformats.org/drawingml/2006/main" w="28575">
            <a:solidFill>
              <a:srgbClr val="0E335B"/>
            </a:solidFill>
            <a:prstDash val="solid"/>
          </a:ln>
        </p:spPr>
      </p:sp>
      <p:sp>
        <p:nvSpPr>
          <p:cNvPr id="66" name="">
            <a:extLst xmlns:a="http://schemas.openxmlformats.org/drawingml/2006/main">
              <a:ext uri="{FF2B5EF4-FFF2-40B4-BE49-F238E27FC236}">
                <a16:creationId xmlns:a16="http://schemas.microsoft.com/office/drawing/2014/main" id="{8F0083FA-D335-4E9E-99FE-323041699345}"/>
              </a:ext>
            </a:extLst>
          </p:cNvPr>
          <p:cNvSpPr>
            <a:spLocks xmlns:a="http://schemas.openxmlformats.org/drawingml/2006/main" noGrp="1"/>
          </p:cNvSpPr>
          <p:nvPr/>
        </p:nvSpPr>
        <p:spPr>
          <a:xfrm xmlns:a="http://schemas.openxmlformats.org/drawingml/2006/main">
            <a:off x="4391025" y="1333500"/>
            <a:ext cx="32670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2 · Phase and adhesion</a:t>
            </a:r>
          </a:p>
        </p:txBody>
      </p:sp>
      <p:sp>
        <p:nvSpPr>
          <p:cNvPr id="67" name="">
            <a:extLst xmlns:a="http://schemas.openxmlformats.org/drawingml/2006/main">
              <a:ext uri="{FF2B5EF4-FFF2-40B4-BE49-F238E27FC236}">
                <a16:creationId xmlns:a16="http://schemas.microsoft.com/office/drawing/2014/main" id="{CFCF6EF8-67FF-486E-BFDA-2385320A5137}"/>
              </a:ext>
            </a:extLst>
          </p:cNvPr>
          <p:cNvSpPr>
            <a:spLocks xmlns:a="http://schemas.openxmlformats.org/drawingml/2006/main" noGrp="1"/>
          </p:cNvSpPr>
          <p:nvPr/>
        </p:nvSpPr>
        <p:spPr>
          <a:xfrm xmlns:a="http://schemas.openxmlformats.org/drawingml/2006/main">
            <a:off x="8058150" y="1171575"/>
            <a:ext cx="3590925" cy="3829050"/>
          </a:xfrm>
          <a:prstGeom xmlns:a="http://schemas.openxmlformats.org/drawingml/2006/main" prst="roundRect">
            <a:avLst>
              <a:gd name="adj" fmla="val 9549"/>
            </a:avLst>
          </a:prstGeom>
          <a:solidFill xmlns:a="http://schemas.openxmlformats.org/drawingml/2006/main">
            <a:srgbClr val="FFFFFF"/>
          </a:solidFill>
          <a:ln xmlns:a="http://schemas.openxmlformats.org/drawingml/2006/main" w="28575">
            <a:solidFill>
              <a:srgbClr val="0E335B"/>
            </a:solidFill>
            <a:prstDash val="solid"/>
          </a:ln>
        </p:spPr>
      </p:sp>
      <p:sp>
        <p:nvSpPr>
          <p:cNvPr id="68" name="">
            <a:extLst xmlns:a="http://schemas.openxmlformats.org/drawingml/2006/main">
              <a:ext uri="{FF2B5EF4-FFF2-40B4-BE49-F238E27FC236}">
                <a16:creationId xmlns:a16="http://schemas.microsoft.com/office/drawing/2014/main" id="{B88C93F6-0E81-469C-91C4-7E0338C03B45}"/>
              </a:ext>
            </a:extLst>
          </p:cNvPr>
          <p:cNvSpPr>
            <a:spLocks xmlns:a="http://schemas.openxmlformats.org/drawingml/2006/main" noGrp="1"/>
          </p:cNvSpPr>
          <p:nvPr/>
        </p:nvSpPr>
        <p:spPr>
          <a:xfrm xmlns:a="http://schemas.openxmlformats.org/drawingml/2006/main">
            <a:off x="8210550" y="1333500"/>
            <a:ext cx="32670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0E335B"/>
                </a:solidFill>
                <a:latin typeface="Times New Roman"/>
                <a:ea typeface="Times New Roman"/>
                <a:cs typeface="Times New Roman"/>
              </a:defRPr>
            </a:defPPr>
          </a:lstStyle>
          <a:p xmlns:a="http://schemas.openxmlformats.org/drawingml/2006/main">
            <a:pP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3 · Cyclic validation</a:t>
            </a:r>
          </a:p>
        </p:txBody>
      </p:sp>
      <p:sp>
        <p:nvSpPr>
          <p:cNvPr id="69" name="">
            <a:extLst xmlns:a="http://schemas.openxmlformats.org/drawingml/2006/main">
              <a:ext uri="{FF2B5EF4-FFF2-40B4-BE49-F238E27FC236}">
                <a16:creationId xmlns:a16="http://schemas.microsoft.com/office/drawing/2014/main" id="{5A0AB43F-E68B-4583-BE0C-FCCE0D47C7E3}"/>
              </a:ext>
            </a:extLst>
          </p:cNvPr>
          <p:cNvSpPr>
            <a:spLocks xmlns:a="http://schemas.openxmlformats.org/drawingml/2006/main" noGrp="1"/>
          </p:cNvSpPr>
          <p:nvPr/>
        </p:nvSpPr>
        <p:spPr>
          <a:xfrm xmlns:a="http://schemas.openxmlformats.org/drawingml/2006/main">
            <a:off x="571500" y="2238375"/>
            <a:ext cx="32670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Fixed composition + current</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Screen 4 / 6 / 8 min EPD</a:t>
            </a:r>
          </a:p>
          <a:p xmlns:a="http://schemas.openxmlformats.org/drawingml/2006/main">
            <a:r>
              <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Measure deposited mass</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and cross-sectional thickness</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at multiple positions.</a:t>
            </a:r>
          </a:p>
        </p:txBody>
      </p:sp>
      <p:sp>
        <p:nvSpPr>
          <p:cNvPr id="70" name="">
            <a:extLst xmlns:a="http://schemas.openxmlformats.org/drawingml/2006/main">
              <a:ext uri="{FF2B5EF4-FFF2-40B4-BE49-F238E27FC236}">
                <a16:creationId xmlns:a16="http://schemas.microsoft.com/office/drawing/2014/main" id="{9EDCE712-881A-4212-8B47-8537910B4B31}"/>
              </a:ext>
            </a:extLst>
          </p:cNvPr>
          <p:cNvSpPr>
            <a:spLocks xmlns:a="http://schemas.openxmlformats.org/drawingml/2006/main" noGrp="1"/>
          </p:cNvSpPr>
          <p:nvPr/>
        </p:nvSpPr>
        <p:spPr>
          <a:xfrm xmlns:a="http://schemas.openxmlformats.org/drawingml/2006/main">
            <a:off x="4391025" y="2238375"/>
            <a:ext cx="32670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XRD: verify α-Al₂O₃ + YAG</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Measure roughness and porosity</a:t>
            </a:r>
          </a:p>
          <a:p xmlns:a="http://schemas.openxmlformats.org/drawingml/2006/main">
            <a:r>
              <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Quantify interface adhesion;</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identify the failure location.</a:t>
            </a:r>
          </a:p>
        </p:txBody>
      </p:sp>
      <p:sp>
        <p:nvSpPr>
          <p:cNvPr id="71" name="">
            <a:extLst xmlns:a="http://schemas.openxmlformats.org/drawingml/2006/main">
              <a:ext uri="{FF2B5EF4-FFF2-40B4-BE49-F238E27FC236}">
                <a16:creationId xmlns:a16="http://schemas.microsoft.com/office/drawing/2014/main" id="{AD2B1520-22FF-49FF-9DB7-B6C8EB08A335}"/>
              </a:ext>
            </a:extLst>
          </p:cNvPr>
          <p:cNvSpPr>
            <a:spLocks xmlns:a="http://schemas.openxmlformats.org/drawingml/2006/main" noGrp="1"/>
          </p:cNvSpPr>
          <p:nvPr/>
        </p:nvSpPr>
        <p:spPr>
          <a:xfrm xmlns:a="http://schemas.openxmlformats.org/drawingml/2006/main">
            <a:off x="8210550" y="2238375"/>
            <a:ext cx="32670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0">
                <a:solidFill>
                  <a:srgbClr val="253A4B"/>
                </a:solidFill>
                <a:latin typeface="Times New Roman"/>
                <a:ea typeface="Times New Roman"/>
                <a:cs typeface="Times New Roman"/>
              </a:defRPr>
            </a:defPPr>
          </a:lstStyle>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Controls: uncoated, Al₂O₃-only,</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and heat-treated blank</a:t>
            </a:r>
          </a:p>
          <a:p xmlns:a="http://schemas.openxmlformats.org/drawingml/2006/main">
            <a:r>
              <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Track mass change, spallation,</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TGO thickness and</a:t>
            </a:r>
          </a:p>
          <a:p xmlns:a="http://schemas.openxmlformats.org/drawingml/2006/main">
            <a:pPr>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interface cracking.</a:t>
            </a:r>
          </a:p>
        </p:txBody>
      </p:sp>
      <p:sp>
        <p:nvSpPr>
          <p:cNvPr id="72" name="">
            <a:extLst xmlns:a="http://schemas.openxmlformats.org/drawingml/2006/main">
              <a:ext uri="{FF2B5EF4-FFF2-40B4-BE49-F238E27FC236}">
                <a16:creationId xmlns:a16="http://schemas.microsoft.com/office/drawing/2014/main" id="{834798C9-69F2-4B20-89F8-C3C8DB8F3423}"/>
              </a:ext>
            </a:extLst>
          </p:cNvPr>
          <p:cNvSpPr>
            <a:spLocks xmlns:a="http://schemas.openxmlformats.org/drawingml/2006/main" noGrp="1"/>
          </p:cNvSpPr>
          <p:nvPr/>
        </p:nvSpPr>
        <p:spPr>
          <a:xfrm xmlns:a="http://schemas.openxmlformats.org/drawingml/2006/main">
            <a:off x="409575" y="5114925"/>
            <a:ext cx="11296650" cy="714375"/>
          </a:xfrm>
          <a:prstGeom xmlns:a="http://schemas.openxmlformats.org/drawingml/2006/main" prst="roundRect">
            <a:avLst>
              <a:gd name="adj" fmla="val 48000"/>
            </a:avLst>
          </a:prstGeom>
          <a:solidFill xmlns:a="http://schemas.openxmlformats.org/drawingml/2006/main">
            <a:srgbClr val="FFFFFF"/>
          </a:solidFill>
          <a:ln xmlns:a="http://schemas.openxmlformats.org/drawingml/2006/main" w="28575">
            <a:solidFill>
              <a:srgbClr val="0E335B"/>
            </a:solidFill>
            <a:prstDash val="solid"/>
          </a:ln>
        </p:spPr>
      </p:sp>
      <p:sp>
        <p:nvSpPr>
          <p:cNvPr id="73" name="">
            <a:extLst xmlns:a="http://schemas.openxmlformats.org/drawingml/2006/main">
              <a:ext uri="{FF2B5EF4-FFF2-40B4-BE49-F238E27FC236}">
                <a16:creationId xmlns:a16="http://schemas.microsoft.com/office/drawing/2014/main" id="{4CC7CB04-8767-4E5D-BFFC-DC343D308F7C}"/>
              </a:ext>
            </a:extLst>
          </p:cNvPr>
          <p:cNvSpPr>
            <a:spLocks xmlns:a="http://schemas.openxmlformats.org/drawingml/2006/main" noGrp="1"/>
          </p:cNvSpPr>
          <p:nvPr/>
        </p:nvSpPr>
        <p:spPr>
          <a:xfrm xmlns:a="http://schemas.openxmlformats.org/drawingml/2006/main">
            <a:off x="609600" y="5286375"/>
            <a:ext cx="1091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00" b="1">
                <a:solidFill>
                  <a:srgbClr val="163047"/>
                </a:solidFill>
                <a:latin typeface="Times New Roman"/>
                <a:ea typeface="Times New Roman"/>
                <a:cs typeface="Times New Roman"/>
              </a:defRPr>
            </a:defPPr>
          </a:lstStyle>
          <a:p xmlns:a="http://schemas.openxmlformats.org/drawingml/2006/main">
            <a:pPr>
              <a:defRPr sz="2200" b="1">
                <a:solidFill>
                  <a:srgbClr val="163047"/>
                </a:solidFill>
                <a:latin typeface="Times New Roman"/>
                <a:ea typeface="Times New Roman"/>
                <a:cs typeface="Times New Roman"/>
              </a:defRPr>
            </a:pPr>
            <a:r>
              <a:rPr sz="2200" b="1">
                <a:solidFill>
                  <a:srgbClr val="163047"/>
                </a:solidFill>
                <a:latin typeface="Times New Roman"/>
                <a:ea typeface="Times New Roman"/>
                <a:cs typeface="Times New Roman"/>
              </a:rPr>
              <a:t>Decision: the thinnest continuous layer that retains adhesion during cycling.</a:t>
            </a:r>
          </a:p>
        </p:txBody>
      </p:sp>
    </p:spTree>
    <p:extLst>
      <p:ext uri="{BB962C8B-B14F-4D97-AF65-F5344CB8AC3E}">
        <p14:creationId xmlns:p14="http://schemas.microsoft.com/office/powerpoint/2010/main" val="1497291078"/>
      </p:ext>
    </p:extLst>
  </p:cSld>
</p:sld>
</file>

<file path=ppt/theme/theme1.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2026-10-11T15:33:27.9860000Z</dcterms:created>
  <dcterms:modified xsi:type="dcterms:W3CDTF">2026-10-11T15:33:27.9860000Z</dcterms:modified>
</coreProperties>
</file>